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
  </p:notesMasterIdLst>
  <p:sldIdLst>
    <p:sldId id="256" r:id="rId2"/>
    <p:sldId id="2147479721" r:id="rId3"/>
    <p:sldId id="2147479822" r:id="rId4"/>
    <p:sldId id="2147479811" r:id="rId5"/>
    <p:sldId id="276" r:id="rId6"/>
    <p:sldId id="2147479819" r:id="rId7"/>
    <p:sldId id="2147479812" r:id="rId8"/>
    <p:sldId id="2147479813" r:id="rId9"/>
    <p:sldId id="2147479814" r:id="rId10"/>
    <p:sldId id="2147479816" r:id="rId11"/>
    <p:sldId id="2147479820" r:id="rId12"/>
    <p:sldId id="2147479815" r:id="rId13"/>
    <p:sldId id="2147479818" r:id="rId14"/>
    <p:sldId id="214747982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7902C68-DC2F-45C2-BA6F-F04AA3D247F2}" v="16" dt="2024-12-13T11:27:50.54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6" d="100"/>
          <a:sy n="66" d="100"/>
        </p:scale>
        <p:origin x="1330" y="2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bhjot Singh Bakshi" userId="2bc06dbbe72a50e9" providerId="LiveId" clId="{07902C68-DC2F-45C2-BA6F-F04AA3D247F2}"/>
    <pc:docChg chg="undo custSel addSld delSld modSld">
      <pc:chgData name="Prabhjot Singh Bakshi" userId="2bc06dbbe72a50e9" providerId="LiveId" clId="{07902C68-DC2F-45C2-BA6F-F04AA3D247F2}" dt="2024-12-13T11:35:03.533" v="132" actId="1076"/>
      <pc:docMkLst>
        <pc:docMk/>
      </pc:docMkLst>
      <pc:sldChg chg="modSp add del mod">
        <pc:chgData name="Prabhjot Singh Bakshi" userId="2bc06dbbe72a50e9" providerId="LiveId" clId="{07902C68-DC2F-45C2-BA6F-F04AA3D247F2}" dt="2024-12-13T11:21:29.783" v="2" actId="47"/>
        <pc:sldMkLst>
          <pc:docMk/>
          <pc:sldMk cId="3680061916" sldId="2134805617"/>
        </pc:sldMkLst>
        <pc:spChg chg="mod">
          <ac:chgData name="Prabhjot Singh Bakshi" userId="2bc06dbbe72a50e9" providerId="LiveId" clId="{07902C68-DC2F-45C2-BA6F-F04AA3D247F2}" dt="2024-12-13T11:21:01.999" v="1" actId="27636"/>
          <ac:spMkLst>
            <pc:docMk/>
            <pc:sldMk cId="3680061916" sldId="2134805617"/>
            <ac:spMk id="2" creationId="{D038DF40-7654-AFBD-359E-00E8C22793C5}"/>
          </ac:spMkLst>
        </pc:spChg>
      </pc:sldChg>
      <pc:sldChg chg="modSp mod">
        <pc:chgData name="Prabhjot Singh Bakshi" userId="2bc06dbbe72a50e9" providerId="LiveId" clId="{07902C68-DC2F-45C2-BA6F-F04AA3D247F2}" dt="2024-12-13T11:35:03.533" v="132" actId="1076"/>
        <pc:sldMkLst>
          <pc:docMk/>
          <pc:sldMk cId="2922823105" sldId="2147479811"/>
        </pc:sldMkLst>
        <pc:spChg chg="mod">
          <ac:chgData name="Prabhjot Singh Bakshi" userId="2bc06dbbe72a50e9" providerId="LiveId" clId="{07902C68-DC2F-45C2-BA6F-F04AA3D247F2}" dt="2024-12-13T11:35:03.533" v="132" actId="1076"/>
          <ac:spMkLst>
            <pc:docMk/>
            <pc:sldMk cId="2922823105" sldId="2147479811"/>
            <ac:spMk id="10" creationId="{D0CDC7EE-D91E-0102-0FE3-00257DD6BF6C}"/>
          </ac:spMkLst>
        </pc:spChg>
        <pc:spChg chg="mod">
          <ac:chgData name="Prabhjot Singh Bakshi" userId="2bc06dbbe72a50e9" providerId="LiveId" clId="{07902C68-DC2F-45C2-BA6F-F04AA3D247F2}" dt="2024-12-13T11:34:56.851" v="130" actId="20577"/>
          <ac:spMkLst>
            <pc:docMk/>
            <pc:sldMk cId="2922823105" sldId="2147479811"/>
            <ac:spMk id="14" creationId="{78B0134D-05D3-292D-5C7B-0A44B526BF49}"/>
          </ac:spMkLst>
        </pc:spChg>
      </pc:sldChg>
      <pc:sldChg chg="addSp delSp modSp new mod">
        <pc:chgData name="Prabhjot Singh Bakshi" userId="2bc06dbbe72a50e9" providerId="LiveId" clId="{07902C68-DC2F-45C2-BA6F-F04AA3D247F2}" dt="2024-12-13T11:21:43.841" v="11" actId="1076"/>
        <pc:sldMkLst>
          <pc:docMk/>
          <pc:sldMk cId="1875005202" sldId="2147479819"/>
        </pc:sldMkLst>
        <pc:spChg chg="del">
          <ac:chgData name="Prabhjot Singh Bakshi" userId="2bc06dbbe72a50e9" providerId="LiveId" clId="{07902C68-DC2F-45C2-BA6F-F04AA3D247F2}" dt="2024-12-13T11:21:35.456" v="5" actId="478"/>
          <ac:spMkLst>
            <pc:docMk/>
            <pc:sldMk cId="1875005202" sldId="2147479819"/>
            <ac:spMk id="2" creationId="{5A9246FD-A656-0FB9-D307-53B6D77903D2}"/>
          </ac:spMkLst>
        </pc:spChg>
        <pc:spChg chg="del">
          <ac:chgData name="Prabhjot Singh Bakshi" userId="2bc06dbbe72a50e9" providerId="LiveId" clId="{07902C68-DC2F-45C2-BA6F-F04AA3D247F2}" dt="2024-12-13T11:21:33.649" v="4" actId="22"/>
          <ac:spMkLst>
            <pc:docMk/>
            <pc:sldMk cId="1875005202" sldId="2147479819"/>
            <ac:spMk id="3" creationId="{3AB341BC-AF25-6C61-9480-D0342854C543}"/>
          </ac:spMkLst>
        </pc:spChg>
        <pc:picChg chg="add mod ord">
          <ac:chgData name="Prabhjot Singh Bakshi" userId="2bc06dbbe72a50e9" providerId="LiveId" clId="{07902C68-DC2F-45C2-BA6F-F04AA3D247F2}" dt="2024-12-13T11:21:43.841" v="11" actId="1076"/>
          <ac:picMkLst>
            <pc:docMk/>
            <pc:sldMk cId="1875005202" sldId="2147479819"/>
            <ac:picMk id="5" creationId="{CC12E822-FB13-56E3-F8B0-9939D8E21A7C}"/>
          </ac:picMkLst>
        </pc:picChg>
      </pc:sldChg>
      <pc:sldChg chg="addSp delSp modSp new mod">
        <pc:chgData name="Prabhjot Singh Bakshi" userId="2bc06dbbe72a50e9" providerId="LiveId" clId="{07902C68-DC2F-45C2-BA6F-F04AA3D247F2}" dt="2024-12-13T11:23:13.238" v="22" actId="1076"/>
        <pc:sldMkLst>
          <pc:docMk/>
          <pc:sldMk cId="3638130551" sldId="2147479820"/>
        </pc:sldMkLst>
        <pc:spChg chg="del">
          <ac:chgData name="Prabhjot Singh Bakshi" userId="2bc06dbbe72a50e9" providerId="LiveId" clId="{07902C68-DC2F-45C2-BA6F-F04AA3D247F2}" dt="2024-12-13T11:23:01.768" v="14" actId="478"/>
          <ac:spMkLst>
            <pc:docMk/>
            <pc:sldMk cId="3638130551" sldId="2147479820"/>
            <ac:spMk id="2" creationId="{F30AD7BE-CC81-6B3A-73A4-19B81AC70B8B}"/>
          </ac:spMkLst>
        </pc:spChg>
        <pc:spChg chg="del">
          <ac:chgData name="Prabhjot Singh Bakshi" userId="2bc06dbbe72a50e9" providerId="LiveId" clId="{07902C68-DC2F-45C2-BA6F-F04AA3D247F2}" dt="2024-12-13T11:22:59.254" v="13" actId="22"/>
          <ac:spMkLst>
            <pc:docMk/>
            <pc:sldMk cId="3638130551" sldId="2147479820"/>
            <ac:spMk id="3" creationId="{A9B716A9-8958-1A97-665C-034014E6178D}"/>
          </ac:spMkLst>
        </pc:spChg>
        <pc:picChg chg="add mod ord">
          <ac:chgData name="Prabhjot Singh Bakshi" userId="2bc06dbbe72a50e9" providerId="LiveId" clId="{07902C68-DC2F-45C2-BA6F-F04AA3D247F2}" dt="2024-12-13T11:23:13.238" v="22" actId="1076"/>
          <ac:picMkLst>
            <pc:docMk/>
            <pc:sldMk cId="3638130551" sldId="2147479820"/>
            <ac:picMk id="5" creationId="{C847C31F-7192-08AF-FD17-19BC14DDDD92}"/>
          </ac:picMkLst>
        </pc:picChg>
      </pc:sldChg>
      <pc:sldChg chg="addSp delSp modSp new mod">
        <pc:chgData name="Prabhjot Singh Bakshi" userId="2bc06dbbe72a50e9" providerId="LiveId" clId="{07902C68-DC2F-45C2-BA6F-F04AA3D247F2}" dt="2024-12-13T11:28:22.171" v="116" actId="1076"/>
        <pc:sldMkLst>
          <pc:docMk/>
          <pc:sldMk cId="962387632" sldId="2147479821"/>
        </pc:sldMkLst>
        <pc:spChg chg="mod">
          <ac:chgData name="Prabhjot Singh Bakshi" userId="2bc06dbbe72a50e9" providerId="LiveId" clId="{07902C68-DC2F-45C2-BA6F-F04AA3D247F2}" dt="2024-12-13T11:26:48.927" v="94" actId="1076"/>
          <ac:spMkLst>
            <pc:docMk/>
            <pc:sldMk cId="962387632" sldId="2147479821"/>
            <ac:spMk id="2" creationId="{E40E6C87-7D79-A882-4682-334E30BCDD37}"/>
          </ac:spMkLst>
        </pc:spChg>
        <pc:spChg chg="del">
          <ac:chgData name="Prabhjot Singh Bakshi" userId="2bc06dbbe72a50e9" providerId="LiveId" clId="{07902C68-DC2F-45C2-BA6F-F04AA3D247F2}" dt="2024-12-13T11:26:26.320" v="49" actId="478"/>
          <ac:spMkLst>
            <pc:docMk/>
            <pc:sldMk cId="962387632" sldId="2147479821"/>
            <ac:spMk id="3" creationId="{11ACCFED-9736-188D-0563-592356FD697E}"/>
          </ac:spMkLst>
        </pc:spChg>
        <pc:spChg chg="add del">
          <ac:chgData name="Prabhjot Singh Bakshi" userId="2bc06dbbe72a50e9" providerId="LiveId" clId="{07902C68-DC2F-45C2-BA6F-F04AA3D247F2}" dt="2024-12-13T11:27:46.960" v="104" actId="22"/>
          <ac:spMkLst>
            <pc:docMk/>
            <pc:sldMk cId="962387632" sldId="2147479821"/>
            <ac:spMk id="5" creationId="{1090980F-5F80-2A38-8F72-8E0489B31D46}"/>
          </ac:spMkLst>
        </pc:spChg>
        <pc:spChg chg="add mod">
          <ac:chgData name="Prabhjot Singh Bakshi" userId="2bc06dbbe72a50e9" providerId="LiveId" clId="{07902C68-DC2F-45C2-BA6F-F04AA3D247F2}" dt="2024-12-13T11:27:55.877" v="109" actId="13822"/>
          <ac:spMkLst>
            <pc:docMk/>
            <pc:sldMk cId="962387632" sldId="2147479821"/>
            <ac:spMk id="7" creationId="{111997EF-4E48-769F-94CF-7EFB96CE82F3}"/>
          </ac:spMkLst>
        </pc:spChg>
        <pc:spChg chg="add del">
          <ac:chgData name="Prabhjot Singh Bakshi" userId="2bc06dbbe72a50e9" providerId="LiveId" clId="{07902C68-DC2F-45C2-BA6F-F04AA3D247F2}" dt="2024-12-13T11:28:12.258" v="111" actId="22"/>
          <ac:spMkLst>
            <pc:docMk/>
            <pc:sldMk cId="962387632" sldId="2147479821"/>
            <ac:spMk id="9" creationId="{0A0EE1E1-C1B6-7F0D-A7A4-38D969D13D56}"/>
          </ac:spMkLst>
        </pc:spChg>
        <pc:spChg chg="add mod">
          <ac:chgData name="Prabhjot Singh Bakshi" userId="2bc06dbbe72a50e9" providerId="LiveId" clId="{07902C68-DC2F-45C2-BA6F-F04AA3D247F2}" dt="2024-12-13T11:28:22.171" v="116" actId="1076"/>
          <ac:spMkLst>
            <pc:docMk/>
            <pc:sldMk cId="962387632" sldId="2147479821"/>
            <ac:spMk id="11" creationId="{8461DBAD-59DD-5B91-CA13-7E3C761DC6C3}"/>
          </ac:spMkLst>
        </pc:spChg>
        <pc:picChg chg="add mod">
          <ac:chgData name="Prabhjot Singh Bakshi" userId="2bc06dbbe72a50e9" providerId="LiveId" clId="{07902C68-DC2F-45C2-BA6F-F04AA3D247F2}" dt="2024-12-13T11:27:50.546" v="107" actId="1076"/>
          <ac:picMkLst>
            <pc:docMk/>
            <pc:sldMk cId="962387632" sldId="2147479821"/>
            <ac:picMk id="2050" creationId="{60CC8957-C9EF-21B3-E2CF-996883D2F1E5}"/>
          </ac:picMkLst>
        </pc:picChg>
      </pc:sldChg>
      <pc:sldChg chg="addSp delSp modSp new mod modTransition setBg addAnim modAnim">
        <pc:chgData name="Prabhjot Singh Bakshi" userId="2bc06dbbe72a50e9" providerId="LiveId" clId="{07902C68-DC2F-45C2-BA6F-F04AA3D247F2}" dt="2024-12-13T11:24:17.802" v="48" actId="1076"/>
        <pc:sldMkLst>
          <pc:docMk/>
          <pc:sldMk cId="2624865923" sldId="2147479822"/>
        </pc:sldMkLst>
        <pc:spChg chg="mod">
          <ac:chgData name="Prabhjot Singh Bakshi" userId="2bc06dbbe72a50e9" providerId="LiveId" clId="{07902C68-DC2F-45C2-BA6F-F04AA3D247F2}" dt="2024-12-13T11:24:17.802" v="48" actId="1076"/>
          <ac:spMkLst>
            <pc:docMk/>
            <pc:sldMk cId="2624865923" sldId="2147479822"/>
            <ac:spMk id="2" creationId="{7E61E14E-3C9A-A29E-A5DB-19DD686E96EE}"/>
          </ac:spMkLst>
        </pc:spChg>
        <pc:spChg chg="add">
          <ac:chgData name="Prabhjot Singh Bakshi" userId="2bc06dbbe72a50e9" providerId="LiveId" clId="{07902C68-DC2F-45C2-BA6F-F04AA3D247F2}" dt="2024-12-13T11:23:58.491" v="42" actId="26606"/>
          <ac:spMkLst>
            <pc:docMk/>
            <pc:sldMk cId="2624865923" sldId="2147479822"/>
            <ac:spMk id="1033" creationId="{362D44EE-C852-4460-B8B5-C4F2BC20510C}"/>
          </ac:spMkLst>
        </pc:spChg>
        <pc:spChg chg="add">
          <ac:chgData name="Prabhjot Singh Bakshi" userId="2bc06dbbe72a50e9" providerId="LiveId" clId="{07902C68-DC2F-45C2-BA6F-F04AA3D247F2}" dt="2024-12-13T11:23:58.491" v="42" actId="26606"/>
          <ac:spMkLst>
            <pc:docMk/>
            <pc:sldMk cId="2624865923" sldId="2147479822"/>
            <ac:spMk id="1035" creationId="{658970D8-8D1D-4B5C-894B-E871CC86543D}"/>
          </ac:spMkLst>
        </pc:spChg>
        <pc:spChg chg="add">
          <ac:chgData name="Prabhjot Singh Bakshi" userId="2bc06dbbe72a50e9" providerId="LiveId" clId="{07902C68-DC2F-45C2-BA6F-F04AA3D247F2}" dt="2024-12-13T11:23:58.491" v="42" actId="26606"/>
          <ac:spMkLst>
            <pc:docMk/>
            <pc:sldMk cId="2624865923" sldId="2147479822"/>
            <ac:spMk id="1037" creationId="{F227E5B6-9132-43CA-B503-37A18562ADF2}"/>
          </ac:spMkLst>
        </pc:spChg>
        <pc:spChg chg="add">
          <ac:chgData name="Prabhjot Singh Bakshi" userId="2bc06dbbe72a50e9" providerId="LiveId" clId="{07902C68-DC2F-45C2-BA6F-F04AA3D247F2}" dt="2024-12-13T11:23:58.491" v="42" actId="26606"/>
          <ac:spMkLst>
            <pc:docMk/>
            <pc:sldMk cId="2624865923" sldId="2147479822"/>
            <ac:spMk id="1039" creationId="{03C2051E-A88D-48E5-BACF-AAED17892722}"/>
          </ac:spMkLst>
        </pc:spChg>
        <pc:spChg chg="add">
          <ac:chgData name="Prabhjot Singh Bakshi" userId="2bc06dbbe72a50e9" providerId="LiveId" clId="{07902C68-DC2F-45C2-BA6F-F04AA3D247F2}" dt="2024-12-13T11:23:58.491" v="42" actId="26606"/>
          <ac:spMkLst>
            <pc:docMk/>
            <pc:sldMk cId="2624865923" sldId="2147479822"/>
            <ac:spMk id="1041" creationId="{7821A508-2985-4905-874A-527429BAABFA}"/>
          </ac:spMkLst>
        </pc:spChg>
        <pc:spChg chg="add">
          <ac:chgData name="Prabhjot Singh Bakshi" userId="2bc06dbbe72a50e9" providerId="LiveId" clId="{07902C68-DC2F-45C2-BA6F-F04AA3D247F2}" dt="2024-12-13T11:23:58.491" v="42" actId="26606"/>
          <ac:spMkLst>
            <pc:docMk/>
            <pc:sldMk cId="2624865923" sldId="2147479822"/>
            <ac:spMk id="1043" creationId="{D2929CB1-0E3C-4B2D-ADC5-0154FB33BA44}"/>
          </ac:spMkLst>
        </pc:spChg>
        <pc:spChg chg="add">
          <ac:chgData name="Prabhjot Singh Bakshi" userId="2bc06dbbe72a50e9" providerId="LiveId" clId="{07902C68-DC2F-45C2-BA6F-F04AA3D247F2}" dt="2024-12-13T11:23:58.491" v="42" actId="26606"/>
          <ac:spMkLst>
            <pc:docMk/>
            <pc:sldMk cId="2624865923" sldId="2147479822"/>
            <ac:spMk id="1045" creationId="{5F2F0C84-BE8C-4DC2-A6D3-30349A801D5C}"/>
          </ac:spMkLst>
        </pc:spChg>
        <pc:picChg chg="add del mod">
          <ac:chgData name="Prabhjot Singh Bakshi" userId="2bc06dbbe72a50e9" providerId="LiveId" clId="{07902C68-DC2F-45C2-BA6F-F04AA3D247F2}" dt="2024-12-13T11:23:55.038" v="40" actId="478"/>
          <ac:picMkLst>
            <pc:docMk/>
            <pc:sldMk cId="2624865923" sldId="2147479822"/>
            <ac:picMk id="1026" creationId="{CD772569-DF09-3F52-E8CE-2605DE3E9D89}"/>
          </ac:picMkLst>
        </pc:picChg>
        <pc:picChg chg="add mod">
          <ac:chgData name="Prabhjot Singh Bakshi" userId="2bc06dbbe72a50e9" providerId="LiveId" clId="{07902C68-DC2F-45C2-BA6F-F04AA3D247F2}" dt="2024-12-13T11:23:58.491" v="42" actId="26606"/>
          <ac:picMkLst>
            <pc:docMk/>
            <pc:sldMk cId="2624865923" sldId="2147479822"/>
            <ac:picMk id="1028" creationId="{31D3E6E6-B431-EA7E-9012-34C6D102E725}"/>
          </ac:picMkLst>
        </pc:picChg>
      </pc:sldChg>
      <pc:sldMasterChg chg="delSldLayout">
        <pc:chgData name="Prabhjot Singh Bakshi" userId="2bc06dbbe72a50e9" providerId="LiveId" clId="{07902C68-DC2F-45C2-BA6F-F04AA3D247F2}" dt="2024-12-13T11:21:29.783" v="2" actId="47"/>
        <pc:sldMasterMkLst>
          <pc:docMk/>
          <pc:sldMasterMk cId="3712522166" sldId="2147483648"/>
        </pc:sldMasterMkLst>
        <pc:sldLayoutChg chg="del">
          <pc:chgData name="Prabhjot Singh Bakshi" userId="2bc06dbbe72a50e9" providerId="LiveId" clId="{07902C68-DC2F-45C2-BA6F-F04AA3D247F2}" dt="2024-12-13T11:21:29.783" v="2" actId="47"/>
          <pc:sldLayoutMkLst>
            <pc:docMk/>
            <pc:sldMasterMk cId="3712522166" sldId="2147483648"/>
            <pc:sldLayoutMk cId="2031017432" sldId="2147483662"/>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EB3F75-804C-4C7C-9812-F303E9004AED}" type="datetimeFigureOut">
              <a:rPr lang="en-IN" smtClean="0"/>
              <a:t>13-12-2024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F02D20F-67DD-4C56-A935-3EF78D0BA9AB}" type="slidenum">
              <a:rPr lang="en-IN" smtClean="0"/>
              <a:t>‹#›</a:t>
            </a:fld>
            <a:endParaRPr lang="en-IN"/>
          </a:p>
        </p:txBody>
      </p:sp>
    </p:spTree>
    <p:extLst>
      <p:ext uri="{BB962C8B-B14F-4D97-AF65-F5344CB8AC3E}">
        <p14:creationId xmlns:p14="http://schemas.microsoft.com/office/powerpoint/2010/main" val="161119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6E6E6"/>
                </a:solidFill>
                <a:effectLst/>
                <a:latin typeface="Segoe UI" panose="020B0502040204020203" pitchFamily="34" charset="0"/>
              </a:rPr>
              <a:t>After loading data into the lakehouse, you can use various tools and techniques to explore and transform it, including:</a:t>
            </a:r>
          </a:p>
          <a:p>
            <a:pPr algn="l">
              <a:buFont typeface="Arial" panose="020B0604020202020204" pitchFamily="34" charset="0"/>
              <a:buChar char="•"/>
            </a:pPr>
            <a:r>
              <a:rPr lang="en-US" b="1" i="0" dirty="0">
                <a:solidFill>
                  <a:srgbClr val="E6E6E6"/>
                </a:solidFill>
                <a:effectLst/>
                <a:latin typeface="Segoe UI" panose="020B0502040204020203" pitchFamily="34" charset="0"/>
              </a:rPr>
              <a:t>Apache Spark</a:t>
            </a:r>
            <a:r>
              <a:rPr lang="en-US" b="0" i="0" dirty="0">
                <a:solidFill>
                  <a:srgbClr val="E6E6E6"/>
                </a:solidFill>
                <a:effectLst/>
                <a:latin typeface="Segoe UI" panose="020B0502040204020203" pitchFamily="34" charset="0"/>
              </a:rPr>
              <a:t>: Each Fabric lakehouse can use Spark pools through </a:t>
            </a:r>
            <a:r>
              <a:rPr lang="en-US" b="0" i="1" dirty="0">
                <a:solidFill>
                  <a:srgbClr val="E6E6E6"/>
                </a:solidFill>
                <a:effectLst/>
                <a:latin typeface="Segoe UI" panose="020B0502040204020203" pitchFamily="34" charset="0"/>
              </a:rPr>
              <a:t>Notebooks</a:t>
            </a:r>
            <a:r>
              <a:rPr lang="en-US" b="0" i="0" dirty="0">
                <a:solidFill>
                  <a:srgbClr val="E6E6E6"/>
                </a:solidFill>
                <a:effectLst/>
                <a:latin typeface="Segoe UI" panose="020B0502040204020203" pitchFamily="34" charset="0"/>
              </a:rPr>
              <a:t> or </a:t>
            </a:r>
            <a:r>
              <a:rPr lang="en-US" b="0" i="1" dirty="0">
                <a:solidFill>
                  <a:srgbClr val="E6E6E6"/>
                </a:solidFill>
                <a:effectLst/>
                <a:latin typeface="Segoe UI" panose="020B0502040204020203" pitchFamily="34" charset="0"/>
              </a:rPr>
              <a:t>Spark Job Definitions</a:t>
            </a:r>
            <a:r>
              <a:rPr lang="en-US" b="0" i="0" dirty="0">
                <a:solidFill>
                  <a:srgbClr val="E6E6E6"/>
                </a:solidFill>
                <a:effectLst/>
                <a:latin typeface="Segoe UI" panose="020B0502040204020203" pitchFamily="34" charset="0"/>
              </a:rPr>
              <a:t> to process data in files and tables in the lakehouse using Scala, </a:t>
            </a:r>
            <a:r>
              <a:rPr lang="en-US" b="0" i="0" dirty="0" err="1">
                <a:solidFill>
                  <a:srgbClr val="E6E6E6"/>
                </a:solidFill>
                <a:effectLst/>
                <a:latin typeface="Segoe UI" panose="020B0502040204020203" pitchFamily="34" charset="0"/>
              </a:rPr>
              <a:t>PySpark</a:t>
            </a:r>
            <a:r>
              <a:rPr lang="en-US" b="0" i="0" dirty="0">
                <a:solidFill>
                  <a:srgbClr val="E6E6E6"/>
                </a:solidFill>
                <a:effectLst/>
                <a:latin typeface="Segoe UI" panose="020B0502040204020203" pitchFamily="34" charset="0"/>
              </a:rPr>
              <a:t>, or Spark SQL.</a:t>
            </a:r>
          </a:p>
          <a:p>
            <a:pPr marL="742950" lvl="1" indent="-285750" algn="l">
              <a:buFont typeface="Arial" panose="020B0604020202020204" pitchFamily="34" charset="0"/>
              <a:buChar char="•"/>
            </a:pPr>
            <a:r>
              <a:rPr lang="en-US" b="1" i="0" dirty="0">
                <a:solidFill>
                  <a:srgbClr val="E6E6E6"/>
                </a:solidFill>
                <a:effectLst/>
                <a:latin typeface="Segoe UI" panose="020B0502040204020203" pitchFamily="34" charset="0"/>
              </a:rPr>
              <a:t>Notebooks</a:t>
            </a:r>
            <a:r>
              <a:rPr lang="en-US" b="0" i="0" dirty="0">
                <a:solidFill>
                  <a:srgbClr val="E6E6E6"/>
                </a:solidFill>
                <a:effectLst/>
                <a:latin typeface="Segoe UI" panose="020B0502040204020203" pitchFamily="34" charset="0"/>
              </a:rPr>
              <a:t>: Interactive coding interfaces in which you can use code to read, transform, and write data directly to the lakehouse as tables and/or files.</a:t>
            </a:r>
          </a:p>
          <a:p>
            <a:pPr marL="742950" lvl="1" indent="-285750" algn="l">
              <a:buFont typeface="Arial" panose="020B0604020202020204" pitchFamily="34" charset="0"/>
              <a:buChar char="•"/>
            </a:pPr>
            <a:r>
              <a:rPr lang="en-US" b="1" i="0" dirty="0">
                <a:solidFill>
                  <a:srgbClr val="E6E6E6"/>
                </a:solidFill>
                <a:effectLst/>
                <a:latin typeface="Segoe UI" panose="020B0502040204020203" pitchFamily="34" charset="0"/>
              </a:rPr>
              <a:t>Spark Job Definitions</a:t>
            </a:r>
            <a:r>
              <a:rPr lang="en-US" b="0" i="0" dirty="0">
                <a:solidFill>
                  <a:srgbClr val="E6E6E6"/>
                </a:solidFill>
                <a:effectLst/>
                <a:latin typeface="Segoe UI" panose="020B0502040204020203" pitchFamily="34" charset="0"/>
              </a:rPr>
              <a:t>: On-demand or scheduled scripts that use the Spark engine to process data in the lakehouse.</a:t>
            </a:r>
          </a:p>
          <a:p>
            <a:pPr algn="l">
              <a:buFont typeface="Arial" panose="020B0604020202020204" pitchFamily="34" charset="0"/>
              <a:buChar char="•"/>
            </a:pPr>
            <a:r>
              <a:rPr lang="en-US" b="1" i="0" dirty="0">
                <a:solidFill>
                  <a:srgbClr val="E6E6E6"/>
                </a:solidFill>
                <a:effectLst/>
                <a:latin typeface="Segoe UI" panose="020B0502040204020203" pitchFamily="34" charset="0"/>
              </a:rPr>
              <a:t>SQL analytics endpoint</a:t>
            </a:r>
            <a:r>
              <a:rPr lang="en-US" b="0" i="0" dirty="0">
                <a:solidFill>
                  <a:srgbClr val="E6E6E6"/>
                </a:solidFill>
                <a:effectLst/>
                <a:latin typeface="Segoe UI" panose="020B0502040204020203" pitchFamily="34" charset="0"/>
              </a:rPr>
              <a:t>: Each lakehouse includes a SQL analytics endpoint through which you can run Transact-SQL statements to query, filter, aggregate, and otherwise explore data in lakehouse tables.</a:t>
            </a:r>
          </a:p>
          <a:p>
            <a:pPr algn="l">
              <a:buFont typeface="Arial" panose="020B0604020202020204" pitchFamily="34" charset="0"/>
              <a:buChar char="•"/>
            </a:pPr>
            <a:r>
              <a:rPr lang="en-US" b="1" i="0" dirty="0">
                <a:solidFill>
                  <a:srgbClr val="E6E6E6"/>
                </a:solidFill>
                <a:effectLst/>
                <a:latin typeface="Segoe UI" panose="020B0502040204020203" pitchFamily="34" charset="0"/>
              </a:rPr>
              <a:t>Dataflows Gen2</a:t>
            </a:r>
            <a:r>
              <a:rPr lang="en-US" b="0" i="0" dirty="0">
                <a:solidFill>
                  <a:srgbClr val="E6E6E6"/>
                </a:solidFill>
                <a:effectLst/>
                <a:latin typeface="Segoe UI" panose="020B0502040204020203" pitchFamily="34" charset="0"/>
              </a:rPr>
              <a:t>: In addition to using a dataflow to ingest data into the lakehouse, you can create a dataflow to perform subsequent transformations through Power Query, and optionally land transformed data back to the Lakehouse.</a:t>
            </a:r>
          </a:p>
          <a:p>
            <a:pPr algn="l">
              <a:buFont typeface="Arial" panose="020B0604020202020204" pitchFamily="34" charset="0"/>
              <a:buChar char="•"/>
            </a:pPr>
            <a:r>
              <a:rPr lang="en-US" b="1" i="0" dirty="0">
                <a:solidFill>
                  <a:srgbClr val="E6E6E6"/>
                </a:solidFill>
                <a:effectLst/>
                <a:latin typeface="Segoe UI" panose="020B0502040204020203" pitchFamily="34" charset="0"/>
              </a:rPr>
              <a:t>Data Pipelines</a:t>
            </a:r>
            <a:r>
              <a:rPr lang="en-US" b="0" i="0" dirty="0">
                <a:solidFill>
                  <a:srgbClr val="E6E6E6"/>
                </a:solidFill>
                <a:effectLst/>
                <a:latin typeface="Segoe UI" panose="020B0502040204020203" pitchFamily="34" charset="0"/>
              </a:rPr>
              <a:t>: Orchestrate complex data transformation logic that operates on data in the lakehouse through a sequence of activities (such as dataflows, Spark jobs, and other control flow logic).</a:t>
            </a:r>
          </a:p>
          <a:p>
            <a:endParaRPr lang="en-US" dirty="0">
              <a:solidFill>
                <a:schemeClr val="tx1"/>
              </a:solidFill>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a:t>
            </a:r>
          </a:p>
        </p:txBody>
      </p:sp>
      <p:sp>
        <p:nvSpPr>
          <p:cNvPr id="6" name="Slide Number Placeholder 5"/>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12712637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normAutofit fontScale="47500" lnSpcReduction="20000"/>
          </a:bodyPr>
          <a:lstStyle/>
          <a:p>
            <a:pPr algn="l"/>
            <a:r>
              <a:rPr lang="en-US" b="0" i="0" dirty="0">
                <a:solidFill>
                  <a:srgbClr val="E6E6E6"/>
                </a:solidFill>
                <a:effectLst/>
                <a:latin typeface="Segoe UI" panose="020B0502040204020203" pitchFamily="34" charset="0"/>
              </a:rPr>
              <a:t>To gain a better understanding of how to process and analyze data with Apache Spark in Azure Databricks, it's important to understand the underlying architecture.</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High-level overview</a:t>
            </a:r>
          </a:p>
          <a:p>
            <a:pPr algn="l"/>
            <a:r>
              <a:rPr lang="en-US" b="0" i="0" dirty="0">
                <a:solidFill>
                  <a:srgbClr val="E6E6E6"/>
                </a:solidFill>
                <a:effectLst/>
                <a:latin typeface="Segoe UI" panose="020B0502040204020203" pitchFamily="34" charset="0"/>
              </a:rPr>
              <a:t>From a high level, the Azure Databricks service launches and manages Apache Spark clusters within your Azure subscription. </a:t>
            </a:r>
          </a:p>
          <a:p>
            <a:pPr algn="l"/>
            <a:r>
              <a:rPr lang="en-US" b="0" i="0" dirty="0">
                <a:solidFill>
                  <a:srgbClr val="E6E6E6"/>
                </a:solidFill>
                <a:effectLst/>
                <a:latin typeface="Segoe UI" panose="020B0502040204020203" pitchFamily="34" charset="0"/>
              </a:rPr>
              <a:t>Apache Spark clusters are groups of computers that are treated as a single computer and handle the execution of commands issued from notebooks. </a:t>
            </a:r>
          </a:p>
          <a:p>
            <a:pPr algn="l"/>
            <a:r>
              <a:rPr lang="en-US" b="0" i="0" dirty="0">
                <a:solidFill>
                  <a:srgbClr val="E6E6E6"/>
                </a:solidFill>
                <a:effectLst/>
                <a:latin typeface="Segoe UI" panose="020B0502040204020203" pitchFamily="34" charset="0"/>
              </a:rPr>
              <a:t>Clusters enable processing of data to be parallelized across many computers to improve scale and performance. </a:t>
            </a:r>
          </a:p>
          <a:p>
            <a:pPr algn="l"/>
            <a:r>
              <a:rPr lang="en-US" b="0" i="0" dirty="0">
                <a:solidFill>
                  <a:srgbClr val="E6E6E6"/>
                </a:solidFill>
                <a:effectLst/>
                <a:latin typeface="Segoe UI" panose="020B0502040204020203" pitchFamily="34" charset="0"/>
              </a:rPr>
              <a:t>They consist of a Spark </a:t>
            </a:r>
            <a:r>
              <a:rPr lang="en-US" b="0" i="1" dirty="0">
                <a:solidFill>
                  <a:srgbClr val="E6E6E6"/>
                </a:solidFill>
                <a:effectLst/>
                <a:latin typeface="Segoe UI" panose="020B0502040204020203" pitchFamily="34" charset="0"/>
              </a:rPr>
              <a:t>driver</a:t>
            </a:r>
            <a:r>
              <a:rPr lang="en-US" b="0" i="0" dirty="0">
                <a:solidFill>
                  <a:srgbClr val="E6E6E6"/>
                </a:solidFill>
                <a:effectLst/>
                <a:latin typeface="Segoe UI" panose="020B0502040204020203" pitchFamily="34" charset="0"/>
              </a:rPr>
              <a:t> and </a:t>
            </a:r>
            <a:r>
              <a:rPr lang="en-US" b="0" i="1" dirty="0">
                <a:solidFill>
                  <a:srgbClr val="E6E6E6"/>
                </a:solidFill>
                <a:effectLst/>
                <a:latin typeface="Segoe UI" panose="020B0502040204020203" pitchFamily="34" charset="0"/>
              </a:rPr>
              <a:t>worker</a:t>
            </a:r>
            <a:r>
              <a:rPr lang="en-US" b="0" i="0" dirty="0">
                <a:solidFill>
                  <a:srgbClr val="E6E6E6"/>
                </a:solidFill>
                <a:effectLst/>
                <a:latin typeface="Segoe UI" panose="020B0502040204020203" pitchFamily="34" charset="0"/>
              </a:rPr>
              <a:t> nodes. The driver node sends work to the worker nodes and instructs them to pull data from a specified data source.</a:t>
            </a:r>
          </a:p>
          <a:p>
            <a:pPr algn="l"/>
            <a:r>
              <a:rPr lang="en-US" b="0" i="0" dirty="0">
                <a:solidFill>
                  <a:srgbClr val="E6E6E6"/>
                </a:solidFill>
                <a:effectLst/>
                <a:latin typeface="Segoe UI" panose="020B0502040204020203" pitchFamily="34" charset="0"/>
              </a:rPr>
              <a:t>In Databricks, the notebook interface is typically the driver program. This driver program contains the main loop for the program and creates distributed datasets on the cluster, then applies operations to those datasets. Driver programs access Apache Spark through a </a:t>
            </a:r>
            <a:r>
              <a:rPr lang="en-US" b="0" i="1" dirty="0">
                <a:solidFill>
                  <a:srgbClr val="E6E6E6"/>
                </a:solidFill>
                <a:effectLst/>
                <a:latin typeface="Segoe UI" panose="020B0502040204020203" pitchFamily="34" charset="0"/>
              </a:rPr>
              <a:t>SparkSession</a:t>
            </a:r>
            <a:r>
              <a:rPr lang="en-US" b="0" i="0" dirty="0">
                <a:solidFill>
                  <a:srgbClr val="E6E6E6"/>
                </a:solidFill>
                <a:effectLst/>
                <a:latin typeface="Segoe UI" panose="020B0502040204020203" pitchFamily="34" charset="0"/>
              </a:rPr>
              <a:t> object regardless of deployment location.</a:t>
            </a:r>
          </a:p>
          <a:p>
            <a:pPr algn="l"/>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Microsoft Azure manages the cluster, and auto-scales it as needed based on your usage and the setting used when configuring the cluster. Auto-termination can also be enabled, which allows Azure to terminate the cluster after a specified number of minutes of inactivity.</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Spark jobs in detail</a:t>
            </a:r>
          </a:p>
          <a:p>
            <a:pPr algn="l"/>
            <a:r>
              <a:rPr lang="en-US" b="0" i="0" dirty="0">
                <a:solidFill>
                  <a:srgbClr val="E6E6E6"/>
                </a:solidFill>
                <a:effectLst/>
                <a:latin typeface="Segoe UI" panose="020B0502040204020203" pitchFamily="34" charset="0"/>
              </a:rPr>
              <a:t>Work submitted to the cluster is split into as many independent jobs as needed. This is how work is distributed across the cluster's nodes. Jobs are further subdivided into tasks. The input to a job is partitioned into one or more partitions. These partitions are the unit of work for each slot. In between tasks, partitions may need to be reorganized and shared over the network.</a:t>
            </a:r>
          </a:p>
          <a:p>
            <a:pPr algn="l"/>
            <a:r>
              <a:rPr lang="en-US" b="0" i="0" dirty="0">
                <a:solidFill>
                  <a:srgbClr val="E6E6E6"/>
                </a:solidFill>
                <a:effectLst/>
                <a:latin typeface="Segoe UI" panose="020B0502040204020203" pitchFamily="34" charset="0"/>
              </a:rPr>
              <a:t>The secret to Spark's high performance is parallelism. Scaling </a:t>
            </a:r>
            <a:r>
              <a:rPr lang="en-US" b="0" i="1" dirty="0">
                <a:solidFill>
                  <a:srgbClr val="E6E6E6"/>
                </a:solidFill>
                <a:effectLst/>
                <a:latin typeface="Segoe UI" panose="020B0502040204020203" pitchFamily="34" charset="0"/>
              </a:rPr>
              <a:t>vertically</a:t>
            </a:r>
            <a:r>
              <a:rPr lang="en-US" b="0" i="0" dirty="0">
                <a:solidFill>
                  <a:srgbClr val="E6E6E6"/>
                </a:solidFill>
                <a:effectLst/>
                <a:latin typeface="Segoe UI" panose="020B0502040204020203" pitchFamily="34" charset="0"/>
              </a:rPr>
              <a:t> (by adding resources to a single computer) is limited to a finite amount of RAM, Threads and CPU speeds; but clusters scale </a:t>
            </a:r>
            <a:r>
              <a:rPr lang="en-US" b="0" i="1" dirty="0">
                <a:solidFill>
                  <a:srgbClr val="E6E6E6"/>
                </a:solidFill>
                <a:effectLst/>
                <a:latin typeface="Segoe UI" panose="020B0502040204020203" pitchFamily="34" charset="0"/>
              </a:rPr>
              <a:t>horizontally</a:t>
            </a:r>
            <a:r>
              <a:rPr lang="en-US" b="0" i="0" dirty="0">
                <a:solidFill>
                  <a:srgbClr val="E6E6E6"/>
                </a:solidFill>
                <a:effectLst/>
                <a:latin typeface="Segoe UI" panose="020B0502040204020203" pitchFamily="34" charset="0"/>
              </a:rPr>
              <a:t>, adding new nodes to the cluster as needed.</a:t>
            </a:r>
          </a:p>
          <a:p>
            <a:pPr algn="l"/>
            <a:r>
              <a:rPr lang="en-US" b="0" i="0" dirty="0">
                <a:solidFill>
                  <a:srgbClr val="E6E6E6"/>
                </a:solidFill>
                <a:effectLst/>
                <a:latin typeface="Segoe UI" panose="020B0502040204020203" pitchFamily="34" charset="0"/>
              </a:rPr>
              <a:t>Spark parallelizes jobs at two levels:</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first level of parallelization is the </a:t>
            </a:r>
            <a:r>
              <a:rPr lang="en-US" b="0" i="1" dirty="0">
                <a:solidFill>
                  <a:srgbClr val="E6E6E6"/>
                </a:solidFill>
                <a:effectLst/>
                <a:latin typeface="Segoe UI" panose="020B0502040204020203" pitchFamily="34" charset="0"/>
              </a:rPr>
              <a:t>executor</a:t>
            </a:r>
            <a:r>
              <a:rPr lang="en-US" b="0" i="0" dirty="0">
                <a:solidFill>
                  <a:srgbClr val="E6E6E6"/>
                </a:solidFill>
                <a:effectLst/>
                <a:latin typeface="Segoe UI" panose="020B0502040204020203" pitchFamily="34" charset="0"/>
              </a:rPr>
              <a:t> - a Java virtual machine (JVM) running on a worker node, typically, one instance per node.</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second level of parallelization is the </a:t>
            </a:r>
            <a:r>
              <a:rPr lang="en-US" b="0" i="1" dirty="0">
                <a:solidFill>
                  <a:srgbClr val="E6E6E6"/>
                </a:solidFill>
                <a:effectLst/>
                <a:latin typeface="Segoe UI" panose="020B0502040204020203" pitchFamily="34" charset="0"/>
              </a:rPr>
              <a:t>slot</a:t>
            </a:r>
            <a:r>
              <a:rPr lang="en-US" b="0" i="0" dirty="0">
                <a:solidFill>
                  <a:srgbClr val="E6E6E6"/>
                </a:solidFill>
                <a:effectLst/>
                <a:latin typeface="Segoe UI" panose="020B0502040204020203" pitchFamily="34" charset="0"/>
              </a:rPr>
              <a:t> - the number of which is determined by the number of cores and CPUs of each node.</a:t>
            </a:r>
          </a:p>
          <a:p>
            <a:pPr algn="l">
              <a:buFont typeface="Arial" panose="020B0604020202020204" pitchFamily="34" charset="0"/>
              <a:buChar char="•"/>
            </a:pPr>
            <a:r>
              <a:rPr lang="en-US" b="0" i="0" dirty="0">
                <a:solidFill>
                  <a:srgbClr val="E6E6E6"/>
                </a:solidFill>
                <a:effectLst/>
                <a:latin typeface="Segoe UI" panose="020B0502040204020203" pitchFamily="34" charset="0"/>
              </a:rPr>
              <a:t>Each executor has multiple slots to which parallelized tasks can be assigned.</a:t>
            </a:r>
          </a:p>
          <a:p>
            <a:pPr algn="l">
              <a:buFont typeface="Arial" panose="020B0604020202020204" pitchFamily="34" charset="0"/>
              <a:buNone/>
            </a:pPr>
            <a:endParaRPr lang="en-US" b="0" i="0" dirty="0">
              <a:solidFill>
                <a:srgbClr val="E6E6E6"/>
              </a:solidFill>
              <a:effectLst/>
              <a:latin typeface="Segoe UI" panose="020B0502040204020203" pitchFamily="34" charset="0"/>
            </a:endParaRPr>
          </a:p>
          <a:p>
            <a:pPr algn="l"/>
            <a:r>
              <a:rPr lang="en-US" b="0" i="0" dirty="0">
                <a:solidFill>
                  <a:srgbClr val="E6E6E6"/>
                </a:solidFill>
                <a:effectLst/>
                <a:latin typeface="Segoe UI" panose="020B0502040204020203" pitchFamily="34" charset="0"/>
              </a:rPr>
              <a:t>The JVM is naturally multi-threaded, but a single JVM, such as the one coordinating the work on the driver, has a finite upper limit. By splitting the work into tasks, the driver can assign units of work to *slots in the executors on worker nodes for parallel execution. Additionally, the driver determines how to partition the data so that it can be distributed for parallel processing. So, the driver assigns a partition of data to each task so that each task knows which piece of data it is to process. Once started, each task will fetch the partition of data assigned to it.</a:t>
            </a:r>
          </a:p>
          <a:p>
            <a:pPr algn="l"/>
            <a:endParaRPr lang="en-US" b="0" i="0" dirty="0">
              <a:solidFill>
                <a:srgbClr val="E6E6E6"/>
              </a:solidFill>
              <a:effectLst/>
              <a:latin typeface="Segoe UI" panose="020B0502040204020203" pitchFamily="34" charset="0"/>
            </a:endParaRPr>
          </a:p>
          <a:p>
            <a:pPr algn="l"/>
            <a:r>
              <a:rPr lang="en-US" b="1" i="0" dirty="0">
                <a:solidFill>
                  <a:srgbClr val="E6E6E6"/>
                </a:solidFill>
                <a:effectLst/>
                <a:latin typeface="Segoe UI" panose="020B0502040204020203" pitchFamily="34" charset="0"/>
              </a:rPr>
              <a:t>Jobs and stages</a:t>
            </a:r>
          </a:p>
          <a:p>
            <a:pPr algn="l"/>
            <a:r>
              <a:rPr lang="en-US" b="0" i="0" dirty="0">
                <a:solidFill>
                  <a:srgbClr val="E6E6E6"/>
                </a:solidFill>
                <a:effectLst/>
                <a:latin typeface="Segoe UI" panose="020B0502040204020203" pitchFamily="34" charset="0"/>
              </a:rPr>
              <a:t>Depending on the work being performed, multiple parallelized jobs may be required. Each job is broken down into </a:t>
            </a:r>
            <a:r>
              <a:rPr lang="en-US" b="0" i="1" dirty="0">
                <a:solidFill>
                  <a:srgbClr val="E6E6E6"/>
                </a:solidFill>
                <a:effectLst/>
                <a:latin typeface="Segoe UI" panose="020B0502040204020203" pitchFamily="34" charset="0"/>
              </a:rPr>
              <a:t>stages</a:t>
            </a:r>
            <a:r>
              <a:rPr lang="en-US" b="0" i="0" dirty="0">
                <a:solidFill>
                  <a:srgbClr val="E6E6E6"/>
                </a:solidFill>
                <a:effectLst/>
                <a:latin typeface="Segoe UI" panose="020B0502040204020203" pitchFamily="34" charset="0"/>
              </a:rPr>
              <a:t>. A useful analogy is to imagine that the job is to build a house:</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first stage would be to lay the foundation.</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second stage would be to erect the walls.</a:t>
            </a:r>
          </a:p>
          <a:p>
            <a:pPr algn="l">
              <a:buFont typeface="Arial" panose="020B0604020202020204" pitchFamily="34" charset="0"/>
              <a:buChar char="•"/>
            </a:pPr>
            <a:r>
              <a:rPr lang="en-US" b="0" i="0" dirty="0">
                <a:solidFill>
                  <a:srgbClr val="E6E6E6"/>
                </a:solidFill>
                <a:effectLst/>
                <a:latin typeface="Segoe UI" panose="020B0502040204020203" pitchFamily="34" charset="0"/>
              </a:rPr>
              <a:t>The third stage would be to add the roof.</a:t>
            </a:r>
          </a:p>
          <a:p>
            <a:pPr algn="l"/>
            <a:r>
              <a:rPr lang="en-US" b="0" i="0" dirty="0">
                <a:solidFill>
                  <a:srgbClr val="E6E6E6"/>
                </a:solidFill>
                <a:effectLst/>
                <a:latin typeface="Segoe UI" panose="020B0502040204020203" pitchFamily="34" charset="0"/>
              </a:rPr>
              <a:t>Attempting to do any of these steps out of order just doesn't make sense, and may in fact be impossible. Similarly, Spark breaks each job into stages to ensure everything is done in the right order.</a:t>
            </a:r>
          </a:p>
          <a:p>
            <a:pPr algn="l">
              <a:buFont typeface="Arial" panose="020B0604020202020204" pitchFamily="34" charset="0"/>
              <a:buNone/>
            </a:pPr>
            <a:endParaRPr lang="en-US" b="0" i="0" dirty="0">
              <a:solidFill>
                <a:srgbClr val="E6E6E6"/>
              </a:solidFill>
              <a:effectLst/>
              <a:latin typeface="Segoe UI" panose="020B0502040204020203" pitchFamily="34" charset="0"/>
            </a:endParaRPr>
          </a:p>
          <a:p>
            <a:pPr algn="l"/>
            <a:endParaRPr lang="en-US" b="0" i="0" dirty="0">
              <a:solidFill>
                <a:srgbClr val="E6E6E6"/>
              </a:solidFill>
              <a:effectLst/>
              <a:latin typeface="Segoe UI" panose="020B0502040204020203" pitchFamily="34" charset="0"/>
            </a:endParaRPr>
          </a:p>
        </p:txBody>
      </p:sp>
      <p:sp>
        <p:nvSpPr>
          <p:cNvPr id="4" name="Slide Number Placeholder 3"/>
          <p:cNvSpPr>
            <a:spLocks noGrp="1"/>
          </p:cNvSpPr>
          <p:nvPr>
            <p:ph type="sldNum" sz="quarter" idx="10"/>
          </p:nvPr>
        </p:nvSpPr>
        <p:spPr/>
        <p:txBody>
          <a:bodyPr/>
          <a:lstStyle/>
          <a:p>
            <a:fld id="{6101C5E1-D8E9-464D-A93E-CE21651935A7}" type="slidenum">
              <a:rPr lang="en-US" smtClean="0"/>
              <a:t>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3D31F3-DC21-FAD4-6E03-312AE06B8D2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1DDD36E-DE26-84CD-609D-0D9F5226C4C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73E64A8-0E34-806C-1E73-81F71E71AA04}"/>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D8EEF6D1-3516-0BFE-4764-4E8DDFE95A1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C03CDC1-9785-433D-B8FB-14DD1B5F9A76}"/>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610701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9A1F2-8CB0-024A-B070-92E345B0EA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FF92497-00FD-B72B-ED13-74CC33E3195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4597D68-0A58-B0CE-D636-781A4E0E96B8}"/>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7D937E05-3D9A-ED04-4D97-CEA4BF15F1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37440A5C-FC76-E107-9BEF-952A57F212CD}"/>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2404180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B5C41F-2071-8B5D-137B-40854AA09CD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AC5A90D-2980-B52D-7A1F-6A142661A6B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6F1348-6D6B-8CD6-2DAD-1CE30A25F4F2}"/>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C8AA6F76-8C69-EC5E-6AA3-19021E21564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495FA1D-89BD-6934-ABCF-CD6DD52E6E5A}"/>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104835713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53D01F-BA3F-992B-07FE-4A18774CC7D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23E880B4-0FFD-CB70-B57B-44491C943FC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2354A40-5DCB-C115-539D-C44063787B0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6E6A161-C5AB-E456-77C2-D38FE95E08AA}"/>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6" name="Footer Placeholder 5">
            <a:extLst>
              <a:ext uri="{FF2B5EF4-FFF2-40B4-BE49-F238E27FC236}">
                <a16:creationId xmlns:a16="http://schemas.microsoft.com/office/drawing/2014/main" id="{3F3973B9-9647-1C18-680B-CA6C972D10C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1185FE9-A540-0EFC-39F7-F7178D7250F9}"/>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25736536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81858D-EA6F-4B8C-0ABB-4739B3737B2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1F60C5-7511-925E-A165-2ECC060E596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D7412E2-E83E-3967-AD29-7643C1E7493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AA40F8B-66EF-5148-5253-6783B936798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5E73B45-AEE9-9893-081F-B08557AFF1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C43529F-3E0F-EBA0-A524-AC375496CC2F}"/>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8" name="Footer Placeholder 7">
            <a:extLst>
              <a:ext uri="{FF2B5EF4-FFF2-40B4-BE49-F238E27FC236}">
                <a16:creationId xmlns:a16="http://schemas.microsoft.com/office/drawing/2014/main" id="{5CAFFB03-4EA1-EAD4-9C83-DBDB7B350AAF}"/>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9079D5EC-B49A-2918-2460-81FC1820D6DE}"/>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35318890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6D98C2-5511-AC42-827C-A089458D844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1E36997-5AB5-A9A0-4892-B899F2744AE6}"/>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4" name="Footer Placeholder 3">
            <a:extLst>
              <a:ext uri="{FF2B5EF4-FFF2-40B4-BE49-F238E27FC236}">
                <a16:creationId xmlns:a16="http://schemas.microsoft.com/office/drawing/2014/main" id="{95A88AA0-C167-689F-A464-0C3067C7FD6A}"/>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D74FFD6-E4BF-AF4D-1CE8-548AED158396}"/>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39486373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2AB8988-213C-F6A2-3A84-4C2D31A6F361}"/>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3" name="Footer Placeholder 2">
            <a:extLst>
              <a:ext uri="{FF2B5EF4-FFF2-40B4-BE49-F238E27FC236}">
                <a16:creationId xmlns:a16="http://schemas.microsoft.com/office/drawing/2014/main" id="{8B180F5B-3B81-FAAF-4800-06E3975A9C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37A3D985-8659-52B6-95EE-5436492D9189}"/>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193455048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F20969-B37C-3BBC-5041-6B44460DACC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C364564-7FEC-7A5E-0D87-C718042C053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D68744F-D9A9-DF5C-014B-686259ECCA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2FD6225-53B2-3E33-399D-10A9802E2D18}"/>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6" name="Footer Placeholder 5">
            <a:extLst>
              <a:ext uri="{FF2B5EF4-FFF2-40B4-BE49-F238E27FC236}">
                <a16:creationId xmlns:a16="http://schemas.microsoft.com/office/drawing/2014/main" id="{327853C8-54A6-3F7D-C45D-0D915AC9058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9337B34-CE74-0A77-E36B-0613B7E6D561}"/>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116577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B6074-627F-B4D4-9196-BB2AEC524DB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C0F7E29-F76E-C9FC-DC13-FBCAF95663A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AAFDDCA5-7548-C94A-13DD-310E6D8648E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6378A0-9E11-D2A3-D105-42F1795C9BA4}"/>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6" name="Footer Placeholder 5">
            <a:extLst>
              <a:ext uri="{FF2B5EF4-FFF2-40B4-BE49-F238E27FC236}">
                <a16:creationId xmlns:a16="http://schemas.microsoft.com/office/drawing/2014/main" id="{71B83267-E7F9-99BE-224D-39C570FA2F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1B3C636-E897-8AD7-6604-8967F438AE17}"/>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1160658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5A3C9C-D975-8035-BA15-69A307FBA2A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2862A86-C184-7F39-0A79-BCD3F17A8F9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E93B07C-923E-F428-D79A-E4256B2D5A95}"/>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3CC86F43-7D1A-C46E-54FF-D92E47181C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0DFECCD-FEEE-1D7F-4C29-6465E090D644}"/>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24438437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773B91F-17C4-CE22-BF42-23D62AE9D3E9}"/>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6E79C03-93AC-5610-70BD-509B03CB646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1C5292A-672A-D4F0-AD30-7D95F305FD18}"/>
              </a:ext>
            </a:extLst>
          </p:cNvPr>
          <p:cNvSpPr>
            <a:spLocks noGrp="1"/>
          </p:cNvSpPr>
          <p:nvPr>
            <p:ph type="dt" sz="half" idx="10"/>
          </p:nvPr>
        </p:nvSpPr>
        <p:spPr/>
        <p:txBody>
          <a:body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375B8D1E-BDB8-690D-5CC2-D729D555AD5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DFAAD2-2C71-DF07-73B0-AC0868738C08}"/>
              </a:ext>
            </a:extLst>
          </p:cNvPr>
          <p:cNvSpPr>
            <a:spLocks noGrp="1"/>
          </p:cNvSpPr>
          <p:nvPr>
            <p:ph type="sldNum" sz="quarter" idx="12"/>
          </p:nvPr>
        </p:nvSpPr>
        <p:spPr/>
        <p:txBody>
          <a:bodyPr/>
          <a:lstStyle/>
          <a:p>
            <a:fld id="{2B20CAEB-B617-46C7-9803-F890807F4978}" type="slidenum">
              <a:rPr lang="en-IN" smtClean="0"/>
              <a:t>‹#›</a:t>
            </a:fld>
            <a:endParaRPr lang="en-IN"/>
          </a:p>
        </p:txBody>
      </p:sp>
    </p:spTree>
    <p:extLst>
      <p:ext uri="{BB962C8B-B14F-4D97-AF65-F5344CB8AC3E}">
        <p14:creationId xmlns:p14="http://schemas.microsoft.com/office/powerpoint/2010/main" val="20080105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588262" y="585216"/>
            <a:ext cx="8193024" cy="307777"/>
          </a:xfrm>
        </p:spPr>
        <p:txBody>
          <a:bodyPr/>
          <a:lstStyle>
            <a:lvl1pPr>
              <a:defRPr sz="2000" b="0" i="0">
                <a:solidFill>
                  <a:schemeClr val="tx1"/>
                </a:solidFill>
                <a:latin typeface="+mj-lt"/>
                <a:cs typeface="Segoe UI Semibold" panose="020B0502040204020203" pitchFamily="34" charset="0"/>
              </a:defRPr>
            </a:lvl1pPr>
          </a:lstStyle>
          <a:p>
            <a:r>
              <a:rPr lang="en-US"/>
              <a:t>Click to edit Master title style</a:t>
            </a:r>
          </a:p>
        </p:txBody>
      </p:sp>
      <p:sp>
        <p:nvSpPr>
          <p:cNvPr id="5" name="Footer Placeholder 10">
            <a:extLst>
              <a:ext uri="{FF2B5EF4-FFF2-40B4-BE49-F238E27FC236}">
                <a16:creationId xmlns:a16="http://schemas.microsoft.com/office/drawing/2014/main" id="{AE09A77D-BE61-2556-4E7D-60B0A94FD88A}"/>
              </a:ext>
            </a:extLst>
          </p:cNvPr>
          <p:cNvSpPr>
            <a:spLocks noGrp="1"/>
          </p:cNvSpPr>
          <p:nvPr>
            <p:ph type="ftr" sz="quarter" idx="3"/>
          </p:nvPr>
        </p:nvSpPr>
        <p:spPr>
          <a:xfrm>
            <a:off x="579438" y="6421083"/>
            <a:ext cx="4151312" cy="197976"/>
          </a:xfrm>
          <a:prstGeom prst="rect">
            <a:avLst/>
          </a:prstGeom>
        </p:spPr>
        <p:txBody>
          <a:bodyPr vert="horz" lIns="0" tIns="0" rIns="0" bIns="0" rtlCol="0" anchor="ctr"/>
          <a:lstStyle>
            <a:lvl1pPr marL="0" algn="l" defTabSz="914400" rtl="0" eaLnBrk="1" latinLnBrk="0" hangingPunct="1">
              <a:defRPr lang="en-US" sz="1000" kern="1200" dirty="0">
                <a:solidFill>
                  <a:schemeClr val="tx1"/>
                </a:solidFill>
                <a:latin typeface="+mn-lt"/>
                <a:ea typeface="+mn-ea"/>
                <a:cs typeface="+mn-cs"/>
              </a:defRPr>
            </a:lvl1pPr>
            <a:lvl5pPr>
              <a:defRPr lang="en-US" sz="750" kern="100" cap="all" spc="0" baseline="0" dirty="0">
                <a:solidFill>
                  <a:schemeClr val="tx1"/>
                </a:solidFill>
                <a:latin typeface="Arial" panose="020B0604020202020204" pitchFamily="34" charset="0"/>
                <a:ea typeface="+mn-ea"/>
                <a:cs typeface="Arial" panose="020B0604020202020204" pitchFamily="34" charset="0"/>
              </a:defRPr>
            </a:lvl5pPr>
          </a:lstStyle>
          <a:p>
            <a:pPr defTabSz="914367">
              <a:defRPr/>
            </a:pPr>
            <a:r>
              <a:rPr lang="en-US">
                <a:solidFill>
                  <a:srgbClr val="000000"/>
                </a:solidFill>
              </a:rPr>
              <a:t>© Copyright Microsoft Corporation. All rights reserved.</a:t>
            </a:r>
          </a:p>
        </p:txBody>
      </p:sp>
    </p:spTree>
    <p:extLst>
      <p:ext uri="{BB962C8B-B14F-4D97-AF65-F5344CB8AC3E}">
        <p14:creationId xmlns:p14="http://schemas.microsoft.com/office/powerpoint/2010/main" val="1057863777"/>
      </p:ext>
    </p:extLst>
  </p:cSld>
  <p:clrMapOvr>
    <a:masterClrMapping/>
  </p:clrMapOvr>
  <p:transition>
    <p:fade/>
  </p:transition>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content_layout">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22FCFEFD-88E5-4869-B5C3-1611B0B50E15}"/>
              </a:ext>
            </a:extLst>
          </p:cNvPr>
          <p:cNvSpPr>
            <a:spLocks noGrp="1"/>
          </p:cNvSpPr>
          <p:nvPr>
            <p:ph type="title" hasCustomPrompt="1"/>
          </p:nvPr>
        </p:nvSpPr>
        <p:spPr>
          <a:xfrm>
            <a:off x="588263" y="457200"/>
            <a:ext cx="11018520" cy="553998"/>
          </a:xfrm>
        </p:spPr>
        <p:txBody>
          <a:bodyPr/>
          <a:lstStyle>
            <a:lvl1pPr>
              <a:lnSpc>
                <a:spcPct val="100000"/>
              </a:lnSpc>
              <a:defRPr sz="3600">
                <a:solidFill>
                  <a:srgbClr val="2A446F"/>
                </a:solidFill>
              </a:defRPr>
            </a:lvl1pPr>
          </a:lstStyle>
          <a:p>
            <a:r>
              <a:rPr lang="en-US"/>
              <a:t>Click to edit title style</a:t>
            </a:r>
          </a:p>
        </p:txBody>
      </p:sp>
      <p:sp>
        <p:nvSpPr>
          <p:cNvPr id="4" name="Subtitle">
            <a:extLst>
              <a:ext uri="{FF2B5EF4-FFF2-40B4-BE49-F238E27FC236}">
                <a16:creationId xmlns:a16="http://schemas.microsoft.com/office/drawing/2014/main" id="{58A212C2-8B30-4835-8711-AA981B6CFBE1}"/>
              </a:ext>
            </a:extLst>
          </p:cNvPr>
          <p:cNvSpPr>
            <a:spLocks noGrp="1"/>
          </p:cNvSpPr>
          <p:nvPr>
            <p:ph sz="quarter" idx="10" hasCustomPrompt="1"/>
          </p:nvPr>
        </p:nvSpPr>
        <p:spPr>
          <a:xfrm>
            <a:off x="584200" y="1435100"/>
            <a:ext cx="11018838" cy="1612749"/>
          </a:xfrm>
        </p:spPr>
        <p:txBody>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8556723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D01A724-8A52-5817-09B9-6F6EF4D1D8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6AF04DF-DA46-E80D-4DE1-EDCE7E907AB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7F48EF8-0A99-24C4-BD9D-80160A48955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1097C8B-E146-4BBE-8A20-BBACC04528EB}" type="datetimeFigureOut">
              <a:rPr lang="en-IN" smtClean="0"/>
              <a:t>13-12-2024</a:t>
            </a:fld>
            <a:endParaRPr lang="en-IN"/>
          </a:p>
        </p:txBody>
      </p:sp>
      <p:sp>
        <p:nvSpPr>
          <p:cNvPr id="5" name="Footer Placeholder 4">
            <a:extLst>
              <a:ext uri="{FF2B5EF4-FFF2-40B4-BE49-F238E27FC236}">
                <a16:creationId xmlns:a16="http://schemas.microsoft.com/office/drawing/2014/main" id="{3E549A69-EBA2-9DA0-51B3-4B7D557F9D0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87300D12-2223-8C7E-990F-F3C78737F82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B20CAEB-B617-46C7-9803-F890807F4978}" type="slidenum">
              <a:rPr lang="en-IN" smtClean="0"/>
              <a:t>‹#›</a:t>
            </a:fld>
            <a:endParaRPr lang="en-IN"/>
          </a:p>
        </p:txBody>
      </p:sp>
    </p:spTree>
    <p:extLst>
      <p:ext uri="{BB962C8B-B14F-4D97-AF65-F5344CB8AC3E}">
        <p14:creationId xmlns:p14="http://schemas.microsoft.com/office/powerpoint/2010/main" val="371252216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svg"/><Relationship Id="rId13" Type="http://schemas.openxmlformats.org/officeDocument/2006/relationships/image" Target="../media/image12.png"/><Relationship Id="rId3" Type="http://schemas.openxmlformats.org/officeDocument/2006/relationships/image" Target="../media/image2.png"/><Relationship Id="rId7" Type="http://schemas.openxmlformats.org/officeDocument/2006/relationships/image" Target="../media/image6.png"/><Relationship Id="rId12" Type="http://schemas.openxmlformats.org/officeDocument/2006/relationships/image" Target="../media/image11.svg"/><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image" Target="../media/image5.svg"/><Relationship Id="rId11" Type="http://schemas.openxmlformats.org/officeDocument/2006/relationships/image" Target="../media/image10.png"/><Relationship Id="rId5" Type="http://schemas.openxmlformats.org/officeDocument/2006/relationships/image" Target="../media/image4.png"/><Relationship Id="rId10" Type="http://schemas.openxmlformats.org/officeDocument/2006/relationships/image" Target="../media/image9.sv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13.xml"/><Relationship Id="rId4" Type="http://schemas.openxmlformats.org/officeDocument/2006/relationships/image" Target="../media/image16.jpeg"/></Relationships>
</file>

<file path=ppt/slides/_rels/slide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9CDC67F-D3F9-4362-8F9F-956CBC7D2339}"/>
              </a:ext>
            </a:extLst>
          </p:cNvPr>
          <p:cNvSpPr>
            <a:spLocks noGrp="1"/>
          </p:cNvSpPr>
          <p:nvPr>
            <p:ph type="ctrTitle"/>
          </p:nvPr>
        </p:nvSpPr>
        <p:spPr>
          <a:xfrm>
            <a:off x="6194716" y="739978"/>
            <a:ext cx="5334930" cy="3004145"/>
          </a:xfrm>
        </p:spPr>
        <p:txBody>
          <a:bodyPr>
            <a:normAutofit/>
          </a:bodyPr>
          <a:lstStyle/>
          <a:p>
            <a:r>
              <a:rPr lang="en-US" dirty="0"/>
              <a:t>Data Analytical Engines </a:t>
            </a:r>
            <a:endParaRPr lang="en-IN" dirty="0"/>
          </a:p>
        </p:txBody>
      </p:sp>
      <p:sp>
        <p:nvSpPr>
          <p:cNvPr id="3" name="Subtitle 2">
            <a:extLst>
              <a:ext uri="{FF2B5EF4-FFF2-40B4-BE49-F238E27FC236}">
                <a16:creationId xmlns:a16="http://schemas.microsoft.com/office/drawing/2014/main" id="{FE90962E-84EF-7951-41E0-42C8FC31B60E}"/>
              </a:ext>
            </a:extLst>
          </p:cNvPr>
          <p:cNvSpPr>
            <a:spLocks noGrp="1"/>
          </p:cNvSpPr>
          <p:nvPr>
            <p:ph type="subTitle" idx="1"/>
          </p:nvPr>
        </p:nvSpPr>
        <p:spPr>
          <a:xfrm>
            <a:off x="6194715" y="3836197"/>
            <a:ext cx="5334931" cy="2189214"/>
          </a:xfrm>
        </p:spPr>
        <p:txBody>
          <a:bodyPr>
            <a:normAutofit/>
          </a:bodyPr>
          <a:lstStyle/>
          <a:p>
            <a:endParaRPr lang="en-IN" dirty="0"/>
          </a:p>
        </p:txBody>
      </p:sp>
      <p:sp>
        <p:nvSpPr>
          <p:cNvPr id="1033" name="Freeform: Shape 1032">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5" name="Freeform: Shape 1034">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037" name="Freeform: Shape 1036">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9" name="Freeform: Shape 1038">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041" name="Freeform: Shape 1040">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1026" name="Picture 2" descr="All Microsoft Fabric icons for diagramming (old version) - Sam Debruyn">
            <a:extLst>
              <a:ext uri="{FF2B5EF4-FFF2-40B4-BE49-F238E27FC236}">
                <a16:creationId xmlns:a16="http://schemas.microsoft.com/office/drawing/2014/main" id="{89332A8B-D7F7-080F-1C80-92C15318C1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t="195" r="2" b="2"/>
          <a:stretch/>
        </p:blipFill>
        <p:spPr bwMode="auto">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1043" name="Freeform: Shape 1042">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1645323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348F05E-82B2-EEC6-1400-B2CC64B0FDCB}"/>
              </a:ext>
            </a:extLst>
          </p:cNvPr>
          <p:cNvSpPr>
            <a:spLocks noGrp="1"/>
          </p:cNvSpPr>
          <p:nvPr>
            <p:ph type="title"/>
          </p:nvPr>
        </p:nvSpPr>
        <p:spPr>
          <a:xfrm>
            <a:off x="588262" y="585216"/>
            <a:ext cx="11011600" cy="630942"/>
          </a:xfrm>
        </p:spPr>
        <p:txBody>
          <a:bodyPr lIns="0" tIns="0" rIns="0" bIns="137160"/>
          <a:lstStyle/>
          <a:p>
            <a:r>
              <a:rPr lang="en-US" sz="3200" dirty="0"/>
              <a:t>Explore, transform, and visualize data in the lakehouse</a:t>
            </a:r>
          </a:p>
        </p:txBody>
      </p:sp>
      <p:sp>
        <p:nvSpPr>
          <p:cNvPr id="14" name="TextBox 13">
            <a:extLst>
              <a:ext uri="{FF2B5EF4-FFF2-40B4-BE49-F238E27FC236}">
                <a16:creationId xmlns:a16="http://schemas.microsoft.com/office/drawing/2014/main" id="{3E22E83B-AF94-45A2-74A8-6C6C54D3D6E5}"/>
              </a:ext>
            </a:extLst>
          </p:cNvPr>
          <p:cNvSpPr txBox="1">
            <a:spLocks/>
          </p:cNvSpPr>
          <p:nvPr/>
        </p:nvSpPr>
        <p:spPr>
          <a:xfrm>
            <a:off x="588962" y="1397619"/>
            <a:ext cx="11010900" cy="477054"/>
          </a:xfrm>
          <a:prstGeom prst="rect">
            <a:avLst/>
          </a:prstGeom>
          <a:noFill/>
        </p:spPr>
        <p:txBody>
          <a:bodyPr wrap="square" lIns="0" tIns="0" rIns="0" bIns="137160">
            <a:spAutoFit/>
          </a:bodyPr>
          <a:lstStyle/>
          <a:p>
            <a:pPr>
              <a:spcAft>
                <a:spcPts val="600"/>
              </a:spcAft>
            </a:pPr>
            <a:r>
              <a:rPr lang="en-US" sz="2200" dirty="0"/>
              <a:t>Tools and techniques to explore and transform data:</a:t>
            </a:r>
          </a:p>
        </p:txBody>
      </p:sp>
      <p:grpSp>
        <p:nvGrpSpPr>
          <p:cNvPr id="12" name="Group 11" descr="List of tools and techniques to explore and transform data in Microsoft Fabric, including: notebooks, spark job definitions, SQL endpoint, dataflows, and data pipelines.">
            <a:extLst>
              <a:ext uri="{FF2B5EF4-FFF2-40B4-BE49-F238E27FC236}">
                <a16:creationId xmlns:a16="http://schemas.microsoft.com/office/drawing/2014/main" id="{2E446258-8B99-B344-C6AB-592E760810EC}"/>
              </a:ext>
              <a:ext uri="{C183D7F6-B498-43B3-948B-1728B52AA6E4}">
                <adec:decorative xmlns:adec="http://schemas.microsoft.com/office/drawing/2017/decorative" val="0"/>
              </a:ext>
            </a:extLst>
          </p:cNvPr>
          <p:cNvGrpSpPr/>
          <p:nvPr/>
        </p:nvGrpSpPr>
        <p:grpSpPr>
          <a:xfrm>
            <a:off x="1564695" y="1831614"/>
            <a:ext cx="5192911" cy="3096232"/>
            <a:chOff x="601714" y="1397477"/>
            <a:chExt cx="5192911" cy="3096232"/>
          </a:xfrm>
        </p:grpSpPr>
        <p:sp>
          <p:nvSpPr>
            <p:cNvPr id="2" name="TextBox 1">
              <a:extLst>
                <a:ext uri="{FF2B5EF4-FFF2-40B4-BE49-F238E27FC236}">
                  <a16:creationId xmlns:a16="http://schemas.microsoft.com/office/drawing/2014/main" id="{8833ACA6-F3CE-FDF7-8395-AA55D0FEF9CA}"/>
                </a:ext>
              </a:extLst>
            </p:cNvPr>
            <p:cNvSpPr txBox="1"/>
            <p:nvPr/>
          </p:nvSpPr>
          <p:spPr>
            <a:xfrm>
              <a:off x="724328" y="1397477"/>
              <a:ext cx="5070297" cy="3096232"/>
            </a:xfrm>
            <a:prstGeom prst="rect">
              <a:avLst/>
            </a:prstGeom>
            <a:noFill/>
          </p:spPr>
          <p:txBody>
            <a:bodyPr wrap="square" lIns="182880" tIns="146304" rIns="182880" bIns="146304" rtlCol="0">
              <a:spAutoFit/>
            </a:bodyPr>
            <a:lstStyle/>
            <a:p>
              <a:pPr>
                <a:spcBef>
                  <a:spcPts val="1200"/>
                </a:spcBef>
              </a:pPr>
              <a:r>
                <a:rPr lang="en-US" sz="2200" dirty="0"/>
                <a:t> Apache Spark</a:t>
              </a:r>
            </a:p>
            <a:p>
              <a:pPr marL="517525" lvl="2">
                <a:spcBef>
                  <a:spcPts val="600"/>
                </a:spcBef>
                <a:spcAft>
                  <a:spcPts val="600"/>
                </a:spcAft>
              </a:pPr>
              <a:r>
                <a:rPr lang="en-US" sz="2200" dirty="0"/>
                <a:t>Notebooks</a:t>
              </a:r>
            </a:p>
            <a:p>
              <a:pPr marL="517525" lvl="2">
                <a:spcBef>
                  <a:spcPts val="600"/>
                </a:spcBef>
                <a:spcAft>
                  <a:spcPts val="600"/>
                </a:spcAft>
              </a:pPr>
              <a:r>
                <a:rPr lang="en-US" sz="2200" dirty="0"/>
                <a:t>Spark Job Definitions</a:t>
              </a:r>
            </a:p>
            <a:p>
              <a:pPr>
                <a:spcBef>
                  <a:spcPts val="1200"/>
                </a:spcBef>
              </a:pPr>
              <a:r>
                <a:rPr lang="en-US" sz="2200" dirty="0"/>
                <a:t> SQL analytics endpoint</a:t>
              </a:r>
            </a:p>
            <a:p>
              <a:pPr>
                <a:spcBef>
                  <a:spcPts val="1200"/>
                </a:spcBef>
              </a:pPr>
              <a:r>
                <a:rPr lang="en-US" sz="2200" dirty="0"/>
                <a:t> Dataflows Gen2</a:t>
              </a:r>
            </a:p>
            <a:p>
              <a:pPr>
                <a:spcBef>
                  <a:spcPts val="1200"/>
                </a:spcBef>
              </a:pPr>
              <a:r>
                <a:rPr lang="en-US" sz="2200" dirty="0"/>
                <a:t> Data Pipelines</a:t>
              </a:r>
            </a:p>
          </p:txBody>
        </p:sp>
        <p:pic>
          <p:nvPicPr>
            <p:cNvPr id="5" name="Graphic 4">
              <a:extLst>
                <a:ext uri="{FF2B5EF4-FFF2-40B4-BE49-F238E27FC236}">
                  <a16:creationId xmlns:a16="http://schemas.microsoft.com/office/drawing/2014/main" id="{EFE22D77-9750-468E-0B29-D53122CC4D08}"/>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59126" y="1974691"/>
              <a:ext cx="266007" cy="274320"/>
            </a:xfrm>
            <a:prstGeom prst="rect">
              <a:avLst/>
            </a:prstGeom>
          </p:spPr>
        </p:pic>
        <p:pic>
          <p:nvPicPr>
            <p:cNvPr id="6" name="Graphic 5">
              <a:extLst>
                <a:ext uri="{FF2B5EF4-FFF2-40B4-BE49-F238E27FC236}">
                  <a16:creationId xmlns:a16="http://schemas.microsoft.com/office/drawing/2014/main" id="{4D4ED252-1B26-E38F-D232-99B26347280C}"/>
                </a:ext>
              </a:extLst>
            </p:cNvPr>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59126" y="2472633"/>
              <a:ext cx="266007" cy="274320"/>
            </a:xfrm>
            <a:prstGeom prst="rect">
              <a:avLst/>
            </a:prstGeom>
          </p:spPr>
        </p:pic>
        <p:pic>
          <p:nvPicPr>
            <p:cNvPr id="8" name="Graphic 7">
              <a:extLst>
                <a:ext uri="{FF2B5EF4-FFF2-40B4-BE49-F238E27FC236}">
                  <a16:creationId xmlns:a16="http://schemas.microsoft.com/office/drawing/2014/main" id="{0C6C84A4-D5EF-D512-6CCA-F79879BE56F2}"/>
                </a:ext>
              </a:extLst>
            </p:cNvPr>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01715" y="3549992"/>
              <a:ext cx="266007" cy="274320"/>
            </a:xfrm>
            <a:prstGeom prst="rect">
              <a:avLst/>
            </a:prstGeom>
          </p:spPr>
        </p:pic>
        <p:pic>
          <p:nvPicPr>
            <p:cNvPr id="9" name="Graphic 8">
              <a:extLst>
                <a:ext uri="{FF2B5EF4-FFF2-40B4-BE49-F238E27FC236}">
                  <a16:creationId xmlns:a16="http://schemas.microsoft.com/office/drawing/2014/main" id="{334A818B-80B4-09C8-CE86-40650EECE4B1}"/>
                </a:ext>
              </a:extLst>
            </p:cNvPr>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01714" y="4035863"/>
              <a:ext cx="266007" cy="274320"/>
            </a:xfrm>
            <a:prstGeom prst="rect">
              <a:avLst/>
            </a:prstGeom>
          </p:spPr>
        </p:pic>
        <p:pic>
          <p:nvPicPr>
            <p:cNvPr id="11" name="Graphic 10">
              <a:extLst>
                <a:ext uri="{FF2B5EF4-FFF2-40B4-BE49-F238E27FC236}">
                  <a16:creationId xmlns:a16="http://schemas.microsoft.com/office/drawing/2014/main" id="{02E6763D-0C2E-78B1-0CFE-7D2F0FF5F511}"/>
                </a:ext>
              </a:extLst>
            </p:cNvPr>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06289" y="3041554"/>
              <a:ext cx="266007" cy="274320"/>
            </a:xfrm>
            <a:prstGeom prst="rect">
              <a:avLst/>
            </a:prstGeom>
          </p:spPr>
        </p:pic>
        <p:pic>
          <p:nvPicPr>
            <p:cNvPr id="1026" name="Picture 2" descr="Apache, spark, logo Icon in Vector Logo">
              <a:extLst>
                <a:ext uri="{FF2B5EF4-FFF2-40B4-BE49-F238E27FC236}">
                  <a16:creationId xmlns:a16="http://schemas.microsoft.com/office/drawing/2014/main" id="{46F00389-D3FD-6CAF-C45B-A8AC477E2FFF}"/>
                </a:ext>
              </a:extLst>
            </p:cNvPr>
            <p:cNvPicPr>
              <a:picLocks noChangeAspect="1" noChangeArrowheads="1"/>
            </p:cNvPicPr>
            <p:nvPr/>
          </p:nvPicPr>
          <p:blipFill>
            <a:blip r:embed="rId13" cstate="print">
              <a:biLevel thresh="75000"/>
              <a:extLst>
                <a:ext uri="{28A0092B-C50C-407E-A947-70E740481C1C}">
                  <a14:useLocalDpi xmlns:a14="http://schemas.microsoft.com/office/drawing/2010/main" val="0"/>
                </a:ext>
              </a:extLst>
            </a:blip>
            <a:srcRect/>
            <a:stretch>
              <a:fillRect/>
            </a:stretch>
          </p:blipFill>
          <p:spPr bwMode="auto">
            <a:xfrm>
              <a:off x="601714" y="1580884"/>
              <a:ext cx="274320" cy="274320"/>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TextBox 3">
            <a:extLst>
              <a:ext uri="{FF2B5EF4-FFF2-40B4-BE49-F238E27FC236}">
                <a16:creationId xmlns:a16="http://schemas.microsoft.com/office/drawing/2014/main" id="{8E2177E2-0539-E91E-21BD-4B01FFD14D76}"/>
              </a:ext>
            </a:extLst>
          </p:cNvPr>
          <p:cNvSpPr txBox="1">
            <a:spLocks/>
          </p:cNvSpPr>
          <p:nvPr/>
        </p:nvSpPr>
        <p:spPr>
          <a:xfrm>
            <a:off x="588962" y="5157102"/>
            <a:ext cx="11010900" cy="477054"/>
          </a:xfrm>
          <a:prstGeom prst="rect">
            <a:avLst/>
          </a:prstGeom>
          <a:noFill/>
        </p:spPr>
        <p:txBody>
          <a:bodyPr wrap="square" lIns="0" tIns="0" rIns="0" bIns="137160">
            <a:spAutoFit/>
          </a:bodyPr>
          <a:lstStyle/>
          <a:p>
            <a:pPr>
              <a:spcAft>
                <a:spcPts val="600"/>
              </a:spcAft>
            </a:pPr>
            <a:r>
              <a:rPr lang="en-US" sz="2200" dirty="0"/>
              <a:t>Visualize lakehouse data using Power BI</a:t>
            </a:r>
          </a:p>
        </p:txBody>
      </p:sp>
    </p:spTree>
    <p:extLst>
      <p:ext uri="{BB962C8B-B14F-4D97-AF65-F5344CB8AC3E}">
        <p14:creationId xmlns:p14="http://schemas.microsoft.com/office/powerpoint/2010/main" val="316776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3" name="Rectangle 1032">
            <a:extLst>
              <a:ext uri="{FF2B5EF4-FFF2-40B4-BE49-F238E27FC236}">
                <a16:creationId xmlns:a16="http://schemas.microsoft.com/office/drawing/2014/main" id="{362D44EE-C852-4460-B8B5-C4F2BC205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E61E14E-3C9A-A29E-A5DB-19DD686E96EE}"/>
              </a:ext>
            </a:extLst>
          </p:cNvPr>
          <p:cNvSpPr>
            <a:spLocks noGrp="1"/>
          </p:cNvSpPr>
          <p:nvPr>
            <p:ph type="title"/>
          </p:nvPr>
        </p:nvSpPr>
        <p:spPr>
          <a:xfrm>
            <a:off x="6282188" y="2899601"/>
            <a:ext cx="5453626" cy="1058797"/>
          </a:xfrm>
        </p:spPr>
        <p:txBody>
          <a:bodyPr vert="horz" lIns="91440" tIns="45720" rIns="91440" bIns="45720" rtlCol="0" anchor="b">
            <a:normAutofit/>
          </a:bodyPr>
          <a:lstStyle/>
          <a:p>
            <a:pPr algn="ctr"/>
            <a:r>
              <a:rPr lang="en-US" sz="6000" dirty="0">
                <a:cs typeface="+mj-cs"/>
              </a:rPr>
              <a:t>Apache Spark</a:t>
            </a:r>
          </a:p>
        </p:txBody>
      </p:sp>
      <p:sp>
        <p:nvSpPr>
          <p:cNvPr id="1035" name="Freeform: Shape 1034">
            <a:extLst>
              <a:ext uri="{FF2B5EF4-FFF2-40B4-BE49-F238E27FC236}">
                <a16:creationId xmlns:a16="http://schemas.microsoft.com/office/drawing/2014/main" id="{658970D8-8D1D-4B5C-894B-E871CC8654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530529" y="1"/>
            <a:ext cx="1155142" cy="591009"/>
          </a:xfrm>
          <a:custGeom>
            <a:avLst/>
            <a:gdLst>
              <a:gd name="connsiteX0" fmla="*/ 1355 w 1155142"/>
              <a:gd name="connsiteY0" fmla="*/ 0 h 591009"/>
              <a:gd name="connsiteX1" fmla="*/ 1153787 w 1155142"/>
              <a:gd name="connsiteY1" fmla="*/ 0 h 591009"/>
              <a:gd name="connsiteX2" fmla="*/ 1155142 w 1155142"/>
              <a:gd name="connsiteY2" fmla="*/ 13438 h 591009"/>
              <a:gd name="connsiteX3" fmla="*/ 577571 w 1155142"/>
              <a:gd name="connsiteY3" fmla="*/ 591009 h 591009"/>
              <a:gd name="connsiteX4" fmla="*/ 0 w 1155142"/>
              <a:gd name="connsiteY4" fmla="*/ 13438 h 5910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55142" h="591009">
                <a:moveTo>
                  <a:pt x="1355" y="0"/>
                </a:moveTo>
                <a:lnTo>
                  <a:pt x="1153787" y="0"/>
                </a:lnTo>
                <a:lnTo>
                  <a:pt x="1155142" y="13438"/>
                </a:lnTo>
                <a:cubicBezTo>
                  <a:pt x="1155142" y="332422"/>
                  <a:pt x="896555" y="591009"/>
                  <a:pt x="577571" y="591009"/>
                </a:cubicBezTo>
                <a:cubicBezTo>
                  <a:pt x="258587" y="591009"/>
                  <a:pt x="0" y="332422"/>
                  <a:pt x="0" y="13438"/>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37" name="Freeform: Shape 1036">
            <a:extLst>
              <a:ext uri="{FF2B5EF4-FFF2-40B4-BE49-F238E27FC236}">
                <a16:creationId xmlns:a16="http://schemas.microsoft.com/office/drawing/2014/main" id="{F227E5B6-9132-43CA-B503-37A18562AD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349052" y="0"/>
            <a:ext cx="1737401" cy="959536"/>
          </a:xfrm>
          <a:custGeom>
            <a:avLst/>
            <a:gdLst>
              <a:gd name="connsiteX0" fmla="*/ 0 w 1737401"/>
              <a:gd name="connsiteY0" fmla="*/ 0 h 959536"/>
              <a:gd name="connsiteX1" fmla="*/ 123825 w 1737401"/>
              <a:gd name="connsiteY1" fmla="*/ 0 h 959536"/>
              <a:gd name="connsiteX2" fmla="*/ 123825 w 1737401"/>
              <a:gd name="connsiteY2" fmla="*/ 790277 h 959536"/>
              <a:gd name="connsiteX3" fmla="*/ 1490095 w 1737401"/>
              <a:gd name="connsiteY3" fmla="*/ 0 h 959536"/>
              <a:gd name="connsiteX4" fmla="*/ 1737401 w 1737401"/>
              <a:gd name="connsiteY4" fmla="*/ 0 h 959536"/>
              <a:gd name="connsiteX5" fmla="*/ 92869 w 1737401"/>
              <a:gd name="connsiteY5" fmla="*/ 951249 h 959536"/>
              <a:gd name="connsiteX6" fmla="*/ 61913 w 1737401"/>
              <a:gd name="connsiteY6" fmla="*/ 959536 h 959536"/>
              <a:gd name="connsiteX7" fmla="*/ 0 w 1737401"/>
              <a:gd name="connsiteY7" fmla="*/ 897624 h 959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737401" h="959536">
                <a:moveTo>
                  <a:pt x="0" y="0"/>
                </a:moveTo>
                <a:lnTo>
                  <a:pt x="123825" y="0"/>
                </a:lnTo>
                <a:lnTo>
                  <a:pt x="123825" y="790277"/>
                </a:lnTo>
                <a:lnTo>
                  <a:pt x="1490095" y="0"/>
                </a:lnTo>
                <a:lnTo>
                  <a:pt x="1737401" y="0"/>
                </a:lnTo>
                <a:lnTo>
                  <a:pt x="92869" y="951249"/>
                </a:lnTo>
                <a:cubicBezTo>
                  <a:pt x="83458" y="956688"/>
                  <a:pt x="72780" y="959546"/>
                  <a:pt x="61913" y="959536"/>
                </a:cubicBezTo>
                <a:cubicBezTo>
                  <a:pt x="27719" y="959536"/>
                  <a:pt x="0" y="931818"/>
                  <a:pt x="0" y="897624"/>
                </a:cubicBezTo>
                <a:close/>
              </a:path>
            </a:pathLst>
          </a:custGeom>
          <a:solidFill>
            <a:schemeClr val="accent6"/>
          </a:solidFill>
          <a:ln w="9525" cap="flat">
            <a:noFill/>
            <a:prstDash val="solid"/>
            <a:miter/>
          </a:ln>
        </p:spPr>
        <p:txBody>
          <a:bodyPr rtlCol="0" anchor="ctr"/>
          <a:lstStyle/>
          <a:p>
            <a:endParaRPr lang="en-US"/>
          </a:p>
        </p:txBody>
      </p:sp>
      <p:sp>
        <p:nvSpPr>
          <p:cNvPr id="1039" name="Freeform: Shape 1038">
            <a:extLst>
              <a:ext uri="{FF2B5EF4-FFF2-40B4-BE49-F238E27FC236}">
                <a16:creationId xmlns:a16="http://schemas.microsoft.com/office/drawing/2014/main" id="{03C2051E-A88D-48E5-BACF-AAED178927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2916245"/>
            <a:ext cx="159741" cy="552996"/>
          </a:xfrm>
          <a:custGeom>
            <a:avLst/>
            <a:gdLst>
              <a:gd name="connsiteX0" fmla="*/ 159741 w 159741"/>
              <a:gd name="connsiteY0" fmla="*/ 0 h 552996"/>
              <a:gd name="connsiteX1" fmla="*/ 159741 w 159741"/>
              <a:gd name="connsiteY1" fmla="*/ 552996 h 552996"/>
              <a:gd name="connsiteX2" fmla="*/ 141849 w 159741"/>
              <a:gd name="connsiteY2" fmla="*/ 543285 h 552996"/>
              <a:gd name="connsiteX3" fmla="*/ 0 w 159741"/>
              <a:gd name="connsiteY3" fmla="*/ 276498 h 552996"/>
              <a:gd name="connsiteX4" fmla="*/ 141849 w 159741"/>
              <a:gd name="connsiteY4" fmla="*/ 9711 h 55299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59741" h="552996">
                <a:moveTo>
                  <a:pt x="159741" y="0"/>
                </a:moveTo>
                <a:lnTo>
                  <a:pt x="159741" y="552996"/>
                </a:lnTo>
                <a:lnTo>
                  <a:pt x="141849" y="543285"/>
                </a:lnTo>
                <a:cubicBezTo>
                  <a:pt x="56268" y="485467"/>
                  <a:pt x="0" y="387554"/>
                  <a:pt x="0" y="276498"/>
                </a:cubicBezTo>
                <a:cubicBezTo>
                  <a:pt x="0" y="165443"/>
                  <a:pt x="56268" y="67529"/>
                  <a:pt x="141849" y="9711"/>
                </a:cubicBezTo>
                <a:close/>
              </a:path>
            </a:pathLst>
          </a:custGeom>
          <a:solidFill>
            <a:schemeClr val="accent2"/>
          </a:solidFill>
          <a:ln w="12700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041" name="Freeform: Shape 1040">
            <a:extLst>
              <a:ext uri="{FF2B5EF4-FFF2-40B4-BE49-F238E27FC236}">
                <a16:creationId xmlns:a16="http://schemas.microsoft.com/office/drawing/2014/main" id="{7821A508-2985-4905-874A-527429BA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835649"/>
            <a:ext cx="1548180" cy="1022351"/>
          </a:xfrm>
          <a:custGeom>
            <a:avLst/>
            <a:gdLst>
              <a:gd name="connsiteX0" fmla="*/ 61913 w 1548180"/>
              <a:gd name="connsiteY0" fmla="*/ 0 h 1022351"/>
              <a:gd name="connsiteX1" fmla="*/ 1548180 w 1548180"/>
              <a:gd name="connsiteY1" fmla="*/ 0 h 1022351"/>
              <a:gd name="connsiteX2" fmla="*/ 1548180 w 1548180"/>
              <a:gd name="connsiteY2" fmla="*/ 123825 h 1022351"/>
              <a:gd name="connsiteX3" fmla="*/ 123825 w 1548180"/>
              <a:gd name="connsiteY3" fmla="*/ 123825 h 1022351"/>
              <a:gd name="connsiteX4" fmla="*/ 123825 w 1548180"/>
              <a:gd name="connsiteY4" fmla="*/ 1022351 h 1022351"/>
              <a:gd name="connsiteX5" fmla="*/ 0 w 1548180"/>
              <a:gd name="connsiteY5" fmla="*/ 1022351 h 1022351"/>
              <a:gd name="connsiteX6" fmla="*/ 0 w 1548180"/>
              <a:gd name="connsiteY6" fmla="*/ 61913 h 1022351"/>
              <a:gd name="connsiteX7" fmla="*/ 61913 w 1548180"/>
              <a:gd name="connsiteY7" fmla="*/ 0 h 10223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48180" h="1022351">
                <a:moveTo>
                  <a:pt x="61913" y="0"/>
                </a:moveTo>
                <a:lnTo>
                  <a:pt x="1548180" y="0"/>
                </a:lnTo>
                <a:lnTo>
                  <a:pt x="1548180" y="123825"/>
                </a:lnTo>
                <a:lnTo>
                  <a:pt x="123825" y="123825"/>
                </a:lnTo>
                <a:lnTo>
                  <a:pt x="123825" y="1022351"/>
                </a:lnTo>
                <a:lnTo>
                  <a:pt x="0" y="1022351"/>
                </a:lnTo>
                <a:lnTo>
                  <a:pt x="0" y="61913"/>
                </a:lnTo>
                <a:cubicBezTo>
                  <a:pt x="0" y="27719"/>
                  <a:pt x="27719" y="0"/>
                  <a:pt x="61913" y="0"/>
                </a:cubicBezTo>
                <a:close/>
              </a:path>
            </a:pathLst>
          </a:custGeom>
          <a:solidFill>
            <a:schemeClr val="accent6"/>
          </a:solidFill>
          <a:ln w="9525" cap="flat">
            <a:noFill/>
            <a:prstDash val="solid"/>
            <a:miter/>
          </a:ln>
        </p:spPr>
        <p:txBody>
          <a:bodyPr rtlCol="0" anchor="ctr"/>
          <a:lstStyle/>
          <a:p>
            <a:endParaRPr lang="en-US"/>
          </a:p>
        </p:txBody>
      </p:sp>
      <p:sp>
        <p:nvSpPr>
          <p:cNvPr id="1043" name="Freeform: Shape 1042">
            <a:extLst>
              <a:ext uri="{FF2B5EF4-FFF2-40B4-BE49-F238E27FC236}">
                <a16:creationId xmlns:a16="http://schemas.microsoft.com/office/drawing/2014/main" id="{D2929CB1-0E3C-4B2D-ADC5-0154FB33BA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697761" y="5717906"/>
            <a:ext cx="1771609" cy="1140095"/>
          </a:xfrm>
          <a:custGeom>
            <a:avLst/>
            <a:gdLst>
              <a:gd name="connsiteX0" fmla="*/ 1561721 w 1771609"/>
              <a:gd name="connsiteY0" fmla="*/ 763041 h 1140095"/>
              <a:gd name="connsiteX1" fmla="*/ 1623024 w 1771609"/>
              <a:gd name="connsiteY1" fmla="*/ 792810 h 1140095"/>
              <a:gd name="connsiteX2" fmla="*/ 1711735 w 1771609"/>
              <a:gd name="connsiteY2" fmla="*/ 970132 h 1140095"/>
              <a:gd name="connsiteX3" fmla="*/ 1771609 w 1771609"/>
              <a:gd name="connsiteY3" fmla="*/ 1140095 h 1140095"/>
              <a:gd name="connsiteX4" fmla="*/ 1637225 w 1771609"/>
              <a:gd name="connsiteY4" fmla="*/ 1140095 h 1140095"/>
              <a:gd name="connsiteX5" fmla="*/ 1594820 w 1771609"/>
              <a:gd name="connsiteY5" fmla="*/ 1019711 h 1140095"/>
              <a:gd name="connsiteX6" fmla="*/ 1513200 w 1771609"/>
              <a:gd name="connsiteY6" fmla="*/ 856627 h 1140095"/>
              <a:gd name="connsiteX7" fmla="*/ 1538499 w 1771609"/>
              <a:gd name="connsiteY7" fmla="*/ 770415 h 1140095"/>
              <a:gd name="connsiteX8" fmla="*/ 1561721 w 1771609"/>
              <a:gd name="connsiteY8" fmla="*/ 763041 h 1140095"/>
              <a:gd name="connsiteX9" fmla="*/ 933455 w 1771609"/>
              <a:gd name="connsiteY9" fmla="*/ 161309 h 1140095"/>
              <a:gd name="connsiteX10" fmla="*/ 957797 w 1771609"/>
              <a:gd name="connsiteY10" fmla="*/ 167970 h 1140095"/>
              <a:gd name="connsiteX11" fmla="*/ 1286982 w 1771609"/>
              <a:gd name="connsiteY11" fmla="*/ 387616 h 1140095"/>
              <a:gd name="connsiteX12" fmla="*/ 1293725 w 1771609"/>
              <a:gd name="connsiteY12" fmla="*/ 477075 h 1140095"/>
              <a:gd name="connsiteX13" fmla="*/ 1245453 w 1771609"/>
              <a:gd name="connsiteY13" fmla="*/ 499154 h 1140095"/>
              <a:gd name="connsiteX14" fmla="*/ 1245167 w 1771609"/>
              <a:gd name="connsiteY14" fmla="*/ 499154 h 1140095"/>
              <a:gd name="connsiteX15" fmla="*/ 1203638 w 1771609"/>
              <a:gd name="connsiteY15" fmla="*/ 484104 h 1140095"/>
              <a:gd name="connsiteX16" fmla="*/ 900647 w 1771609"/>
              <a:gd name="connsiteY16" fmla="*/ 281508 h 1140095"/>
              <a:gd name="connsiteX17" fmla="*/ 872454 w 1771609"/>
              <a:gd name="connsiteY17" fmla="*/ 196164 h 1140095"/>
              <a:gd name="connsiteX18" fmla="*/ 933455 w 1771609"/>
              <a:gd name="connsiteY18" fmla="*/ 161309 h 1140095"/>
              <a:gd name="connsiteX19" fmla="*/ 256260 w 1771609"/>
              <a:gd name="connsiteY19" fmla="*/ 29 h 1140095"/>
              <a:gd name="connsiteX20" fmla="*/ 454020 w 1771609"/>
              <a:gd name="connsiteY20" fmla="*/ 13474 h 1140095"/>
              <a:gd name="connsiteX21" fmla="*/ 509236 w 1771609"/>
              <a:gd name="connsiteY21" fmla="*/ 84182 h 1140095"/>
              <a:gd name="connsiteX22" fmla="*/ 445829 w 1771609"/>
              <a:gd name="connsiteY22" fmla="*/ 139871 h 1140095"/>
              <a:gd name="connsiteX23" fmla="*/ 437447 w 1771609"/>
              <a:gd name="connsiteY23" fmla="*/ 139395 h 1140095"/>
              <a:gd name="connsiteX24" fmla="*/ 73211 w 1771609"/>
              <a:gd name="connsiteY24" fmla="*/ 137204 h 1140095"/>
              <a:gd name="connsiteX25" fmla="*/ 749 w 1771609"/>
              <a:gd name="connsiteY25" fmla="*/ 84082 h 1140095"/>
              <a:gd name="connsiteX26" fmla="*/ 53871 w 1771609"/>
              <a:gd name="connsiteY26" fmla="*/ 11621 h 1140095"/>
              <a:gd name="connsiteX27" fmla="*/ 58352 w 1771609"/>
              <a:gd name="connsiteY27" fmla="*/ 11093 h 1140095"/>
              <a:gd name="connsiteX28" fmla="*/ 256260 w 1771609"/>
              <a:gd name="connsiteY28" fmla="*/ 29 h 1140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71609" h="1140095">
                <a:moveTo>
                  <a:pt x="1561721" y="763041"/>
                </a:moveTo>
                <a:cubicBezTo>
                  <a:pt x="1585506" y="760324"/>
                  <a:pt x="1609722" y="771249"/>
                  <a:pt x="1623024" y="792810"/>
                </a:cubicBezTo>
                <a:cubicBezTo>
                  <a:pt x="1656300" y="850065"/>
                  <a:pt x="1685920" y="909291"/>
                  <a:pt x="1711735" y="970132"/>
                </a:cubicBezTo>
                <a:lnTo>
                  <a:pt x="1771609" y="1140095"/>
                </a:lnTo>
                <a:lnTo>
                  <a:pt x="1637225" y="1140095"/>
                </a:lnTo>
                <a:lnTo>
                  <a:pt x="1594820" y="1019711"/>
                </a:lnTo>
                <a:cubicBezTo>
                  <a:pt x="1571072" y="963753"/>
                  <a:pt x="1543818" y="909282"/>
                  <a:pt x="1513200" y="856627"/>
                </a:cubicBezTo>
                <a:cubicBezTo>
                  <a:pt x="1496379" y="825834"/>
                  <a:pt x="1507704" y="787236"/>
                  <a:pt x="1538499" y="770415"/>
                </a:cubicBezTo>
                <a:cubicBezTo>
                  <a:pt x="1545912" y="766367"/>
                  <a:pt x="1553792" y="763946"/>
                  <a:pt x="1561721" y="763041"/>
                </a:cubicBezTo>
                <a:close/>
                <a:moveTo>
                  <a:pt x="933455" y="161309"/>
                </a:moveTo>
                <a:cubicBezTo>
                  <a:pt x="941693" y="161855"/>
                  <a:pt x="949959" y="164025"/>
                  <a:pt x="957797" y="167970"/>
                </a:cubicBezTo>
                <a:cubicBezTo>
                  <a:pt x="1076184" y="227289"/>
                  <a:pt x="1186759" y="301068"/>
                  <a:pt x="1286982" y="387616"/>
                </a:cubicBezTo>
                <a:cubicBezTo>
                  <a:pt x="1313547" y="410457"/>
                  <a:pt x="1316566" y="450510"/>
                  <a:pt x="1293725" y="477075"/>
                </a:cubicBezTo>
                <a:cubicBezTo>
                  <a:pt x="1281638" y="491137"/>
                  <a:pt x="1263998" y="499204"/>
                  <a:pt x="1245453" y="499154"/>
                </a:cubicBezTo>
                <a:lnTo>
                  <a:pt x="1245167" y="499154"/>
                </a:lnTo>
                <a:cubicBezTo>
                  <a:pt x="1229965" y="499301"/>
                  <a:pt x="1215220" y="493956"/>
                  <a:pt x="1203638" y="484104"/>
                </a:cubicBezTo>
                <a:cubicBezTo>
                  <a:pt x="1111407" y="404300"/>
                  <a:pt x="1009633" y="336248"/>
                  <a:pt x="900647" y="281508"/>
                </a:cubicBezTo>
                <a:cubicBezTo>
                  <a:pt x="869295" y="265726"/>
                  <a:pt x="856672" y="227516"/>
                  <a:pt x="872454" y="196164"/>
                </a:cubicBezTo>
                <a:cubicBezTo>
                  <a:pt x="884290" y="172650"/>
                  <a:pt x="908742" y="159670"/>
                  <a:pt x="933455" y="161309"/>
                </a:cubicBezTo>
                <a:close/>
                <a:moveTo>
                  <a:pt x="256260" y="29"/>
                </a:moveTo>
                <a:cubicBezTo>
                  <a:pt x="322331" y="427"/>
                  <a:pt x="388378" y="4909"/>
                  <a:pt x="454020" y="13474"/>
                </a:cubicBezTo>
                <a:cubicBezTo>
                  <a:pt x="488793" y="17752"/>
                  <a:pt x="513514" y="49409"/>
                  <a:pt x="509236" y="84182"/>
                </a:cubicBezTo>
                <a:cubicBezTo>
                  <a:pt x="505303" y="116151"/>
                  <a:pt x="478038" y="140098"/>
                  <a:pt x="445829" y="139871"/>
                </a:cubicBezTo>
                <a:cubicBezTo>
                  <a:pt x="443027" y="139899"/>
                  <a:pt x="440227" y="139740"/>
                  <a:pt x="437447" y="139395"/>
                </a:cubicBezTo>
                <a:cubicBezTo>
                  <a:pt x="316592" y="123615"/>
                  <a:pt x="194247" y="122878"/>
                  <a:pt x="73211" y="137204"/>
                </a:cubicBezTo>
                <a:cubicBezTo>
                  <a:pt x="38532" y="142545"/>
                  <a:pt x="6090" y="118762"/>
                  <a:pt x="749" y="84082"/>
                </a:cubicBezTo>
                <a:cubicBezTo>
                  <a:pt x="-4591" y="49403"/>
                  <a:pt x="19192" y="16961"/>
                  <a:pt x="53871" y="11621"/>
                </a:cubicBezTo>
                <a:cubicBezTo>
                  <a:pt x="55358" y="11392"/>
                  <a:pt x="56852" y="11216"/>
                  <a:pt x="58352" y="11093"/>
                </a:cubicBezTo>
                <a:cubicBezTo>
                  <a:pt x="124093" y="3319"/>
                  <a:pt x="190189" y="-369"/>
                  <a:pt x="256260" y="29"/>
                </a:cubicBezTo>
                <a:close/>
              </a:path>
            </a:pathLst>
          </a:custGeom>
          <a:solidFill>
            <a:schemeClr val="accent4"/>
          </a:solidFill>
          <a:ln w="9525" cap="flat">
            <a:noFill/>
            <a:prstDash val="solid"/>
            <a:miter/>
          </a:ln>
        </p:spPr>
        <p:txBody>
          <a:bodyPr rtlCol="0" anchor="ctr"/>
          <a:lstStyle/>
          <a:p>
            <a:endParaRPr lang="en-US"/>
          </a:p>
        </p:txBody>
      </p:sp>
      <p:pic>
        <p:nvPicPr>
          <p:cNvPr id="1028" name="Picture 4">
            <a:extLst>
              <a:ext uri="{FF2B5EF4-FFF2-40B4-BE49-F238E27FC236}">
                <a16:creationId xmlns:a16="http://schemas.microsoft.com/office/drawing/2014/main" id="{31D3E6E6-B431-EA7E-9012-34C6D102E7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1" b="1"/>
          <a:stretch/>
        </p:blipFill>
        <p:spPr bwMode="auto">
          <a:xfrm>
            <a:off x="631840" y="598720"/>
            <a:ext cx="5178249" cy="5178249"/>
          </a:xfrm>
          <a:custGeom>
            <a:avLst/>
            <a:gdLst/>
            <a:ahLst/>
            <a:cxnLst/>
            <a:rect l="l" t="t" r="r" b="b"/>
            <a:pathLst>
              <a:path w="3741748" h="3741748">
                <a:moveTo>
                  <a:pt x="1870874" y="0"/>
                </a:moveTo>
                <a:cubicBezTo>
                  <a:pt x="2904129" y="0"/>
                  <a:pt x="3741748" y="837619"/>
                  <a:pt x="3741748" y="1870874"/>
                </a:cubicBezTo>
                <a:cubicBezTo>
                  <a:pt x="3741748" y="2904129"/>
                  <a:pt x="2904129" y="3741748"/>
                  <a:pt x="1870874" y="3741748"/>
                </a:cubicBezTo>
                <a:cubicBezTo>
                  <a:pt x="837619" y="3741748"/>
                  <a:pt x="0" y="2904129"/>
                  <a:pt x="0" y="1870874"/>
                </a:cubicBezTo>
                <a:cubicBezTo>
                  <a:pt x="0" y="837619"/>
                  <a:pt x="837619" y="0"/>
                  <a:pt x="1870874" y="0"/>
                </a:cubicBezTo>
                <a:close/>
              </a:path>
            </a:pathLst>
          </a:custGeom>
          <a:noFill/>
          <a:extLst>
            <a:ext uri="{909E8E84-426E-40DD-AFC4-6F175D3DCCD1}">
              <a14:hiddenFill xmlns:a14="http://schemas.microsoft.com/office/drawing/2010/main">
                <a:solidFill>
                  <a:srgbClr val="FFFFFF"/>
                </a:solidFill>
              </a14:hiddenFill>
            </a:ext>
          </a:extLst>
        </p:spPr>
      </p:pic>
      <p:sp>
        <p:nvSpPr>
          <p:cNvPr id="1045" name="Freeform: Shape 1044">
            <a:extLst>
              <a:ext uri="{FF2B5EF4-FFF2-40B4-BE49-F238E27FC236}">
                <a16:creationId xmlns:a16="http://schemas.microsoft.com/office/drawing/2014/main" id="{5F2F0C84-BE8C-4DC2-A6D3-30349A801D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520513" y="6258756"/>
            <a:ext cx="1565940" cy="599245"/>
          </a:xfrm>
          <a:custGeom>
            <a:avLst/>
            <a:gdLst>
              <a:gd name="connsiteX0" fmla="*/ 782970 w 1565940"/>
              <a:gd name="connsiteY0" fmla="*/ 0 h 599245"/>
              <a:gd name="connsiteX1" fmla="*/ 1528042 w 1565940"/>
              <a:gd name="connsiteY1" fmla="*/ 480469 h 599245"/>
              <a:gd name="connsiteX2" fmla="*/ 1565940 w 1565940"/>
              <a:gd name="connsiteY2" fmla="*/ 599245 h 599245"/>
              <a:gd name="connsiteX3" fmla="*/ 0 w 1565940"/>
              <a:gd name="connsiteY3" fmla="*/ 599245 h 599245"/>
              <a:gd name="connsiteX4" fmla="*/ 37898 w 1565940"/>
              <a:gd name="connsiteY4" fmla="*/ 480469 h 599245"/>
              <a:gd name="connsiteX5" fmla="*/ 782970 w 1565940"/>
              <a:gd name="connsiteY5" fmla="*/ 0 h 5992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65940" h="599245">
                <a:moveTo>
                  <a:pt x="782970" y="0"/>
                </a:moveTo>
                <a:cubicBezTo>
                  <a:pt x="1117910" y="0"/>
                  <a:pt x="1405287" y="198118"/>
                  <a:pt x="1528042" y="480469"/>
                </a:cubicBezTo>
                <a:lnTo>
                  <a:pt x="1565940" y="599245"/>
                </a:lnTo>
                <a:lnTo>
                  <a:pt x="0" y="599245"/>
                </a:lnTo>
                <a:lnTo>
                  <a:pt x="37898" y="480469"/>
                </a:lnTo>
                <a:cubicBezTo>
                  <a:pt x="160653" y="198118"/>
                  <a:pt x="448030" y="0"/>
                  <a:pt x="782970" y="0"/>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Tree>
    <p:extLst>
      <p:ext uri="{BB962C8B-B14F-4D97-AF65-F5344CB8AC3E}">
        <p14:creationId xmlns:p14="http://schemas.microsoft.com/office/powerpoint/2010/main" val="2624865923"/>
      </p:ext>
    </p:extLst>
  </p:cSld>
  <p:clrMapOvr>
    <a:masterClrMapping/>
  </p:clrMapOvr>
  <mc:AlternateContent xmlns:mc="http://schemas.openxmlformats.org/markup-compatibility/2006" xmlns:p14="http://schemas.microsoft.com/office/powerpoint/2010/main">
    <mc:Choice Requires="p14">
      <p:transition p14:dur="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Matei Zaharia - Databricks | LinkedIn">
            <a:extLst>
              <a:ext uri="{FF2B5EF4-FFF2-40B4-BE49-F238E27FC236}">
                <a16:creationId xmlns:a16="http://schemas.microsoft.com/office/drawing/2014/main" id="{BEE40750-C27A-0B4B-F483-A0F1430C15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51661" y="303455"/>
            <a:ext cx="1905000" cy="1905000"/>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Ali Ghodsi - Wikipedia">
            <a:extLst>
              <a:ext uri="{FF2B5EF4-FFF2-40B4-BE49-F238E27FC236}">
                <a16:creationId xmlns:a16="http://schemas.microsoft.com/office/drawing/2014/main" id="{7B82DE0A-CB41-9C90-0C47-077718E20FA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45830" y="208205"/>
            <a:ext cx="2095500" cy="20955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FC62E686-6751-0133-55C7-8CA8F4116EFC}"/>
              </a:ext>
            </a:extLst>
          </p:cNvPr>
          <p:cNvSpPr txBox="1"/>
          <p:nvPr/>
        </p:nvSpPr>
        <p:spPr>
          <a:xfrm>
            <a:off x="1452282" y="2528047"/>
            <a:ext cx="2635624" cy="246221"/>
          </a:xfrm>
          <a:prstGeom prst="rect">
            <a:avLst/>
          </a:prstGeom>
          <a:noFill/>
        </p:spPr>
        <p:txBody>
          <a:bodyPr wrap="square" lIns="0" tIns="0" rIns="0" bIns="0" rtlCol="0">
            <a:spAutoFit/>
          </a:bodyPr>
          <a:lstStyle/>
          <a:p>
            <a:pPr algn="ctr"/>
            <a:r>
              <a:rPr lang="en-US" sz="1600" dirty="0"/>
              <a:t>Matei </a:t>
            </a:r>
            <a:r>
              <a:rPr lang="en-US" sz="1600" dirty="0" err="1"/>
              <a:t>Zaharia</a:t>
            </a:r>
            <a:endParaRPr lang="en-IN" sz="1600" dirty="0"/>
          </a:p>
        </p:txBody>
      </p:sp>
      <p:sp>
        <p:nvSpPr>
          <p:cNvPr id="5" name="TextBox 4">
            <a:extLst>
              <a:ext uri="{FF2B5EF4-FFF2-40B4-BE49-F238E27FC236}">
                <a16:creationId xmlns:a16="http://schemas.microsoft.com/office/drawing/2014/main" id="{15EBEDCF-DF76-F677-8775-F30575B4CED8}"/>
              </a:ext>
            </a:extLst>
          </p:cNvPr>
          <p:cNvSpPr txBox="1"/>
          <p:nvPr/>
        </p:nvSpPr>
        <p:spPr>
          <a:xfrm>
            <a:off x="4675768" y="2545745"/>
            <a:ext cx="2635624" cy="246221"/>
          </a:xfrm>
          <a:prstGeom prst="rect">
            <a:avLst/>
          </a:prstGeom>
          <a:noFill/>
        </p:spPr>
        <p:txBody>
          <a:bodyPr wrap="square" lIns="0" tIns="0" rIns="0" bIns="0" rtlCol="0">
            <a:spAutoFit/>
          </a:bodyPr>
          <a:lstStyle/>
          <a:p>
            <a:pPr algn="ctr"/>
            <a:r>
              <a:rPr lang="en-US" sz="1600" dirty="0"/>
              <a:t>Ali </a:t>
            </a:r>
            <a:r>
              <a:rPr lang="en-US" sz="1600" dirty="0" err="1"/>
              <a:t>Ghodsi</a:t>
            </a:r>
            <a:endParaRPr lang="en-IN" sz="1600" dirty="0"/>
          </a:p>
        </p:txBody>
      </p:sp>
      <p:pic>
        <p:nvPicPr>
          <p:cNvPr id="9222" name="Picture 6" descr="Ion Stoica - Wikipedia">
            <a:extLst>
              <a:ext uri="{FF2B5EF4-FFF2-40B4-BE49-F238E27FC236}">
                <a16:creationId xmlns:a16="http://schemas.microsoft.com/office/drawing/2014/main" id="{80C98E9E-5494-74F4-5496-3BAD594244D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941120" y="446896"/>
            <a:ext cx="2728397" cy="1821180"/>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431A7F8E-A52B-97AB-4B22-1E5F60E2D6DE}"/>
              </a:ext>
            </a:extLst>
          </p:cNvPr>
          <p:cNvSpPr txBox="1"/>
          <p:nvPr/>
        </p:nvSpPr>
        <p:spPr>
          <a:xfrm>
            <a:off x="8033893" y="2545512"/>
            <a:ext cx="2635624" cy="246221"/>
          </a:xfrm>
          <a:prstGeom prst="rect">
            <a:avLst/>
          </a:prstGeom>
          <a:noFill/>
        </p:spPr>
        <p:txBody>
          <a:bodyPr wrap="square" lIns="0" tIns="0" rIns="0" bIns="0" rtlCol="0">
            <a:spAutoFit/>
          </a:bodyPr>
          <a:lstStyle/>
          <a:p>
            <a:pPr algn="ctr"/>
            <a:r>
              <a:rPr lang="en-US" sz="1600" dirty="0"/>
              <a:t>Ion Stoica</a:t>
            </a:r>
            <a:endParaRPr lang="en-IN" sz="1600" dirty="0"/>
          </a:p>
        </p:txBody>
      </p:sp>
      <p:sp>
        <p:nvSpPr>
          <p:cNvPr id="10" name="TextBox 9">
            <a:extLst>
              <a:ext uri="{FF2B5EF4-FFF2-40B4-BE49-F238E27FC236}">
                <a16:creationId xmlns:a16="http://schemas.microsoft.com/office/drawing/2014/main" id="{D0CDC7EE-D91E-0102-0FE3-00257DD6BF6C}"/>
              </a:ext>
            </a:extLst>
          </p:cNvPr>
          <p:cNvSpPr txBox="1"/>
          <p:nvPr/>
        </p:nvSpPr>
        <p:spPr>
          <a:xfrm>
            <a:off x="1452282" y="5020191"/>
            <a:ext cx="9517826" cy="90717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The Databricks company was founded by the original creators of Apache Spark. As an open source software project, Apache Spark has committers from many top companies, including Databricks.</a:t>
            </a:r>
            <a:endParaRPr lang="en-IN" dirty="0"/>
          </a:p>
        </p:txBody>
      </p:sp>
      <p:sp>
        <p:nvSpPr>
          <p:cNvPr id="14" name="TextBox 13">
            <a:extLst>
              <a:ext uri="{FF2B5EF4-FFF2-40B4-BE49-F238E27FC236}">
                <a16:creationId xmlns:a16="http://schemas.microsoft.com/office/drawing/2014/main" id="{78B0134D-05D3-292D-5C7B-0A44B526BF49}"/>
              </a:ext>
            </a:extLst>
          </p:cNvPr>
          <p:cNvSpPr txBox="1"/>
          <p:nvPr/>
        </p:nvSpPr>
        <p:spPr>
          <a:xfrm>
            <a:off x="1452282" y="3636054"/>
            <a:ext cx="9517827" cy="923330"/>
          </a:xfrm>
          <a:prstGeom prst="rect">
            <a:avLst/>
          </a:prstGeom>
        </p:spPr>
        <p:style>
          <a:lnRef idx="2">
            <a:schemeClr val="dk1"/>
          </a:lnRef>
          <a:fillRef idx="1">
            <a:schemeClr val="lt1"/>
          </a:fillRef>
          <a:effectRef idx="0">
            <a:schemeClr val="dk1"/>
          </a:effectRef>
          <a:fontRef idx="minor">
            <a:schemeClr val="dk1"/>
          </a:fontRef>
        </p:style>
        <p:txBody>
          <a:bodyPr wrap="square">
            <a:spAutoFit/>
          </a:bodyPr>
          <a:lstStyle/>
          <a:p>
            <a:r>
              <a:rPr lang="en-US" dirty="0"/>
              <a:t>Apache Spark is at the heart of the Fabric platform and is the technology powering compute clusters and SQL warehouses. Fabric is an optimized platform for Apache Spark, providing an efficient and simple platform for running Apache Spark workloads.</a:t>
            </a:r>
            <a:endParaRPr lang="en-IN" dirty="0"/>
          </a:p>
        </p:txBody>
      </p:sp>
    </p:spTree>
    <p:extLst>
      <p:ext uri="{BB962C8B-B14F-4D97-AF65-F5344CB8AC3E}">
        <p14:creationId xmlns:p14="http://schemas.microsoft.com/office/powerpoint/2010/main" val="292282310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209862" y="171294"/>
            <a:ext cx="11018520" cy="307777"/>
          </a:xfrm>
        </p:spPr>
        <p:txBody>
          <a:bodyPr>
            <a:normAutofit fontScale="90000"/>
          </a:bodyPr>
          <a:lstStyle>
            <a:lvl1pPr>
              <a:lnSpc>
                <a:spcPct val="100000"/>
              </a:lnSpc>
              <a:defRPr sz="3600">
                <a:solidFill>
                  <a:srgbClr val="2A446F"/>
                </a:solidFill>
              </a:defRPr>
            </a:lvl1pPr>
          </a:lstStyle>
          <a:p>
            <a:pPr algn="l">
              <a:spcBef>
                <a:spcPts val="2400"/>
              </a:spcBef>
              <a:spcAft>
                <a:spcPts val="900"/>
              </a:spcAft>
            </a:pPr>
            <a:r>
              <a:rPr lang="en-US" sz="2000" b="1" i="0" dirty="0">
                <a:solidFill>
                  <a:srgbClr val="161616"/>
                </a:solidFill>
                <a:effectLst/>
                <a:latin typeface="Segoe UI" panose="020B0502040204020203" pitchFamily="34" charset="0"/>
              </a:rPr>
              <a:t>How Azure manages cluster resources ( Driver and Worker Nodes)</a:t>
            </a:r>
          </a:p>
        </p:txBody>
      </p:sp>
      <p:sp>
        <p:nvSpPr>
          <p:cNvPr id="3" name="Subtitle"/>
          <p:cNvSpPr>
            <a:spLocks noGrp="1"/>
          </p:cNvSpPr>
          <p:nvPr>
            <p:ph sz="quarter" idx="10" hasCustomPrompt="1"/>
          </p:nvPr>
        </p:nvSpPr>
        <p:spPr>
          <a:xfrm>
            <a:off x="209862" y="574822"/>
            <a:ext cx="11396921" cy="2456057"/>
          </a:xfrm>
        </p:spPr>
        <p:txBody>
          <a:bodyPr>
            <a:normAutofit fontScale="85000" lnSpcReduction="20000"/>
          </a:bodyPr>
          <a:lstStyle>
            <a:lvl1pPr>
              <a:defRPr sz="2800">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a:buFont typeface="Wingdings" panose="05000000000000000000" pitchFamily="2" charset="2"/>
              <a:buChar char="Ø"/>
            </a:pPr>
            <a:r>
              <a:rPr lang="en-US" sz="1400" b="1" dirty="0"/>
              <a:t>Cluster architecture consists of </a:t>
            </a:r>
            <a:r>
              <a:rPr lang="en-US" sz="1400" b="1" i="1" dirty="0"/>
              <a:t>driver</a:t>
            </a:r>
            <a:r>
              <a:rPr lang="en-US" sz="1400" b="1" dirty="0"/>
              <a:t> and </a:t>
            </a:r>
            <a:r>
              <a:rPr lang="en-US" sz="1400" b="1" i="1" dirty="0"/>
              <a:t>worker </a:t>
            </a:r>
            <a:r>
              <a:rPr lang="en-US" sz="1400" b="1" dirty="0"/>
              <a:t>nodes:</a:t>
            </a:r>
          </a:p>
          <a:p>
            <a:pPr>
              <a:buFont typeface="Wingdings" panose="05000000000000000000" pitchFamily="2" charset="2"/>
              <a:buChar char="Ø"/>
            </a:pPr>
            <a:r>
              <a:rPr lang="en-US" sz="1400" b="0" i="0" dirty="0">
                <a:solidFill>
                  <a:srgbClr val="161616"/>
                </a:solidFill>
                <a:effectLst/>
                <a:latin typeface="Segoe UI" panose="020B0502040204020203" pitchFamily="34" charset="0"/>
              </a:rPr>
              <a:t> The driver node sends work to the worker nodes and instructs them to pull data from a specified data source.</a:t>
            </a:r>
            <a:endParaRPr lang="en-US" sz="1400" b="1" i="0" dirty="0">
              <a:solidFill>
                <a:srgbClr val="161616"/>
              </a:solidFill>
              <a:effectLst/>
              <a:latin typeface="Segoe UI" panose="020B0502040204020203" pitchFamily="34" charset="0"/>
            </a:endParaRPr>
          </a:p>
          <a:p>
            <a:pPr>
              <a:buFont typeface="Wingdings" panose="05000000000000000000" pitchFamily="2" charset="2"/>
              <a:buChar char="Ø"/>
            </a:pPr>
            <a:r>
              <a:rPr lang="en-US" sz="1400" b="0" i="0" dirty="0">
                <a:solidFill>
                  <a:srgbClr val="161616"/>
                </a:solidFill>
                <a:effectLst/>
                <a:latin typeface="Segoe UI" panose="020B0502040204020203" pitchFamily="34" charset="0"/>
              </a:rPr>
              <a:t>This driver program contains the main loop for the program and creates distributed datasets on the cluster, then applies operations to those datasets. Driver programs access Apache Spark through a </a:t>
            </a:r>
            <a:r>
              <a:rPr lang="en-US" sz="1400" b="0" i="1" dirty="0" err="1">
                <a:solidFill>
                  <a:srgbClr val="161616"/>
                </a:solidFill>
                <a:effectLst/>
                <a:latin typeface="Segoe UI" panose="020B0502040204020203" pitchFamily="34" charset="0"/>
              </a:rPr>
              <a:t>SparkSession</a:t>
            </a:r>
            <a:r>
              <a:rPr lang="en-US" sz="1400" b="0" i="0" dirty="0">
                <a:solidFill>
                  <a:srgbClr val="161616"/>
                </a:solidFill>
                <a:effectLst/>
                <a:latin typeface="Segoe UI" panose="020B0502040204020203" pitchFamily="34" charset="0"/>
              </a:rPr>
              <a:t> object regardless of deployment location.</a:t>
            </a:r>
            <a:endParaRPr lang="en-US" sz="1400" b="1" i="0" dirty="0">
              <a:solidFill>
                <a:srgbClr val="161616"/>
              </a:solidFill>
              <a:effectLst/>
              <a:latin typeface="Segoe UI" panose="020B0502040204020203" pitchFamily="34" charset="0"/>
            </a:endParaRPr>
          </a:p>
          <a:p>
            <a:pPr>
              <a:buFont typeface="Wingdings" panose="05000000000000000000" pitchFamily="2" charset="2"/>
              <a:buChar char="Ø"/>
            </a:pPr>
            <a:r>
              <a:rPr lang="en-US" sz="1400" b="1" dirty="0">
                <a:solidFill>
                  <a:schemeClr val="tx2">
                    <a:lumMod val="50000"/>
                    <a:lumOff val="50000"/>
                  </a:schemeClr>
                </a:solidFill>
              </a:rPr>
              <a:t>Driver program </a:t>
            </a:r>
            <a:r>
              <a:rPr lang="en-US" sz="1400" dirty="0"/>
              <a:t>coordinates the overall distributed work using a </a:t>
            </a:r>
            <a:r>
              <a:rPr lang="en-US" sz="1400" i="1" dirty="0" err="1"/>
              <a:t>SparkSession</a:t>
            </a:r>
            <a:r>
              <a:rPr lang="en-US" sz="1400" dirty="0"/>
              <a:t> object</a:t>
            </a:r>
          </a:p>
          <a:p>
            <a:pPr lvl="1">
              <a:buFont typeface="Wingdings" panose="05000000000000000000" pitchFamily="2" charset="2"/>
              <a:buChar char="Ø"/>
            </a:pPr>
            <a:endParaRPr lang="en-US" dirty="0"/>
          </a:p>
          <a:p>
            <a:pPr lvl="1">
              <a:buFont typeface="Wingdings" panose="05000000000000000000" pitchFamily="2" charset="2"/>
              <a:buChar char="Ø"/>
            </a:pPr>
            <a:r>
              <a:rPr lang="en-US" b="0" i="0" dirty="0">
                <a:solidFill>
                  <a:srgbClr val="FF0000"/>
                </a:solidFill>
                <a:effectLst/>
                <a:latin typeface="Segoe UI" panose="020B0502040204020203" pitchFamily="34" charset="0"/>
              </a:rPr>
              <a:t>Work</a:t>
            </a:r>
            <a:r>
              <a:rPr lang="en-US" b="0" i="0" dirty="0">
                <a:solidFill>
                  <a:srgbClr val="161616"/>
                </a:solidFill>
                <a:effectLst/>
                <a:latin typeface="Segoe UI" panose="020B0502040204020203" pitchFamily="34" charset="0"/>
              </a:rPr>
              <a:t> submitted to the cluster is split into as many independent </a:t>
            </a:r>
            <a:r>
              <a:rPr lang="en-US" b="0" i="0" dirty="0">
                <a:solidFill>
                  <a:srgbClr val="FF0000"/>
                </a:solidFill>
                <a:effectLst/>
                <a:latin typeface="Segoe UI" panose="020B0502040204020203" pitchFamily="34" charset="0"/>
              </a:rPr>
              <a:t>jobs</a:t>
            </a:r>
            <a:r>
              <a:rPr lang="en-US" b="0" i="0" dirty="0">
                <a:solidFill>
                  <a:srgbClr val="161616"/>
                </a:solidFill>
                <a:effectLst/>
                <a:latin typeface="Segoe UI" panose="020B0502040204020203" pitchFamily="34" charset="0"/>
              </a:rPr>
              <a:t> as needed. This is how work is distributed across the Cluster's nodes. Jobs are further subdivided into </a:t>
            </a:r>
            <a:r>
              <a:rPr lang="en-US" b="1" i="0" dirty="0">
                <a:solidFill>
                  <a:srgbClr val="FF0000"/>
                </a:solidFill>
                <a:effectLst/>
                <a:latin typeface="Segoe UI" panose="020B0502040204020203" pitchFamily="34" charset="0"/>
              </a:rPr>
              <a:t>tasks</a:t>
            </a:r>
            <a:r>
              <a:rPr lang="en-US" b="0" i="0" dirty="0">
                <a:solidFill>
                  <a:srgbClr val="161616"/>
                </a:solidFill>
                <a:effectLst/>
                <a:latin typeface="Segoe UI" panose="020B0502040204020203" pitchFamily="34" charset="0"/>
              </a:rPr>
              <a:t>. </a:t>
            </a:r>
          </a:p>
          <a:p>
            <a:pPr lvl="1">
              <a:buFont typeface="Wingdings" panose="05000000000000000000" pitchFamily="2" charset="2"/>
              <a:buChar char="Ø"/>
            </a:pPr>
            <a:r>
              <a:rPr lang="en-US" b="0" i="0" dirty="0">
                <a:solidFill>
                  <a:srgbClr val="161616"/>
                </a:solidFill>
                <a:effectLst/>
                <a:latin typeface="Segoe UI" panose="020B0502040204020203" pitchFamily="34" charset="0"/>
              </a:rPr>
              <a:t>These partitions are the unit of work for each slot.</a:t>
            </a:r>
            <a:endParaRPr lang="en-US" dirty="0"/>
          </a:p>
          <a:p>
            <a:pPr lvl="1">
              <a:buFont typeface="Wingdings" panose="05000000000000000000" pitchFamily="2" charset="2"/>
              <a:buChar char="Ø"/>
            </a:pPr>
            <a:r>
              <a:rPr lang="en-US" b="1" dirty="0">
                <a:solidFill>
                  <a:schemeClr val="tx2">
                    <a:lumMod val="50000"/>
                    <a:lumOff val="50000"/>
                  </a:schemeClr>
                </a:solidFill>
              </a:rPr>
              <a:t>Workers process </a:t>
            </a:r>
            <a:r>
              <a:rPr lang="en-US" dirty="0"/>
              <a:t>subsets of the data in parallel</a:t>
            </a:r>
            <a:endParaRPr lang="en-US" sz="1600" dirty="0"/>
          </a:p>
        </p:txBody>
      </p:sp>
      <p:pic>
        <p:nvPicPr>
          <p:cNvPr id="5" name="Picture 4" descr="Image showing parallelized processing where there is a driver that sends work to worker nodes.  There is one driver in the image and four workers that all perform tasks.  ">
            <a:extLst>
              <a:ext uri="{FF2B5EF4-FFF2-40B4-BE49-F238E27FC236}">
                <a16:creationId xmlns:a16="http://schemas.microsoft.com/office/drawing/2014/main" id="{B09340C6-CCA0-4975-FDF9-E51CDB5D34DB}"/>
              </a:ext>
            </a:extLst>
          </p:cNvPr>
          <p:cNvPicPr>
            <a:picLocks noChangeAspect="1"/>
          </p:cNvPicPr>
          <p:nvPr/>
        </p:nvPicPr>
        <p:blipFill>
          <a:blip r:embed="rId3"/>
          <a:stretch>
            <a:fillRect/>
          </a:stretch>
        </p:blipFill>
        <p:spPr>
          <a:xfrm>
            <a:off x="1932971" y="3880342"/>
            <a:ext cx="9078426" cy="2647874"/>
          </a:xfrm>
          <a:prstGeom prst="rect">
            <a:avLst/>
          </a:prstGeom>
        </p:spPr>
      </p:pic>
      <p:sp>
        <p:nvSpPr>
          <p:cNvPr id="6" name="TextBox 5">
            <a:extLst>
              <a:ext uri="{FF2B5EF4-FFF2-40B4-BE49-F238E27FC236}">
                <a16:creationId xmlns:a16="http://schemas.microsoft.com/office/drawing/2014/main" id="{BC620B05-1B7A-5006-0553-A4B7E481D055}"/>
              </a:ext>
            </a:extLst>
          </p:cNvPr>
          <p:cNvSpPr txBox="1"/>
          <p:nvPr/>
        </p:nvSpPr>
        <p:spPr>
          <a:xfrm>
            <a:off x="7303958" y="3533017"/>
            <a:ext cx="3818744" cy="738664"/>
          </a:xfrm>
          <a:prstGeom prst="rect">
            <a:avLst/>
          </a:prstGeom>
          <a:noFill/>
        </p:spPr>
        <p:txBody>
          <a:bodyPr wrap="square">
            <a:spAutoFit/>
          </a:bodyPr>
          <a:lstStyle/>
          <a:p>
            <a:r>
              <a:rPr lang="en-US" sz="1400" dirty="0"/>
              <a:t>Driver program contains the main loop for the program and creates distributed datasets on the cluster</a:t>
            </a:r>
          </a:p>
        </p:txBody>
      </p:sp>
      <p:sp>
        <p:nvSpPr>
          <p:cNvPr id="8" name="TextBox 7">
            <a:extLst>
              <a:ext uri="{FF2B5EF4-FFF2-40B4-BE49-F238E27FC236}">
                <a16:creationId xmlns:a16="http://schemas.microsoft.com/office/drawing/2014/main" id="{CF30857E-BBA9-014A-7C47-01D677E81CF9}"/>
              </a:ext>
            </a:extLst>
          </p:cNvPr>
          <p:cNvSpPr txBox="1"/>
          <p:nvPr/>
        </p:nvSpPr>
        <p:spPr>
          <a:xfrm>
            <a:off x="209862" y="5349432"/>
            <a:ext cx="1407923" cy="1178784"/>
          </a:xfrm>
          <a:prstGeom prst="rect">
            <a:avLst/>
          </a:prstGeom>
          <a:noFill/>
          <a:ln>
            <a:solidFill>
              <a:schemeClr val="bg2">
                <a:lumMod val="50000"/>
              </a:schemeClr>
            </a:solidFill>
          </a:ln>
        </p:spPr>
        <p:txBody>
          <a:bodyPr wrap="square">
            <a:spAutoFit/>
          </a:bodyPr>
          <a:lstStyle/>
          <a:p>
            <a:r>
              <a:rPr lang="en-US" dirty="0"/>
              <a:t>Microsoft Azure manages the cluster</a:t>
            </a:r>
            <a:endParaRPr lang="en-IN" dirty="0"/>
          </a:p>
        </p:txBody>
      </p:sp>
      <p:sp>
        <p:nvSpPr>
          <p:cNvPr id="7" name="TextBox 6">
            <a:extLst>
              <a:ext uri="{FF2B5EF4-FFF2-40B4-BE49-F238E27FC236}">
                <a16:creationId xmlns:a16="http://schemas.microsoft.com/office/drawing/2014/main" id="{8277DFA4-6919-073F-71EC-FA3A567C4ADB}"/>
              </a:ext>
            </a:extLst>
          </p:cNvPr>
          <p:cNvSpPr txBox="1"/>
          <p:nvPr/>
        </p:nvSpPr>
        <p:spPr>
          <a:xfrm>
            <a:off x="10400902" y="4346606"/>
            <a:ext cx="1503574" cy="1015663"/>
          </a:xfrm>
          <a:prstGeom prst="rect">
            <a:avLst/>
          </a:prstGeom>
          <a:noFill/>
          <a:ln>
            <a:solidFill>
              <a:schemeClr val="accent1"/>
            </a:solidFill>
          </a:ln>
        </p:spPr>
        <p:txBody>
          <a:bodyPr wrap="square">
            <a:spAutoFit/>
          </a:bodyPr>
          <a:lstStyle/>
          <a:p>
            <a:r>
              <a:rPr lang="en-IN" sz="1200" dirty="0"/>
              <a:t> May be one instance per node. Depends on No. of Nodes…</a:t>
            </a:r>
            <a:r>
              <a:rPr lang="en-IN" sz="1200" b="0" i="0" dirty="0">
                <a:solidFill>
                  <a:srgbClr val="161616"/>
                </a:solidFill>
                <a:effectLst/>
                <a:latin typeface="Segoe UI" panose="020B0502040204020203" pitchFamily="34" charset="0"/>
              </a:rPr>
              <a:t>parallelization is the </a:t>
            </a:r>
            <a:r>
              <a:rPr lang="en-IN" sz="1200" b="0" i="1" dirty="0">
                <a:solidFill>
                  <a:srgbClr val="FF0000"/>
                </a:solidFill>
                <a:effectLst/>
                <a:latin typeface="Segoe UI" panose="020B0502040204020203" pitchFamily="34" charset="0"/>
              </a:rPr>
              <a:t>slot</a:t>
            </a:r>
            <a:r>
              <a:rPr lang="en-IN" sz="1200" b="0" i="0" dirty="0">
                <a:solidFill>
                  <a:srgbClr val="161616"/>
                </a:solidFill>
                <a:effectLst/>
                <a:latin typeface="Segoe UI" panose="020B0502040204020203" pitchFamily="34" charset="0"/>
              </a:rPr>
              <a:t> </a:t>
            </a:r>
            <a:endParaRPr lang="en-IN" sz="1200" dirty="0"/>
          </a:p>
        </p:txBody>
      </p:sp>
      <p:cxnSp>
        <p:nvCxnSpPr>
          <p:cNvPr id="12" name="Straight Arrow Connector 11">
            <a:extLst>
              <a:ext uri="{FF2B5EF4-FFF2-40B4-BE49-F238E27FC236}">
                <a16:creationId xmlns:a16="http://schemas.microsoft.com/office/drawing/2014/main" id="{60F57E62-CF5B-8435-2172-019C60FC67B0}"/>
              </a:ext>
            </a:extLst>
          </p:cNvPr>
          <p:cNvCxnSpPr>
            <a:cxnSpLocks/>
          </p:cNvCxnSpPr>
          <p:nvPr/>
        </p:nvCxnSpPr>
        <p:spPr>
          <a:xfrm flipH="1">
            <a:off x="5655212" y="4800192"/>
            <a:ext cx="4603817" cy="1277051"/>
          </a:xfrm>
          <a:prstGeom prst="straightConnector1">
            <a:avLst/>
          </a:prstGeom>
          <a:ln w="38100">
            <a:solidFill>
              <a:schemeClr val="bg2">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D1C2850E-D5FB-4D1E-6302-4A23BE8DDBD2}"/>
              </a:ext>
            </a:extLst>
          </p:cNvPr>
          <p:cNvCxnSpPr>
            <a:cxnSpLocks/>
          </p:cNvCxnSpPr>
          <p:nvPr/>
        </p:nvCxnSpPr>
        <p:spPr>
          <a:xfrm>
            <a:off x="3460652" y="2729132"/>
            <a:ext cx="1209822" cy="3235570"/>
          </a:xfrm>
          <a:prstGeom prst="straightConnector1">
            <a:avLst/>
          </a:prstGeom>
          <a:ln w="38100">
            <a:solidFill>
              <a:schemeClr val="bg2">
                <a:lumMod val="50000"/>
              </a:schemeClr>
            </a:solidFill>
            <a:headEnd type="none" w="lg" len="med"/>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C12E822-FB13-56E3-F8B0-9939D8E21A7C}"/>
              </a:ext>
            </a:extLst>
          </p:cNvPr>
          <p:cNvPicPr>
            <a:picLocks noGrp="1" noChangeAspect="1"/>
          </p:cNvPicPr>
          <p:nvPr>
            <p:ph sz="quarter" idx="10"/>
          </p:nvPr>
        </p:nvPicPr>
        <p:blipFill>
          <a:blip r:embed="rId2"/>
          <a:stretch>
            <a:fillRect/>
          </a:stretch>
        </p:blipFill>
        <p:spPr>
          <a:xfrm>
            <a:off x="89367" y="308136"/>
            <a:ext cx="12013265" cy="6241728"/>
          </a:xfrm>
        </p:spPr>
      </p:pic>
    </p:spTree>
    <p:extLst>
      <p:ext uri="{BB962C8B-B14F-4D97-AF65-F5344CB8AC3E}">
        <p14:creationId xmlns:p14="http://schemas.microsoft.com/office/powerpoint/2010/main" val="1875005202"/>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0B70F-5726-3EE7-586F-5EA3BED48A5C}"/>
              </a:ext>
            </a:extLst>
          </p:cNvPr>
          <p:cNvSpPr>
            <a:spLocks noGrp="1"/>
          </p:cNvSpPr>
          <p:nvPr>
            <p:ph type="title"/>
          </p:nvPr>
        </p:nvSpPr>
        <p:spPr>
          <a:xfrm>
            <a:off x="584518" y="0"/>
            <a:ext cx="11018520" cy="553998"/>
          </a:xfrm>
        </p:spPr>
        <p:txBody>
          <a:bodyPr>
            <a:normAutofit fontScale="90000"/>
          </a:bodyPr>
          <a:lstStyle/>
          <a:p>
            <a:pPr algn="ctr"/>
            <a:r>
              <a:rPr lang="en-US" dirty="0"/>
              <a:t>Starter Pools</a:t>
            </a:r>
            <a:endParaRPr lang="en-IN" dirty="0"/>
          </a:p>
        </p:txBody>
      </p:sp>
      <p:pic>
        <p:nvPicPr>
          <p:cNvPr id="2050" name="Picture 2" descr="Image of a Spark compute platform with starter pools and custom Spark pools.">
            <a:extLst>
              <a:ext uri="{FF2B5EF4-FFF2-40B4-BE49-F238E27FC236}">
                <a16:creationId xmlns:a16="http://schemas.microsoft.com/office/drawing/2014/main" id="{5DE2350C-77F9-3E2E-0E8E-E93809C5F997}"/>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454347" y="553998"/>
            <a:ext cx="11278862" cy="3624943"/>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41209AC-8914-908D-61DB-F4B8C494608C}"/>
              </a:ext>
            </a:extLst>
          </p:cNvPr>
          <p:cNvSpPr txBox="1"/>
          <p:nvPr/>
        </p:nvSpPr>
        <p:spPr>
          <a:xfrm>
            <a:off x="226493" y="4565418"/>
            <a:ext cx="6096000" cy="2031325"/>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Microsoft Fabric Data Engineering and Data Science experiences operate on a fully managed Apache Spark compute platform. This platform is designed to deliver unparalleled speed and efficiency. With starter pools, you can expect rapid Apache Spark session initialization, typically within 5 to 10 seconds, with no need for manual setup.</a:t>
            </a:r>
            <a:endParaRPr lang="en-IN" dirty="0"/>
          </a:p>
        </p:txBody>
      </p:sp>
      <p:sp>
        <p:nvSpPr>
          <p:cNvPr id="11" name="TextBox 10">
            <a:extLst>
              <a:ext uri="{FF2B5EF4-FFF2-40B4-BE49-F238E27FC236}">
                <a16:creationId xmlns:a16="http://schemas.microsoft.com/office/drawing/2014/main" id="{C5573CB4-A110-B8B5-84C9-04B27DCD9205}"/>
              </a:ext>
            </a:extLst>
          </p:cNvPr>
          <p:cNvSpPr txBox="1"/>
          <p:nvPr/>
        </p:nvSpPr>
        <p:spPr>
          <a:xfrm>
            <a:off x="6440129" y="4732939"/>
            <a:ext cx="5643014" cy="1754326"/>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Starter pools are a fast and easy way to use Spark on the Microsoft Fabric platform within seconds. You can use Spark sessions right away, instead of waiting for Spark to set up the nodes for you, which helps you do more with data and get insights quicker.</a:t>
            </a:r>
          </a:p>
          <a:p>
            <a:endParaRPr lang="en-US" dirty="0"/>
          </a:p>
        </p:txBody>
      </p:sp>
    </p:spTree>
    <p:extLst>
      <p:ext uri="{BB962C8B-B14F-4D97-AF65-F5344CB8AC3E}">
        <p14:creationId xmlns:p14="http://schemas.microsoft.com/office/powerpoint/2010/main" val="1699483163"/>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mage of a table showing starter pool configuration.">
            <a:extLst>
              <a:ext uri="{FF2B5EF4-FFF2-40B4-BE49-F238E27FC236}">
                <a16:creationId xmlns:a16="http://schemas.microsoft.com/office/drawing/2014/main" id="{8CE3FE91-FB47-F09F-6DA0-B4FEDD0AC857}"/>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167409" y="250371"/>
            <a:ext cx="5460186" cy="35052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Diagram showing the high-level design of starter pools.">
            <a:extLst>
              <a:ext uri="{FF2B5EF4-FFF2-40B4-BE49-F238E27FC236}">
                <a16:creationId xmlns:a16="http://schemas.microsoft.com/office/drawing/2014/main" id="{785ED492-5C7C-C444-8A21-098BA16578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0" y="330927"/>
            <a:ext cx="5170261" cy="425195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BFA9F621-FF2F-217D-599D-2443236BFA4E}"/>
              </a:ext>
            </a:extLst>
          </p:cNvPr>
          <p:cNvSpPr txBox="1"/>
          <p:nvPr/>
        </p:nvSpPr>
        <p:spPr>
          <a:xfrm>
            <a:off x="522514" y="4981192"/>
            <a:ext cx="6096000" cy="923330"/>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dirty="0"/>
              <a:t>Starter pools have Apache Spark clusters that are always on and ready for your requests. They use medium nodes that dynamically scale up based on your Spark job needs.</a:t>
            </a:r>
            <a:endParaRPr lang="en-IN" dirty="0"/>
          </a:p>
        </p:txBody>
      </p:sp>
    </p:spTree>
    <p:extLst>
      <p:ext uri="{BB962C8B-B14F-4D97-AF65-F5344CB8AC3E}">
        <p14:creationId xmlns:p14="http://schemas.microsoft.com/office/powerpoint/2010/main" val="1474094325"/>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Diagram showing the high-level stages in billing of starter pools.">
            <a:extLst>
              <a:ext uri="{FF2B5EF4-FFF2-40B4-BE49-F238E27FC236}">
                <a16:creationId xmlns:a16="http://schemas.microsoft.com/office/drawing/2014/main" id="{222AFDF4-675D-7322-48B4-CCD77A7A52BF}"/>
              </a:ext>
            </a:extLst>
          </p:cNvPr>
          <p:cNvPicPr>
            <a:picLocks noGrp="1" noChangeAspect="1" noChangeArrowheads="1"/>
          </p:cNvPicPr>
          <p:nvPr>
            <p:ph sz="quarter" idx="10"/>
          </p:nvPr>
        </p:nvPicPr>
        <p:blipFill>
          <a:blip r:embed="rId2">
            <a:extLst>
              <a:ext uri="{28A0092B-C50C-407E-A947-70E740481C1C}">
                <a14:useLocalDpi xmlns:a14="http://schemas.microsoft.com/office/drawing/2010/main" val="0"/>
              </a:ext>
            </a:extLst>
          </a:blip>
          <a:srcRect/>
          <a:stretch>
            <a:fillRect/>
          </a:stretch>
        </p:blipFill>
        <p:spPr bwMode="auto">
          <a:xfrm>
            <a:off x="752741" y="838200"/>
            <a:ext cx="10686518" cy="2471057"/>
          </a:xfrm>
          <a:prstGeom prst="rect">
            <a:avLst/>
          </a:prstGeom>
          <a:noFill/>
          <a:ln>
            <a:solidFill>
              <a:srgbClr val="7030A0"/>
            </a:solidFill>
          </a:ln>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974588C1-BCD7-E047-8615-0559C6F4CA81}"/>
              </a:ext>
            </a:extLst>
          </p:cNvPr>
          <p:cNvSpPr txBox="1"/>
          <p:nvPr/>
        </p:nvSpPr>
        <p:spPr>
          <a:xfrm>
            <a:off x="2841171" y="3797665"/>
            <a:ext cx="6335486" cy="1200329"/>
          </a:xfrm>
          <a:prstGeom prst="rect">
            <a:avLst/>
          </a:prstGeom>
        </p:spPr>
        <p:style>
          <a:lnRef idx="2">
            <a:schemeClr val="accent5"/>
          </a:lnRef>
          <a:fillRef idx="1">
            <a:schemeClr val="lt1"/>
          </a:fillRef>
          <a:effectRef idx="0">
            <a:schemeClr val="accent5"/>
          </a:effectRef>
          <a:fontRef idx="minor">
            <a:schemeClr val="dk1"/>
          </a:fontRef>
        </p:style>
        <p:txBody>
          <a:bodyPr wrap="square">
            <a:spAutoFit/>
          </a:bodyPr>
          <a:lstStyle/>
          <a:p>
            <a:r>
              <a:rPr lang="en-US" dirty="0"/>
              <a:t>When it comes to billing and capacity consumption, you're charged for the capacity consumption when you start executing your notebook or Apache Spark job definition. You aren't charged for the time the clusters are idle in the pool.</a:t>
            </a:r>
            <a:endParaRPr lang="en-IN" dirty="0"/>
          </a:p>
        </p:txBody>
      </p:sp>
    </p:spTree>
    <p:extLst>
      <p:ext uri="{BB962C8B-B14F-4D97-AF65-F5344CB8AC3E}">
        <p14:creationId xmlns:p14="http://schemas.microsoft.com/office/powerpoint/2010/main" val="1507786432"/>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A1571-307F-B87C-8D11-321938086273}"/>
              </a:ext>
            </a:extLst>
          </p:cNvPr>
          <p:cNvSpPr>
            <a:spLocks noGrp="1"/>
          </p:cNvSpPr>
          <p:nvPr>
            <p:ph type="title"/>
          </p:nvPr>
        </p:nvSpPr>
        <p:spPr/>
        <p:txBody>
          <a:bodyPr>
            <a:normAutofit fontScale="90000"/>
          </a:bodyPr>
          <a:lstStyle/>
          <a:p>
            <a:endParaRPr lang="en-IN"/>
          </a:p>
        </p:txBody>
      </p:sp>
      <p:sp>
        <p:nvSpPr>
          <p:cNvPr id="3" name="Content Placeholder 2">
            <a:extLst>
              <a:ext uri="{FF2B5EF4-FFF2-40B4-BE49-F238E27FC236}">
                <a16:creationId xmlns:a16="http://schemas.microsoft.com/office/drawing/2014/main" id="{8CCCB165-A012-1371-B007-AFEC18028DAF}"/>
              </a:ext>
            </a:extLst>
          </p:cNvPr>
          <p:cNvSpPr>
            <a:spLocks noGrp="1"/>
          </p:cNvSpPr>
          <p:nvPr>
            <p:ph sz="quarter" idx="10"/>
          </p:nvPr>
        </p:nvSpPr>
        <p:spPr/>
        <p:txBody>
          <a:bodyPr/>
          <a:lstStyle/>
          <a:p>
            <a:endParaRPr lang="en-IN"/>
          </a:p>
        </p:txBody>
      </p:sp>
      <p:pic>
        <p:nvPicPr>
          <p:cNvPr id="5" name="Picture 4">
            <a:extLst>
              <a:ext uri="{FF2B5EF4-FFF2-40B4-BE49-F238E27FC236}">
                <a16:creationId xmlns:a16="http://schemas.microsoft.com/office/drawing/2014/main" id="{6BFDC106-D917-0AD2-9C15-A2C1CA153623}"/>
              </a:ext>
            </a:extLst>
          </p:cNvPr>
          <p:cNvPicPr>
            <a:picLocks noChangeAspect="1"/>
          </p:cNvPicPr>
          <p:nvPr/>
        </p:nvPicPr>
        <p:blipFill>
          <a:blip r:embed="rId2"/>
          <a:stretch>
            <a:fillRect/>
          </a:stretch>
        </p:blipFill>
        <p:spPr>
          <a:xfrm>
            <a:off x="0" y="0"/>
            <a:ext cx="12192000" cy="6858000"/>
          </a:xfrm>
          <a:prstGeom prst="rect">
            <a:avLst/>
          </a:prstGeom>
        </p:spPr>
      </p:pic>
      <p:pic>
        <p:nvPicPr>
          <p:cNvPr id="7" name="Picture 6">
            <a:extLst>
              <a:ext uri="{FF2B5EF4-FFF2-40B4-BE49-F238E27FC236}">
                <a16:creationId xmlns:a16="http://schemas.microsoft.com/office/drawing/2014/main" id="{3DE1EA26-D2B1-8FE4-96AC-C423732E64D2}"/>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971375321"/>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847C31F-7192-08AF-FD17-19BC14DDDD92}"/>
              </a:ext>
            </a:extLst>
          </p:cNvPr>
          <p:cNvPicPr>
            <a:picLocks noGrp="1" noChangeAspect="1"/>
          </p:cNvPicPr>
          <p:nvPr>
            <p:ph sz="quarter" idx="10"/>
          </p:nvPr>
        </p:nvPicPr>
        <p:blipFill>
          <a:blip r:embed="rId2"/>
          <a:stretch>
            <a:fillRect/>
          </a:stretch>
        </p:blipFill>
        <p:spPr>
          <a:xfrm>
            <a:off x="166323" y="93555"/>
            <a:ext cx="11859354" cy="6670889"/>
          </a:xfrm>
        </p:spPr>
      </p:pic>
    </p:spTree>
    <p:extLst>
      <p:ext uri="{BB962C8B-B14F-4D97-AF65-F5344CB8AC3E}">
        <p14:creationId xmlns:p14="http://schemas.microsoft.com/office/powerpoint/2010/main" val="3638130551"/>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B6EB2AA-39B7-E847-56D6-EC0669246235}"/>
              </a:ext>
            </a:extLst>
          </p:cNvPr>
          <p:cNvPicPr>
            <a:picLocks noGrp="1" noChangeAspect="1"/>
          </p:cNvPicPr>
          <p:nvPr>
            <p:ph sz="quarter" idx="10"/>
          </p:nvPr>
        </p:nvPicPr>
        <p:blipFill>
          <a:blip r:embed="rId2"/>
          <a:stretch>
            <a:fillRect/>
          </a:stretch>
        </p:blipFill>
        <p:spPr>
          <a:xfrm>
            <a:off x="283217" y="1274536"/>
            <a:ext cx="11625565" cy="3117603"/>
          </a:xfrm>
        </p:spPr>
      </p:pic>
      <p:sp>
        <p:nvSpPr>
          <p:cNvPr id="6" name="TextBox 5">
            <a:extLst>
              <a:ext uri="{FF2B5EF4-FFF2-40B4-BE49-F238E27FC236}">
                <a16:creationId xmlns:a16="http://schemas.microsoft.com/office/drawing/2014/main" id="{F27701D0-EA73-5854-C790-B59F752F2CA4}"/>
              </a:ext>
            </a:extLst>
          </p:cNvPr>
          <p:cNvSpPr txBox="1"/>
          <p:nvPr/>
        </p:nvSpPr>
        <p:spPr>
          <a:xfrm>
            <a:off x="3178628" y="250371"/>
            <a:ext cx="6008915" cy="461665"/>
          </a:xfrm>
          <a:prstGeom prst="rect">
            <a:avLst/>
          </a:prstGeom>
          <a:noFill/>
        </p:spPr>
        <p:txBody>
          <a:bodyPr wrap="square" rtlCol="0">
            <a:spAutoFit/>
          </a:bodyPr>
          <a:lstStyle/>
          <a:p>
            <a:r>
              <a:rPr lang="en-US" sz="2400" dirty="0"/>
              <a:t>Starter Spark Pools v/s Custom Spark Pools</a:t>
            </a:r>
            <a:endParaRPr lang="en-IN" sz="2400" dirty="0"/>
          </a:p>
        </p:txBody>
      </p:sp>
    </p:spTree>
    <p:extLst>
      <p:ext uri="{BB962C8B-B14F-4D97-AF65-F5344CB8AC3E}">
        <p14:creationId xmlns:p14="http://schemas.microsoft.com/office/powerpoint/2010/main" val="157697173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3DDFA09-DDD9-D3E2-2D4F-B9498F00A008}"/>
              </a:ext>
            </a:extLst>
          </p:cNvPr>
          <p:cNvPicPr>
            <a:picLocks noGrp="1" noChangeAspect="1"/>
          </p:cNvPicPr>
          <p:nvPr>
            <p:ph sz="quarter" idx="10"/>
          </p:nvPr>
        </p:nvPicPr>
        <p:blipFill>
          <a:blip r:embed="rId2"/>
          <a:stretch>
            <a:fillRect/>
          </a:stretch>
        </p:blipFill>
        <p:spPr>
          <a:xfrm>
            <a:off x="432714" y="194069"/>
            <a:ext cx="11326571" cy="3915831"/>
          </a:xfrm>
        </p:spPr>
      </p:pic>
      <p:sp>
        <p:nvSpPr>
          <p:cNvPr id="7" name="TextBox 6">
            <a:extLst>
              <a:ext uri="{FF2B5EF4-FFF2-40B4-BE49-F238E27FC236}">
                <a16:creationId xmlns:a16="http://schemas.microsoft.com/office/drawing/2014/main" id="{17AAFA3E-99F1-35EF-5F53-ECEBC4D65CE6}"/>
              </a:ext>
            </a:extLst>
          </p:cNvPr>
          <p:cNvSpPr txBox="1"/>
          <p:nvPr/>
        </p:nvSpPr>
        <p:spPr>
          <a:xfrm>
            <a:off x="2646181" y="4614385"/>
            <a:ext cx="7205389" cy="1200329"/>
          </a:xfrm>
          <a:prstGeom prst="rect">
            <a:avLst/>
          </a:prstGeom>
          <a:noFill/>
          <a:ln w="38100">
            <a:solidFill>
              <a:srgbClr val="7030A0"/>
            </a:solidFill>
          </a:ln>
        </p:spPr>
        <p:txBody>
          <a:bodyPr wrap="square">
            <a:spAutoFit/>
          </a:bodyPr>
          <a:lstStyle/>
          <a:p>
            <a:r>
              <a:rPr lang="en-US" b="0" i="0" dirty="0">
                <a:effectLst/>
                <a:latin typeface="Segoe UI" panose="020B0502040204020203" pitchFamily="34" charset="0"/>
              </a:rPr>
              <a:t>In Apache Spark, users get two Apache Spark </a:t>
            </a:r>
            <a:r>
              <a:rPr lang="en-US" b="0" i="0" dirty="0" err="1">
                <a:effectLst/>
                <a:latin typeface="Segoe UI" panose="020B0502040204020203" pitchFamily="34" charset="0"/>
              </a:rPr>
              <a:t>VCores</a:t>
            </a:r>
            <a:r>
              <a:rPr lang="en-US" b="0" i="0" dirty="0">
                <a:effectLst/>
                <a:latin typeface="Segoe UI" panose="020B0502040204020203" pitchFamily="34" charset="0"/>
              </a:rPr>
              <a:t> for every capacity unit they reserve as part of their SKU. One Capacity Unit = Two Spark </a:t>
            </a:r>
            <a:r>
              <a:rPr lang="en-US" b="0" i="0" dirty="0" err="1">
                <a:effectLst/>
                <a:latin typeface="Segoe UI" panose="020B0502040204020203" pitchFamily="34" charset="0"/>
              </a:rPr>
              <a:t>VCores</a:t>
            </a:r>
            <a:r>
              <a:rPr lang="en-US" b="0" i="0" dirty="0">
                <a:effectLst/>
                <a:latin typeface="Segoe UI" panose="020B0502040204020203" pitchFamily="34" charset="0"/>
              </a:rPr>
              <a:t> So F64 =&gt; 128 Spark </a:t>
            </a:r>
            <a:r>
              <a:rPr lang="en-US" b="0" i="0" dirty="0" err="1">
                <a:effectLst/>
                <a:latin typeface="Segoe UI" panose="020B0502040204020203" pitchFamily="34" charset="0"/>
              </a:rPr>
              <a:t>Vcores</a:t>
            </a:r>
            <a:r>
              <a:rPr lang="en-US" b="0" i="0" dirty="0">
                <a:effectLst/>
                <a:latin typeface="Segoe UI" panose="020B0502040204020203" pitchFamily="34" charset="0"/>
              </a:rPr>
              <a:t> and on which a 3x Burst Multiplier is applied which gives a total of 384 Spark </a:t>
            </a:r>
            <a:r>
              <a:rPr lang="en-US" b="0" i="0" dirty="0" err="1">
                <a:effectLst/>
                <a:latin typeface="Segoe UI" panose="020B0502040204020203" pitchFamily="34" charset="0"/>
              </a:rPr>
              <a:t>VCores</a:t>
            </a:r>
            <a:endParaRPr lang="en-IN" dirty="0"/>
          </a:p>
        </p:txBody>
      </p:sp>
    </p:spTree>
    <p:extLst>
      <p:ext uri="{BB962C8B-B14F-4D97-AF65-F5344CB8AC3E}">
        <p14:creationId xmlns:p14="http://schemas.microsoft.com/office/powerpoint/2010/main" val="759062375"/>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0E6C87-7D79-A882-4682-334E30BCDD37}"/>
              </a:ext>
            </a:extLst>
          </p:cNvPr>
          <p:cNvSpPr>
            <a:spLocks noGrp="1"/>
          </p:cNvSpPr>
          <p:nvPr>
            <p:ph type="title"/>
          </p:nvPr>
        </p:nvSpPr>
        <p:spPr>
          <a:xfrm>
            <a:off x="586740" y="0"/>
            <a:ext cx="11018520" cy="553998"/>
          </a:xfrm>
        </p:spPr>
        <p:txBody>
          <a:bodyPr>
            <a:normAutofit fontScale="90000"/>
          </a:bodyPr>
          <a:lstStyle/>
          <a:p>
            <a:pPr algn="ctr"/>
            <a:r>
              <a:rPr lang="en-US" dirty="0">
                <a:solidFill>
                  <a:schemeClr val="tx1"/>
                </a:solidFill>
              </a:rPr>
              <a:t>SQL Analytics Endpoint in Lakehouse</a:t>
            </a:r>
            <a:endParaRPr lang="en-IN" dirty="0">
              <a:solidFill>
                <a:schemeClr val="tx1"/>
              </a:solidFill>
            </a:endParaRPr>
          </a:p>
        </p:txBody>
      </p:sp>
      <p:pic>
        <p:nvPicPr>
          <p:cNvPr id="2050" name="Picture 2" descr="Screenshot of Lakehouse SQL analytics endpoint main screen.">
            <a:extLst>
              <a:ext uri="{FF2B5EF4-FFF2-40B4-BE49-F238E27FC236}">
                <a16:creationId xmlns:a16="http://schemas.microsoft.com/office/drawing/2014/main" id="{60CC8957-C9EF-21B3-E2CF-996883D2F1E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9382" y="736915"/>
            <a:ext cx="6933235" cy="4134103"/>
          </a:xfrm>
          <a:prstGeom prst="rect">
            <a:avLst/>
          </a:prstGeom>
          <a:solidFill>
            <a:srgbClr val="FFFFFF">
              <a:shade val="85000"/>
            </a:srgbClr>
          </a:solidFill>
          <a:ln w="190500" cap="rnd">
            <a:solidFill>
              <a:srgbClr val="7030A0"/>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
        <p:nvSpPr>
          <p:cNvPr id="7" name="TextBox 6">
            <a:extLst>
              <a:ext uri="{FF2B5EF4-FFF2-40B4-BE49-F238E27FC236}">
                <a16:creationId xmlns:a16="http://schemas.microsoft.com/office/drawing/2014/main" id="{111997EF-4E48-769F-94CF-7EFB96CE82F3}"/>
              </a:ext>
            </a:extLst>
          </p:cNvPr>
          <p:cNvSpPr txBox="1"/>
          <p:nvPr/>
        </p:nvSpPr>
        <p:spPr>
          <a:xfrm>
            <a:off x="464917" y="5177239"/>
            <a:ext cx="6094070" cy="1477328"/>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IN" dirty="0"/>
              <a:t>Microsoft Fabric provides a SQL-based experience for </a:t>
            </a:r>
            <a:r>
              <a:rPr lang="en-IN" dirty="0" err="1"/>
              <a:t>lakehouse</a:t>
            </a:r>
            <a:r>
              <a:rPr lang="en-IN" dirty="0"/>
              <a:t> Delta tables. This SQL-based experience is called the SQL analytics endpoint. You can </a:t>
            </a:r>
            <a:r>
              <a:rPr lang="en-IN" dirty="0" err="1"/>
              <a:t>analyze</a:t>
            </a:r>
            <a:r>
              <a:rPr lang="en-IN" dirty="0"/>
              <a:t> data in Delta tables using T-SQL language, save functions, generate views, and apply SQL security.</a:t>
            </a:r>
          </a:p>
        </p:txBody>
      </p:sp>
      <p:sp>
        <p:nvSpPr>
          <p:cNvPr id="11" name="TextBox 10">
            <a:extLst>
              <a:ext uri="{FF2B5EF4-FFF2-40B4-BE49-F238E27FC236}">
                <a16:creationId xmlns:a16="http://schemas.microsoft.com/office/drawing/2014/main" id="{8461DBAD-59DD-5B91-CA13-7E3C761DC6C3}"/>
              </a:ext>
            </a:extLst>
          </p:cNvPr>
          <p:cNvSpPr txBox="1"/>
          <p:nvPr/>
        </p:nvSpPr>
        <p:spPr>
          <a:xfrm>
            <a:off x="6744182" y="5177239"/>
            <a:ext cx="5339788" cy="1477328"/>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dirty="0"/>
              <a:t>Creating a </a:t>
            </a:r>
            <a:r>
              <a:rPr lang="en-US" dirty="0" err="1"/>
              <a:t>lakehouse</a:t>
            </a:r>
            <a:r>
              <a:rPr lang="en-US" dirty="0"/>
              <a:t> creates a SQL analytics endpoint, which points to the </a:t>
            </a:r>
            <a:r>
              <a:rPr lang="en-US" dirty="0" err="1"/>
              <a:t>lakehouse</a:t>
            </a:r>
            <a:r>
              <a:rPr lang="en-US" dirty="0"/>
              <a:t> Delta table storage. Once you create a Delta table in the </a:t>
            </a:r>
            <a:r>
              <a:rPr lang="en-US" dirty="0" err="1"/>
              <a:t>lakehouse</a:t>
            </a:r>
            <a:r>
              <a:rPr lang="en-US" dirty="0"/>
              <a:t>, it's available for querying using the SQL analytics endpoint. </a:t>
            </a:r>
            <a:endParaRPr lang="en-IN" dirty="0"/>
          </a:p>
        </p:txBody>
      </p:sp>
    </p:spTree>
    <p:extLst>
      <p:ext uri="{BB962C8B-B14F-4D97-AF65-F5344CB8AC3E}">
        <p14:creationId xmlns:p14="http://schemas.microsoft.com/office/powerpoint/2010/main" val="962387632"/>
      </p:ext>
    </p:extLst>
  </p:cSld>
  <p:clrMapOvr>
    <a:masterClrMapping/>
  </p:clrMapOvr>
  <p:transition>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92</TotalTime>
  <Words>1502</Words>
  <Application>Microsoft Office PowerPoint</Application>
  <PresentationFormat>Widescreen</PresentationFormat>
  <Paragraphs>75</Paragraphs>
  <Slides>14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14</vt:i4>
      </vt:variant>
    </vt:vector>
  </HeadingPairs>
  <TitlesOfParts>
    <vt:vector size="20" baseType="lpstr">
      <vt:lpstr>Aptos</vt:lpstr>
      <vt:lpstr>Aptos Display</vt:lpstr>
      <vt:lpstr>Arial</vt:lpstr>
      <vt:lpstr>Segoe UI</vt:lpstr>
      <vt:lpstr>Wingdings</vt:lpstr>
      <vt:lpstr>Office Theme</vt:lpstr>
      <vt:lpstr>Data Analytical Engines </vt:lpstr>
      <vt:lpstr>Explore, transform, and visualize data in the lakehouse</vt:lpstr>
      <vt:lpstr>Apache Spark</vt:lpstr>
      <vt:lpstr>PowerPoint Presentation</vt:lpstr>
      <vt:lpstr>How Azure manages cluster resources ( Driver and Worker Nodes)</vt:lpstr>
      <vt:lpstr>PowerPoint Presentation</vt:lpstr>
      <vt:lpstr>Starter Pools</vt:lpstr>
      <vt:lpstr>PowerPoint Presentation</vt:lpstr>
      <vt:lpstr>PowerPoint Presentation</vt:lpstr>
      <vt:lpstr>PowerPoint Presentation</vt:lpstr>
      <vt:lpstr>PowerPoint Presentation</vt:lpstr>
      <vt:lpstr>PowerPoint Presentation</vt:lpstr>
      <vt:lpstr>PowerPoint Presentation</vt:lpstr>
      <vt:lpstr>SQL Analytics Endpoint in Lakehouse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Prabhjot Singh Bakshi</dc:creator>
  <cp:lastModifiedBy>Prabhjot Singh Bakshi</cp:lastModifiedBy>
  <cp:revision>1</cp:revision>
  <dcterms:created xsi:type="dcterms:W3CDTF">2024-12-13T09:52:47Z</dcterms:created>
  <dcterms:modified xsi:type="dcterms:W3CDTF">2024-12-13T11:35:04Z</dcterms:modified>
</cp:coreProperties>
</file>