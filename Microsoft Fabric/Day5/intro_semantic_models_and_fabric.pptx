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69B844-C8D8-4374-94D6-E02E6AC5EF72}" v="4" dt="2024-12-14T11:25:13.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330"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jot Singh Bakshi" userId="2bc06dbbe72a50e9" providerId="LiveId" clId="{E469B844-C8D8-4374-94D6-E02E6AC5EF72}"/>
    <pc:docChg chg="undo custSel modSld">
      <pc:chgData name="Prabhjot Singh Bakshi" userId="2bc06dbbe72a50e9" providerId="LiveId" clId="{E469B844-C8D8-4374-94D6-E02E6AC5EF72}" dt="2024-12-14T11:25:25.793" v="8" actId="478"/>
      <pc:docMkLst>
        <pc:docMk/>
      </pc:docMkLst>
      <pc:sldChg chg="addSp delSp modSp mod setBg">
        <pc:chgData name="Prabhjot Singh Bakshi" userId="2bc06dbbe72a50e9" providerId="LiveId" clId="{E469B844-C8D8-4374-94D6-E02E6AC5EF72}" dt="2024-12-14T11:25:25.793" v="8" actId="478"/>
        <pc:sldMkLst>
          <pc:docMk/>
          <pc:sldMk cId="1755838625" sldId="256"/>
        </pc:sldMkLst>
        <pc:spChg chg="mod">
          <ac:chgData name="Prabhjot Singh Bakshi" userId="2bc06dbbe72a50e9" providerId="LiveId" clId="{E469B844-C8D8-4374-94D6-E02E6AC5EF72}" dt="2024-12-14T11:25:17.737" v="7" actId="122"/>
          <ac:spMkLst>
            <pc:docMk/>
            <pc:sldMk cId="1755838625" sldId="256"/>
            <ac:spMk id="2" creationId="{19BB173F-B5BA-8B15-BBEE-3B25C340ECB1}"/>
          </ac:spMkLst>
        </pc:spChg>
        <pc:spChg chg="del mod">
          <ac:chgData name="Prabhjot Singh Bakshi" userId="2bc06dbbe72a50e9" providerId="LiveId" clId="{E469B844-C8D8-4374-94D6-E02E6AC5EF72}" dt="2024-12-14T11:25:25.793" v="8" actId="478"/>
          <ac:spMkLst>
            <pc:docMk/>
            <pc:sldMk cId="1755838625" sldId="256"/>
            <ac:spMk id="3" creationId="{CDBCF768-6D88-46B2-39BD-5CFA0FC2719A}"/>
          </ac:spMkLst>
        </pc:spChg>
        <pc:spChg chg="add">
          <ac:chgData name="Prabhjot Singh Bakshi" userId="2bc06dbbe72a50e9" providerId="LiveId" clId="{E469B844-C8D8-4374-94D6-E02E6AC5EF72}" dt="2024-12-14T11:25:08.585" v="2" actId="26606"/>
          <ac:spMkLst>
            <pc:docMk/>
            <pc:sldMk cId="1755838625" sldId="256"/>
            <ac:spMk id="10" creationId="{B87C619C-EBAB-488E-96B9-153AA4C9B440}"/>
          </ac:spMkLst>
        </pc:spChg>
        <pc:spChg chg="add">
          <ac:chgData name="Prabhjot Singh Bakshi" userId="2bc06dbbe72a50e9" providerId="LiveId" clId="{E469B844-C8D8-4374-94D6-E02E6AC5EF72}" dt="2024-12-14T11:25:08.585" v="2" actId="26606"/>
          <ac:spMkLst>
            <pc:docMk/>
            <pc:sldMk cId="1755838625" sldId="256"/>
            <ac:spMk id="12" creationId="{130DA1C1-36FD-41D8-9826-EE797BF39BAB}"/>
          </ac:spMkLst>
        </pc:spChg>
        <pc:spChg chg="add">
          <ac:chgData name="Prabhjot Singh Bakshi" userId="2bc06dbbe72a50e9" providerId="LiveId" clId="{E469B844-C8D8-4374-94D6-E02E6AC5EF72}" dt="2024-12-14T11:25:08.585" v="2" actId="26606"/>
          <ac:spMkLst>
            <pc:docMk/>
            <pc:sldMk cId="1755838625" sldId="256"/>
            <ac:spMk id="14" creationId="{35BC54F7-1315-4D6C-9420-A5BF0CDDBC04}"/>
          </ac:spMkLst>
        </pc:spChg>
        <pc:picChg chg="add mod">
          <ac:chgData name="Prabhjot Singh Bakshi" userId="2bc06dbbe72a50e9" providerId="LiveId" clId="{E469B844-C8D8-4374-94D6-E02E6AC5EF72}" dt="2024-12-14T11:25:13.677" v="5" actId="1076"/>
          <ac:picMkLst>
            <pc:docMk/>
            <pc:sldMk cId="1755838625" sldId="256"/>
            <ac:picMk id="4" creationId="{823F5DD0-3C41-39C1-10D0-B40215422DA7}"/>
          </ac:picMkLst>
        </pc:picChg>
        <pc:picChg chg="add mod">
          <ac:chgData name="Prabhjot Singh Bakshi" userId="2bc06dbbe72a50e9" providerId="LiveId" clId="{E469B844-C8D8-4374-94D6-E02E6AC5EF72}" dt="2024-12-14T11:25:08.585" v="2" actId="26606"/>
          <ac:picMkLst>
            <pc:docMk/>
            <pc:sldMk cId="1755838625" sldId="256"/>
            <ac:picMk id="5" creationId="{82D81C7F-A094-5CCE-0E96-3BA01B217542}"/>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1:15:07.705"/>
    </inkml:context>
    <inkml:brush xml:id="br0">
      <inkml:brushProperty name="width" value="0.1" units="cm"/>
      <inkml:brushProperty name="height" value="0.1" units="cm"/>
      <inkml:brushProperty name="color" value="#FF0066"/>
    </inkml:brush>
  </inkml:definitions>
  <inkml:trace contextRef="#ctx0" brushRef="#br0">1060 33 24575,'-82'-1'0,"-131"4"0,162 0 0,0 2 0,-57 14 0,-43 24 0,132-37 0,0 2 0,1 0 0,0 1 0,1 0 0,-32 25 0,36-22 0,1 2 0,0-1 0,1 1 0,1 1 0,-14 24 0,-23 32 0,36-53 0,0 1 0,1 1 0,1-1 0,0 1 0,2 1 0,-9 41 0,4-20 0,6-16 0,1 2 0,-3 54 0,5-47 0,-7 37 0,3-34 0,2 0 0,2 0 0,1 1 0,1-1 0,3 1 0,1-1 0,2 0 0,1 0 0,22 70 0,-24-95 0,2 0 0,0 0 0,0-1 0,1 0 0,1 0 0,0-1 0,0 1 0,1-2 0,1 1 0,-1-1 0,2-1 0,19 15 0,-1-6 0,1 0 0,0-3 0,66 25 0,-58-27 0,1-2 0,0-2 0,1-1 0,74 4 0,166-12 0,-130-3 0,-111 3 0,91-4 0,-112 2 0,0-1 0,0-1 0,0 0 0,0-2 0,19-8 0,-14 4 0,1-1 0,40-28 0,-53 30 0,1 0 0,-2 0 0,1-2 0,-2 1 0,1-1 0,13-21 0,-18 24 0,11-14 0,-2-1 0,-1 0 0,0-1 0,-2-1 0,14-43 0,-16 36 0,4-15 0,-2 0 0,-2 0 0,4-80 0,-12 89 0,-3 0 0,-1 1 0,-2-1 0,-2 1 0,-1 0 0,-1 1 0,-3 0 0,-28-62 0,27 74 0,-2 0 0,-1 2 0,-19-23 0,-15-19 0,12 2 0,23 36 0,-25-33 0,30 46 0,0 1 0,0 0 0,-1 0 0,-1 1 0,0 1 0,0 0 0,-1 0 0,0 1 0,-1 1 0,0 0 0,0 1 0,-21-7 0,0 4-227,-1 2-1,0 1 1,0 1-1,-1 3 1,-44 0-1,48 3-6598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1:15:10.974"/>
    </inkml:context>
    <inkml:brush xml:id="br0">
      <inkml:brushProperty name="width" value="0.1" units="cm"/>
      <inkml:brushProperty name="height" value="0.1" units="cm"/>
      <inkml:brushProperty name="color" value="#FF0066"/>
    </inkml:brush>
  </inkml:definitions>
  <inkml:trace contextRef="#ctx0" brushRef="#br0">1 0 24575,'1'5'0,"0"-1"0,0 1 0,1-1 0,-1 0 0,1 1 0,0-1 0,1 0 0,-1 0 0,1 0 0,0-1 0,6 7 0,-2 0 0,40 45 0,77 70 0,-65-68 0,171 161 0,159 165 0,-76-29 0,-269-295 0,-2 3 0,42 83 0,-28-47 0,407 788 0,-430-811 0,33 109 0,7 83 0,-32-112 0,85 427 0,-107-447 0,3 160 0,-21 135 0,-3-201 0,-2-150 0,-21 119 0,12-116 0,-4 29 0,3-24 0,-5 131 0,18-173 0,-2-1 0,-1 0 0,-3-1 0,-1 1 0,-26 76 0,21-83 0,6-12 0,-2-1 0,-1 0 0,-15 27 0,24-48 0,-1 0 0,0 0 0,0-1 0,0 1 0,0-1 0,0 0 0,-1 0 0,1 0 0,-1 0 0,0 0 0,1 0 0,-1 0 0,0-1 0,0 1 0,0-1 0,0 0 0,0 0 0,0 0 0,0-1 0,-1 1 0,1-1 0,0 1 0,0-1 0,-1 0 0,1 0 0,0-1 0,0 1 0,-1-1 0,1 1 0,0-1 0,0 0 0,0 0 0,-4-3 0,-8-3 0,1 0 0,1-1 0,-1-1 0,1 0 0,-16-15 0,-75-68 0,-116-133 0,199 201 0,-25-39 0,111 208 0,-34-80 0,-11-22 0,29 45 0,-42-78 0,1 0 0,0-1 0,12 11 0,13 16 0,101 109 0,-78-87 0,-43-39 0,7 10 0,-19-28 0,0-1 0,0 1 0,-1 0 0,1 0 0,0 0 0,0 0 0,0-1 0,0 1 0,1 0 0,-1-1 0,0 1 0,0-1 0,0 1 0,0-1 0,0 0 0,1 1 0,-1-1 0,0 0 0,0 0 0,1 0 0,1 0 0,4-3 0,0 0 0,0 0 0,0-1 0,0 0 0,-1 0 0,0-1 0,1 1 0,-2-2 0,10-8 0,-4 4 0,60-58 0,79-99 0,51-92 0,-39 49 0,-133 171 0,-17 21 0,1 2 0,1 0 0,19-19 0,-12 17-1365,-4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1:15:15.644"/>
    </inkml:context>
    <inkml:brush xml:id="br0">
      <inkml:brushProperty name="width" value="0.1" units="cm"/>
      <inkml:brushProperty name="height" value="0.1" units="cm"/>
      <inkml:brushProperty name="color" value="#FF0066"/>
    </inkml:brush>
  </inkml:definitions>
  <inkml:trace contextRef="#ctx0" brushRef="#br0">731 28 24575,'-7'-1'0,"0"0"0,0 0 0,0-1 0,1 0 0,-10-3 0,-22-7 0,23 11 0,0-1 0,0 1 0,0 1 0,0 1 0,1 0 0,-1 1 0,0 1 0,0 0 0,1 1 0,0 0 0,0 1 0,-24 13 0,18-7 0,1 1 0,1 1 0,0 0 0,1 2 0,0 0 0,1 1 0,-26 34 0,-60 94 0,24-31 0,68-101 0,1 2 0,0-1 0,1 1 0,0 1 0,2-1 0,-1 1 0,2 1 0,0-1 0,1 1 0,0 0 0,2-1 0,0 2 0,-1 27 0,8 521 0,-4-543 0,0-1 0,1 1 0,1 0 0,2-1 0,0 1 0,1-1 0,1-1 0,1 1 0,0-1 0,18 27 0,2 0 0,2-1 0,2-2 0,49 52 0,-22-35 0,94 73 0,-126-114 0,1 0 0,1-3 0,1 0 0,56 22 0,-38-21 0,1-3 0,73 15 0,-112-28 0,-1-1 0,0 0 0,1 0 0,-1 0 0,0-2 0,1 1 0,-1-1 0,1 0 0,-1-1 0,0 0 0,0 0 0,0-1 0,0 0 0,0-1 0,-1 0 0,1 0 0,-1-1 0,0 0 0,-1-1 0,1 1 0,-1-2 0,0 1 0,0-1 0,6-9 0,11-13 0,-2-2 0,-1-1 0,28-56 0,-39 65 0,0 0 0,-1 0 0,-2-1 0,0 0 0,-2 0 0,5-42 0,-6-150 0,-4 180 0,12-67 0,-7 65 0,2-43 0,-7 67 0,-1 0 0,0 1 0,-1-1 0,0 0 0,-1 0 0,-8-23 0,-40-121 0,19 54 0,21 73 0,-17-31 0,-6-14 0,15 26 0,-1-7 0,-3 1 0,-39-71 0,41 87 0,16 30 0,0 0 0,0 0 0,-1 0 0,-1 1 0,-12-15 0,-25-17 0,26 25 0,1 0 0,-25-31 0,38 42-136,1-1-1,0 1 1,1-1-1,-1 0 1,1 1-1,0-1 1,1 0-1,0 0 0,-2-11 1,1-6-6690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1:15:18.089"/>
    </inkml:context>
    <inkml:brush xml:id="br0">
      <inkml:brushProperty name="width" value="0.1" units="cm"/>
      <inkml:brushProperty name="height" value="0.1" units="cm"/>
      <inkml:brushProperty name="color" value="#FF0066"/>
    </inkml:brush>
  </inkml:definitions>
  <inkml:trace contextRef="#ctx0" brushRef="#br0">2617 1 24575,'-1'13'0,"0"1"0,-1 0 0,0-1 0,-2 1 0,1-1 0,-2 0 0,0 0 0,0 0 0,-1-1 0,-1 1 0,0-2 0,0 1 0,-14 15 0,-3 1 0,-2-1 0,-1-1 0,-53 40 0,-70 45 0,-262 217 0,311-231 0,5 4 0,4 4 0,-129 192 0,178-230 0,-234 379 0,220-341 0,4 2 0,-53 154 0,46-95 0,23-68 0,-30 124 0,-17 350 0,45-249 0,18-14 0,10-86 0,-8 612 0,21-567 0,0-151 0,-5 129 0,3-243 0,-1 1 0,1-1 0,-1 0 0,0 0 0,0 0 0,-1 0 0,1-1 0,0 1 0,-1 0 0,0 0 0,1-1 0,-1 1 0,0-1 0,-1 0 0,1 1 0,0-1 0,-1 0 0,1 0 0,-1-1 0,1 1 0,-1 0 0,0-1 0,0 0 0,0 1 0,0-1 0,0 0 0,0-1 0,0 1 0,0 0 0,-6-1 0,-8 2 0,0-1 0,0-1 0,0 0 0,-23-5 0,32 4 0,0-1 0,0 0 0,0-1 0,1 0 0,-1 0 0,1 0 0,0-1 0,0 0 0,0-1 0,0 0 0,1 0 0,0 0 0,0-1 0,0 1 0,-7-11 0,-7-11 0,1 0 0,-23-46 0,13 21 0,24 44 0,0 0 0,1-1 0,0 0 0,0 0 0,1 0 0,-3-13 0,6 20 0,0 1 0,-1-1 0,1 1 0,0-1 0,0 0 0,0 1 0,0-1 0,1 0 0,-1 1 0,0-1 0,1 1 0,-1-1 0,1 1 0,0-1 0,-1 1 0,1-1 0,0 1 0,1-3 0,0 3 0,-1 0 0,1 0 0,0 0 0,0 0 0,0 0 0,0 0 0,-1 0 0,1 1 0,0-1 0,0 1 0,0-1 0,0 1 0,0 0 0,1 0 0,-1 0 0,0 0 0,0 0 0,0 0 0,2 1 0,2 0 0,1 1 0,-1-1 0,0 1 0,0 1 0,0-1 0,0 1 0,0 0 0,-1 0 0,1 1 0,-1 0 0,0 0 0,5 5 0,7 7 0,-2 1 0,15 20 0,29 45 0,71 139 0,-29-46 0,-93-163 0,-3-3 0,0 0 0,1 0 0,1 0 0,10 11 0,-15-19 0,-1 1 0,1-1 0,-1 0 0,1 1 0,0-1 0,0 0 0,0 0 0,0 0 0,-1 0 0,1 0 0,0-1 0,0 1 0,1-1 0,-1 1 0,0-1 0,0 0 0,0 1 0,0-1 0,0 0 0,0 0 0,0-1 0,1 1 0,-1 0 0,0-1 0,0 1 0,0-1 0,0 0 0,3-1 0,3-4 0,1 0 0,-1-1 0,0 0 0,-1-1 0,0 0 0,0 0 0,11-17 0,-8 11 0,147-200 0,109-139 0,-166 219 27,-58 74-723,89-96 0,-109 135-6130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E80F-A912-D059-A8B9-BD5B0DA4B3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55CFB7-1F85-7E79-ADD7-A56D7D3352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B4D009-4DB6-36A8-BCD4-A2B1F761FA2E}"/>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F7D63D1E-37D2-C29A-A2EA-F8D7C4A594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0B1039-2C2C-908D-1635-DA86D93DBD78}"/>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45113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40860-1C39-F23E-55B4-E6D76D2A26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E2DB99-46B4-22A8-1FE8-25C5C07A3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CA459-1FC4-CC0E-D27D-261FA2EE13B3}"/>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F831E4EC-59CC-42A2-B9AB-4D7713ED19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8146C8-44E8-9757-155F-B72D16D95058}"/>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2009644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6CB7-FD6F-334E-B754-9216A44F1C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3A2901-DDAD-F099-7D18-6C9EA14B9D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8AE7CA-0163-EA98-7127-18C6CCBD16E1}"/>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F318C452-6586-EA2E-CD1F-F1AA759334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29D7A-37EC-1565-5FD9-3A96FBCA948D}"/>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86730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DD9F-1B33-722C-CABA-8182824F18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91B8ED-BF49-4ECB-1F9D-6D4AF8ECE7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A70BD2-A02E-FB19-9316-79B13ED4F6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4E3A74-738D-FE6C-0349-D48A7B6FFBC5}"/>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6" name="Footer Placeholder 5">
            <a:extLst>
              <a:ext uri="{FF2B5EF4-FFF2-40B4-BE49-F238E27FC236}">
                <a16:creationId xmlns:a16="http://schemas.microsoft.com/office/drawing/2014/main" id="{994B3C8C-622B-5016-F240-005773ADA6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3F66C2-A5A8-959D-BFD3-1CB668E2EF0D}"/>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3258628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6EF2-B689-C352-B311-0DEDDB1F85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8848FC-A69E-5AAE-B48C-A2D6D70D2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BBD7B-140F-CC1A-83DF-E0A9813BF6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F0BEF3-86B3-0F48-E389-F04CF4C826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4584-E8B2-2802-6102-F65036C21A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AE7246-D30C-75CC-FE42-BB4D28AAD6BA}"/>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8" name="Footer Placeholder 7">
            <a:extLst>
              <a:ext uri="{FF2B5EF4-FFF2-40B4-BE49-F238E27FC236}">
                <a16:creationId xmlns:a16="http://schemas.microsoft.com/office/drawing/2014/main" id="{7608F8F4-BF16-7DAE-308A-B839BBDBDE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785CF4-447F-A9A6-8F5C-64F1464933BA}"/>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4105413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EAB6F-1F9E-2875-8DA3-365621FDD9A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BB4042-DE0D-EC99-767F-3B90FC8DD3D6}"/>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4" name="Footer Placeholder 3">
            <a:extLst>
              <a:ext uri="{FF2B5EF4-FFF2-40B4-BE49-F238E27FC236}">
                <a16:creationId xmlns:a16="http://schemas.microsoft.com/office/drawing/2014/main" id="{F025D8D5-C562-BB7A-BECE-A677C3DEF0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A2AD14-55AE-8E85-89CA-9C130DA890C2}"/>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2494960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911E21-A1F0-D410-4F12-A4D43EC86369}"/>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3" name="Footer Placeholder 2">
            <a:extLst>
              <a:ext uri="{FF2B5EF4-FFF2-40B4-BE49-F238E27FC236}">
                <a16:creationId xmlns:a16="http://schemas.microsoft.com/office/drawing/2014/main" id="{F3B1290F-2F56-70EC-4255-95BB74D5BD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601EBD-1C1A-A491-7F14-653B08DE5D35}"/>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1205903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D2EA-A694-DF94-AF0B-C89EEC529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9029B0-D9E2-BA30-F191-926CD170E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EBF5DC-E543-E2F2-CA5E-B212D8BC0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A9EA7C-6EBF-5874-4D0C-D5D59AEDA2BF}"/>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6" name="Footer Placeholder 5">
            <a:extLst>
              <a:ext uri="{FF2B5EF4-FFF2-40B4-BE49-F238E27FC236}">
                <a16:creationId xmlns:a16="http://schemas.microsoft.com/office/drawing/2014/main" id="{8C3E1E92-4709-BF3B-6C4F-59EE6F1E63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7017E8-E00F-A9C0-F2FB-20CC1C42E5B9}"/>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173660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69D19-FF06-A091-CE0F-BC94DAD10C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6680D5E-59FC-407A-7278-AA8E3DC3B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47AA14-CD0A-8A63-859F-207D4DDA3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07A3E-A6F8-A6F9-BA32-D406EDE4C1AE}"/>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6" name="Footer Placeholder 5">
            <a:extLst>
              <a:ext uri="{FF2B5EF4-FFF2-40B4-BE49-F238E27FC236}">
                <a16:creationId xmlns:a16="http://schemas.microsoft.com/office/drawing/2014/main" id="{9154A35B-B5D3-A85E-AEE8-5A285B53CB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6F386E-F63D-367E-3C70-78C3986563D3}"/>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294222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66C-ADC5-C580-B9EA-71D6CF8F16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28ED78-0B5F-0C9D-05A7-A239577026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5103B-1D29-60A4-04B4-2D87B4C81F0C}"/>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D1A75297-1A16-61BE-9185-F01C9ADEB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A8F793-B902-C9A1-2F89-90D858DF0CD9}"/>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2951688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3D945-8B9B-31AC-0C56-C8BED6CC67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5F4AF5-6FF8-05AC-1E38-C50F6D3883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157BB9-C9C6-7737-42CA-43B50FC12605}"/>
              </a:ext>
            </a:extLst>
          </p:cNvPr>
          <p:cNvSpPr>
            <a:spLocks noGrp="1"/>
          </p:cNvSpPr>
          <p:nvPr>
            <p:ph type="dt" sz="half" idx="10"/>
          </p:nvPr>
        </p:nvSpPr>
        <p:spPr/>
        <p:txBody>
          <a:body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DBBA0EBB-72A6-8976-AF03-8E85438862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09AD2B-A17D-8F47-1878-17CABDD51770}"/>
              </a:ext>
            </a:extLst>
          </p:cNvPr>
          <p:cNvSpPr>
            <a:spLocks noGrp="1"/>
          </p:cNvSpPr>
          <p:nvPr>
            <p:ph type="sldNum" sz="quarter" idx="12"/>
          </p:nvPr>
        </p:nvSpPr>
        <p:spPr/>
        <p:txBody>
          <a:bodyPr/>
          <a:lstStyle/>
          <a:p>
            <a:fld id="{96FE539A-31AC-4727-908D-FB0F641991FE}" type="slidenum">
              <a:rPr lang="en-IN" smtClean="0"/>
              <a:t>‹#›</a:t>
            </a:fld>
            <a:endParaRPr lang="en-IN"/>
          </a:p>
        </p:txBody>
      </p:sp>
    </p:spTree>
    <p:extLst>
      <p:ext uri="{BB962C8B-B14F-4D97-AF65-F5344CB8AC3E}">
        <p14:creationId xmlns:p14="http://schemas.microsoft.com/office/powerpoint/2010/main" val="2668761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2C50A7-BF3F-AFAF-8640-968E5724BF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D6ED39-DB18-14BE-4EE2-E90BEA822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E21C06-9D5E-AE3F-BE12-6EAF92473F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46EF6F-5ECE-4694-9A73-D97160ECDFDC}" type="datetimeFigureOut">
              <a:rPr lang="en-IN" smtClean="0"/>
              <a:t>14-12-2024</a:t>
            </a:fld>
            <a:endParaRPr lang="en-IN"/>
          </a:p>
        </p:txBody>
      </p:sp>
      <p:sp>
        <p:nvSpPr>
          <p:cNvPr id="5" name="Footer Placeholder 4">
            <a:extLst>
              <a:ext uri="{FF2B5EF4-FFF2-40B4-BE49-F238E27FC236}">
                <a16:creationId xmlns:a16="http://schemas.microsoft.com/office/drawing/2014/main" id="{4EFE4542-3C70-8A32-56A7-C65FBE022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5360A44-750E-BE63-D29A-ABC88E019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FE539A-31AC-4727-908D-FB0F641991FE}" type="slidenum">
              <a:rPr lang="en-IN" smtClean="0"/>
              <a:t>‹#›</a:t>
            </a:fld>
            <a:endParaRPr lang="en-IN"/>
          </a:p>
        </p:txBody>
      </p:sp>
    </p:spTree>
    <p:extLst>
      <p:ext uri="{BB962C8B-B14F-4D97-AF65-F5344CB8AC3E}">
        <p14:creationId xmlns:p14="http://schemas.microsoft.com/office/powerpoint/2010/main" val="2387464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87C619C-EBAB-488E-96B9-153AA4C9B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30DA1C1-36FD-41D8-9826-EE797BF39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53312" cy="6858000"/>
          </a:xfrm>
          <a:custGeom>
            <a:avLst/>
            <a:gdLst>
              <a:gd name="connsiteX0" fmla="*/ 0 w 7433452"/>
              <a:gd name="connsiteY0" fmla="*/ 0 h 6858000"/>
              <a:gd name="connsiteX1" fmla="*/ 1592736 w 7433452"/>
              <a:gd name="connsiteY1" fmla="*/ 0 h 6858000"/>
              <a:gd name="connsiteX2" fmla="*/ 2171700 w 7433452"/>
              <a:gd name="connsiteY2" fmla="*/ 0 h 6858000"/>
              <a:gd name="connsiteX3" fmla="*/ 2762696 w 7433452"/>
              <a:gd name="connsiteY3" fmla="*/ 0 h 6858000"/>
              <a:gd name="connsiteX4" fmla="*/ 2829254 w 7433452"/>
              <a:gd name="connsiteY4" fmla="*/ 0 h 6858000"/>
              <a:gd name="connsiteX5" fmla="*/ 7415310 w 7433452"/>
              <a:gd name="connsiteY5" fmla="*/ 0 h 6858000"/>
              <a:gd name="connsiteX6" fmla="*/ 7405703 w 7433452"/>
              <a:gd name="connsiteY6" fmla="*/ 94814 h 6858000"/>
              <a:gd name="connsiteX7" fmla="*/ 7410754 w 7433452"/>
              <a:gd name="connsiteY7" fmla="*/ 421796 h 6858000"/>
              <a:gd name="connsiteX8" fmla="*/ 7414688 w 7433452"/>
              <a:gd name="connsiteY8" fmla="*/ 812192 h 6858000"/>
              <a:gd name="connsiteX9" fmla="*/ 7395017 w 7433452"/>
              <a:gd name="connsiteY9" fmla="*/ 1113642 h 6858000"/>
              <a:gd name="connsiteX10" fmla="*/ 7422810 w 7433452"/>
              <a:gd name="connsiteY10" fmla="*/ 1796708 h 6858000"/>
              <a:gd name="connsiteX11" fmla="*/ 7421161 w 7433452"/>
              <a:gd name="connsiteY11" fmla="*/ 2327333 h 6858000"/>
              <a:gd name="connsiteX12" fmla="*/ 7412023 w 7433452"/>
              <a:gd name="connsiteY12" fmla="*/ 2784280 h 6858000"/>
              <a:gd name="connsiteX13" fmla="*/ 7417480 w 7433452"/>
              <a:gd name="connsiteY13" fmla="*/ 2985458 h 6858000"/>
              <a:gd name="connsiteX14" fmla="*/ 7403774 w 7433452"/>
              <a:gd name="connsiteY14" fmla="*/ 3531096 h 6858000"/>
              <a:gd name="connsiteX15" fmla="*/ 7414307 w 7433452"/>
              <a:gd name="connsiteY15" fmla="*/ 4336830 h 6858000"/>
              <a:gd name="connsiteX16" fmla="*/ 7413419 w 7433452"/>
              <a:gd name="connsiteY16" fmla="*/ 5026893 h 6858000"/>
              <a:gd name="connsiteX17" fmla="*/ 7417734 w 7433452"/>
              <a:gd name="connsiteY17" fmla="*/ 5252632 h 6858000"/>
              <a:gd name="connsiteX18" fmla="*/ 7417734 w 7433452"/>
              <a:gd name="connsiteY18" fmla="*/ 5466282 h 6858000"/>
              <a:gd name="connsiteX19" fmla="*/ 7379659 w 7433452"/>
              <a:gd name="connsiteY19" fmla="*/ 6121225 h 6858000"/>
              <a:gd name="connsiteX20" fmla="*/ 7395115 w 7433452"/>
              <a:gd name="connsiteY20" fmla="*/ 6708907 h 6858000"/>
              <a:gd name="connsiteX21" fmla="*/ 7412408 w 7433452"/>
              <a:gd name="connsiteY21" fmla="*/ 6858000 h 6858000"/>
              <a:gd name="connsiteX22" fmla="*/ 2829254 w 7433452"/>
              <a:gd name="connsiteY22" fmla="*/ 6858000 h 6858000"/>
              <a:gd name="connsiteX23" fmla="*/ 2762696 w 7433452"/>
              <a:gd name="connsiteY23" fmla="*/ 6858000 h 6858000"/>
              <a:gd name="connsiteX24" fmla="*/ 2171700 w 7433452"/>
              <a:gd name="connsiteY24" fmla="*/ 6858000 h 6858000"/>
              <a:gd name="connsiteX25" fmla="*/ 1592736 w 7433452"/>
              <a:gd name="connsiteY25" fmla="*/ 6858000 h 6858000"/>
              <a:gd name="connsiteX26" fmla="*/ 0 w 7433452"/>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33452" h="6858000">
                <a:moveTo>
                  <a:pt x="0" y="0"/>
                </a:moveTo>
                <a:lnTo>
                  <a:pt x="1592736" y="0"/>
                </a:lnTo>
                <a:lnTo>
                  <a:pt x="2171700" y="0"/>
                </a:lnTo>
                <a:lnTo>
                  <a:pt x="2762696" y="0"/>
                </a:lnTo>
                <a:lnTo>
                  <a:pt x="2829254" y="0"/>
                </a:lnTo>
                <a:lnTo>
                  <a:pt x="7415310" y="0"/>
                </a:lnTo>
                <a:lnTo>
                  <a:pt x="7405703" y="94814"/>
                </a:lnTo>
                <a:cubicBezTo>
                  <a:pt x="7398856" y="203629"/>
                  <a:pt x="7403520" y="312712"/>
                  <a:pt x="7410754" y="421796"/>
                </a:cubicBezTo>
                <a:cubicBezTo>
                  <a:pt x="7421580" y="551656"/>
                  <a:pt x="7422900" y="682144"/>
                  <a:pt x="7414688" y="812192"/>
                </a:cubicBezTo>
                <a:cubicBezTo>
                  <a:pt x="7406693" y="912591"/>
                  <a:pt x="7397682" y="1012988"/>
                  <a:pt x="7395017" y="1113642"/>
                </a:cubicBezTo>
                <a:cubicBezTo>
                  <a:pt x="7388670" y="1342689"/>
                  <a:pt x="7407708" y="1569316"/>
                  <a:pt x="7422810" y="1796708"/>
                </a:cubicBezTo>
                <a:cubicBezTo>
                  <a:pt x="7434487" y="1973710"/>
                  <a:pt x="7439944" y="2150457"/>
                  <a:pt x="7421161" y="2327333"/>
                </a:cubicBezTo>
                <a:cubicBezTo>
                  <a:pt x="7405170" y="2479266"/>
                  <a:pt x="7396793" y="2631453"/>
                  <a:pt x="7412023" y="2784280"/>
                </a:cubicBezTo>
                <a:cubicBezTo>
                  <a:pt x="7418749" y="2851085"/>
                  <a:pt x="7425984" y="2918653"/>
                  <a:pt x="7417480" y="2985458"/>
                </a:cubicBezTo>
                <a:cubicBezTo>
                  <a:pt x="7394508" y="3167039"/>
                  <a:pt x="7398063" y="3349132"/>
                  <a:pt x="7403774" y="3531096"/>
                </a:cubicBezTo>
                <a:cubicBezTo>
                  <a:pt x="7412277" y="3799715"/>
                  <a:pt x="7426364" y="4067954"/>
                  <a:pt x="7414307" y="4336830"/>
                </a:cubicBezTo>
                <a:cubicBezTo>
                  <a:pt x="7404027" y="4566639"/>
                  <a:pt x="7420653" y="4796831"/>
                  <a:pt x="7413419" y="5026893"/>
                </a:cubicBezTo>
                <a:cubicBezTo>
                  <a:pt x="7410982" y="5102162"/>
                  <a:pt x="7412429" y="5177504"/>
                  <a:pt x="7417734" y="5252632"/>
                </a:cubicBezTo>
                <a:cubicBezTo>
                  <a:pt x="7424271" y="5323700"/>
                  <a:pt x="7424271" y="5395213"/>
                  <a:pt x="7417734" y="5466282"/>
                </a:cubicBezTo>
                <a:cubicBezTo>
                  <a:pt x="7393239" y="5683875"/>
                  <a:pt x="7383214" y="5902486"/>
                  <a:pt x="7379659" y="6121225"/>
                </a:cubicBezTo>
                <a:cubicBezTo>
                  <a:pt x="7376423" y="6317442"/>
                  <a:pt x="7378041" y="6513586"/>
                  <a:pt x="7395115" y="6708907"/>
                </a:cubicBezTo>
                <a:lnTo>
                  <a:pt x="7412408" y="6858000"/>
                </a:lnTo>
                <a:lnTo>
                  <a:pt x="2829254" y="6858000"/>
                </a:lnTo>
                <a:lnTo>
                  <a:pt x="2762696" y="6858000"/>
                </a:lnTo>
                <a:lnTo>
                  <a:pt x="2171700" y="6858000"/>
                </a:lnTo>
                <a:lnTo>
                  <a:pt x="159273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BB173F-B5BA-8B15-BBEE-3B25C340ECB1}"/>
              </a:ext>
            </a:extLst>
          </p:cNvPr>
          <p:cNvSpPr>
            <a:spLocks noGrp="1"/>
          </p:cNvSpPr>
          <p:nvPr>
            <p:ph type="ctrTitle"/>
          </p:nvPr>
        </p:nvSpPr>
        <p:spPr>
          <a:xfrm>
            <a:off x="838200" y="484632"/>
            <a:ext cx="6081713" cy="3566160"/>
          </a:xfrm>
        </p:spPr>
        <p:txBody>
          <a:bodyPr>
            <a:normAutofit/>
          </a:bodyPr>
          <a:lstStyle/>
          <a:p>
            <a:r>
              <a:rPr lang="en-US" sz="6600" dirty="0">
                <a:solidFill>
                  <a:srgbClr val="FFFFFF"/>
                </a:solidFill>
              </a:rPr>
              <a:t>Intro to Semantic Models </a:t>
            </a:r>
            <a:endParaRPr lang="en-IN" sz="6600" dirty="0">
              <a:solidFill>
                <a:srgbClr val="FFFFFF"/>
              </a:solidFill>
            </a:endParaRPr>
          </a:p>
        </p:txBody>
      </p:sp>
      <p:pic>
        <p:nvPicPr>
          <p:cNvPr id="4" name="Picture 2" descr="All Microsoft Fabric icons for diagramming (old version ...">
            <a:extLst>
              <a:ext uri="{FF2B5EF4-FFF2-40B4-BE49-F238E27FC236}">
                <a16:creationId xmlns:a16="http://schemas.microsoft.com/office/drawing/2014/main" id="{823F5DD0-3C41-39C1-10D0-B40215422D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21594" y="283464"/>
            <a:ext cx="2904040" cy="2904040"/>
          </a:xfrm>
          <a:prstGeom prst="rect">
            <a:avLst/>
          </a:prstGeom>
          <a:noFill/>
          <a:extLst>
            <a:ext uri="{909E8E84-426E-40DD-AFC4-6F175D3DCCD1}">
              <a14:hiddenFill xmlns:a14="http://schemas.microsoft.com/office/drawing/2010/main">
                <a:solidFill>
                  <a:srgbClr val="FFFFFF"/>
                </a:solidFill>
              </a14:hiddenFill>
            </a:ext>
          </a:extLst>
        </p:spPr>
      </p:pic>
      <p:sp>
        <p:nvSpPr>
          <p:cNvPr id="14" name="sketch line">
            <a:extLst>
              <a:ext uri="{FF2B5EF4-FFF2-40B4-BE49-F238E27FC236}">
                <a16:creationId xmlns:a16="http://schemas.microsoft.com/office/drawing/2014/main" id="{35BC54F7-1315-4D6C-9420-A5BF0CDDB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475" y="4252192"/>
            <a:ext cx="4056549" cy="18288"/>
          </a:xfrm>
          <a:custGeom>
            <a:avLst/>
            <a:gdLst>
              <a:gd name="connsiteX0" fmla="*/ 0 w 4056549"/>
              <a:gd name="connsiteY0" fmla="*/ 0 h 18288"/>
              <a:gd name="connsiteX1" fmla="*/ 676092 w 4056549"/>
              <a:gd name="connsiteY1" fmla="*/ 0 h 18288"/>
              <a:gd name="connsiteX2" fmla="*/ 1271052 w 4056549"/>
              <a:gd name="connsiteY2" fmla="*/ 0 h 18288"/>
              <a:gd name="connsiteX3" fmla="*/ 1947144 w 4056549"/>
              <a:gd name="connsiteY3" fmla="*/ 0 h 18288"/>
              <a:gd name="connsiteX4" fmla="*/ 2501539 w 4056549"/>
              <a:gd name="connsiteY4" fmla="*/ 0 h 18288"/>
              <a:gd name="connsiteX5" fmla="*/ 3137065 w 4056549"/>
              <a:gd name="connsiteY5" fmla="*/ 0 h 18288"/>
              <a:gd name="connsiteX6" fmla="*/ 4056549 w 4056549"/>
              <a:gd name="connsiteY6" fmla="*/ 0 h 18288"/>
              <a:gd name="connsiteX7" fmla="*/ 4056549 w 4056549"/>
              <a:gd name="connsiteY7" fmla="*/ 18288 h 18288"/>
              <a:gd name="connsiteX8" fmla="*/ 3380458 w 4056549"/>
              <a:gd name="connsiteY8" fmla="*/ 18288 h 18288"/>
              <a:gd name="connsiteX9" fmla="*/ 2663801 w 4056549"/>
              <a:gd name="connsiteY9" fmla="*/ 18288 h 18288"/>
              <a:gd name="connsiteX10" fmla="*/ 2068840 w 4056549"/>
              <a:gd name="connsiteY10" fmla="*/ 18288 h 18288"/>
              <a:gd name="connsiteX11" fmla="*/ 1311618 w 4056549"/>
              <a:gd name="connsiteY11" fmla="*/ 18288 h 18288"/>
              <a:gd name="connsiteX12" fmla="*/ 716657 w 4056549"/>
              <a:gd name="connsiteY12" fmla="*/ 18288 h 18288"/>
              <a:gd name="connsiteX13" fmla="*/ 0 w 4056549"/>
              <a:gd name="connsiteY13" fmla="*/ 18288 h 18288"/>
              <a:gd name="connsiteX14" fmla="*/ 0 w 4056549"/>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6549" h="18288" fill="none" extrusionOk="0">
                <a:moveTo>
                  <a:pt x="0" y="0"/>
                </a:moveTo>
                <a:cubicBezTo>
                  <a:pt x="324395" y="-12272"/>
                  <a:pt x="437185" y="20747"/>
                  <a:pt x="676092" y="0"/>
                </a:cubicBezTo>
                <a:cubicBezTo>
                  <a:pt x="914999" y="-20747"/>
                  <a:pt x="980886" y="20074"/>
                  <a:pt x="1271052" y="0"/>
                </a:cubicBezTo>
                <a:cubicBezTo>
                  <a:pt x="1561218" y="-20074"/>
                  <a:pt x="1609815" y="19965"/>
                  <a:pt x="1947144" y="0"/>
                </a:cubicBezTo>
                <a:cubicBezTo>
                  <a:pt x="2284473" y="-19965"/>
                  <a:pt x="2317816" y="-23682"/>
                  <a:pt x="2501539" y="0"/>
                </a:cubicBezTo>
                <a:cubicBezTo>
                  <a:pt x="2685262" y="23682"/>
                  <a:pt x="2879461" y="12712"/>
                  <a:pt x="3137065" y="0"/>
                </a:cubicBezTo>
                <a:cubicBezTo>
                  <a:pt x="3394669" y="-12712"/>
                  <a:pt x="3618306" y="-41742"/>
                  <a:pt x="4056549" y="0"/>
                </a:cubicBezTo>
                <a:cubicBezTo>
                  <a:pt x="4056201" y="6465"/>
                  <a:pt x="4056979" y="10922"/>
                  <a:pt x="4056549" y="18288"/>
                </a:cubicBezTo>
                <a:cubicBezTo>
                  <a:pt x="3807729" y="-7540"/>
                  <a:pt x="3536237" y="12619"/>
                  <a:pt x="3380458" y="18288"/>
                </a:cubicBezTo>
                <a:cubicBezTo>
                  <a:pt x="3224679" y="23957"/>
                  <a:pt x="2967497" y="23368"/>
                  <a:pt x="2663801" y="18288"/>
                </a:cubicBezTo>
                <a:cubicBezTo>
                  <a:pt x="2360105" y="13208"/>
                  <a:pt x="2359716" y="-8821"/>
                  <a:pt x="2068840" y="18288"/>
                </a:cubicBezTo>
                <a:cubicBezTo>
                  <a:pt x="1777964" y="45397"/>
                  <a:pt x="1641909" y="31681"/>
                  <a:pt x="1311618" y="18288"/>
                </a:cubicBezTo>
                <a:cubicBezTo>
                  <a:pt x="981327" y="4895"/>
                  <a:pt x="990410" y="11155"/>
                  <a:pt x="716657" y="18288"/>
                </a:cubicBezTo>
                <a:cubicBezTo>
                  <a:pt x="442904" y="25421"/>
                  <a:pt x="330722" y="13665"/>
                  <a:pt x="0" y="18288"/>
                </a:cubicBezTo>
                <a:cubicBezTo>
                  <a:pt x="75" y="12069"/>
                  <a:pt x="515" y="5650"/>
                  <a:pt x="0" y="0"/>
                </a:cubicBezTo>
                <a:close/>
              </a:path>
              <a:path w="4056549" h="18288" stroke="0" extrusionOk="0">
                <a:moveTo>
                  <a:pt x="0" y="0"/>
                </a:moveTo>
                <a:cubicBezTo>
                  <a:pt x="175099" y="13469"/>
                  <a:pt x="459673" y="14529"/>
                  <a:pt x="594961" y="0"/>
                </a:cubicBezTo>
                <a:cubicBezTo>
                  <a:pt x="730249" y="-14529"/>
                  <a:pt x="873178" y="22015"/>
                  <a:pt x="1149356" y="0"/>
                </a:cubicBezTo>
                <a:cubicBezTo>
                  <a:pt x="1425534" y="-22015"/>
                  <a:pt x="1498871" y="-21513"/>
                  <a:pt x="1744316" y="0"/>
                </a:cubicBezTo>
                <a:cubicBezTo>
                  <a:pt x="1989761" y="21513"/>
                  <a:pt x="2112991" y="-46"/>
                  <a:pt x="2420408" y="0"/>
                </a:cubicBezTo>
                <a:cubicBezTo>
                  <a:pt x="2727825" y="46"/>
                  <a:pt x="2880256" y="-10040"/>
                  <a:pt x="3137065" y="0"/>
                </a:cubicBezTo>
                <a:cubicBezTo>
                  <a:pt x="3393874" y="10040"/>
                  <a:pt x="3704325" y="-6685"/>
                  <a:pt x="4056549" y="0"/>
                </a:cubicBezTo>
                <a:cubicBezTo>
                  <a:pt x="4055732" y="6895"/>
                  <a:pt x="4055770" y="11206"/>
                  <a:pt x="4056549" y="18288"/>
                </a:cubicBezTo>
                <a:cubicBezTo>
                  <a:pt x="3812770" y="11959"/>
                  <a:pt x="3533996" y="-5717"/>
                  <a:pt x="3299327" y="18288"/>
                </a:cubicBezTo>
                <a:cubicBezTo>
                  <a:pt x="3064658" y="42293"/>
                  <a:pt x="2940381" y="24492"/>
                  <a:pt x="2744931" y="18288"/>
                </a:cubicBezTo>
                <a:cubicBezTo>
                  <a:pt x="2549481" y="12084"/>
                  <a:pt x="2252169" y="51841"/>
                  <a:pt x="1987709" y="18288"/>
                </a:cubicBezTo>
                <a:cubicBezTo>
                  <a:pt x="1723249" y="-15265"/>
                  <a:pt x="1438946" y="3423"/>
                  <a:pt x="1230487" y="18288"/>
                </a:cubicBezTo>
                <a:cubicBezTo>
                  <a:pt x="1022028" y="33153"/>
                  <a:pt x="795957" y="18596"/>
                  <a:pt x="676092" y="18288"/>
                </a:cubicBezTo>
                <a:cubicBezTo>
                  <a:pt x="556227" y="17980"/>
                  <a:pt x="334853" y="39451"/>
                  <a:pt x="0" y="18288"/>
                </a:cubicBezTo>
                <a:cubicBezTo>
                  <a:pt x="95" y="14343"/>
                  <a:pt x="742" y="686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ower BI Logo, symbol, meaning, history, PNG, brand">
            <a:extLst>
              <a:ext uri="{FF2B5EF4-FFF2-40B4-BE49-F238E27FC236}">
                <a16:creationId xmlns:a16="http://schemas.microsoft.com/office/drawing/2014/main" id="{82D81C7F-A094-5CCE-0E96-3BA01B21754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07654" y="3798477"/>
            <a:ext cx="3931920" cy="2211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838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05CDFF7-91D3-F97B-8B74-6C2E5191E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26" y="103468"/>
            <a:ext cx="6824608" cy="46971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4C323F9-5B0A-DEF1-86D7-CCF12B000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5234" y="1114570"/>
            <a:ext cx="4732564" cy="2674927"/>
          </a:xfrm>
          <a:prstGeom prst="rect">
            <a:avLst/>
          </a:prstGeom>
          <a:noFill/>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97C65CE4-9616-ADDC-5363-0155E6341197}"/>
              </a:ext>
            </a:extLst>
          </p:cNvPr>
          <p:cNvSpPr/>
          <p:nvPr/>
        </p:nvSpPr>
        <p:spPr>
          <a:xfrm>
            <a:off x="5682342" y="1981200"/>
            <a:ext cx="1468834" cy="68580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30AB6F3-1B3B-6729-3EBF-0FD236102EB4}"/>
              </a:ext>
            </a:extLst>
          </p:cNvPr>
          <p:cNvSpPr txBox="1"/>
          <p:nvPr/>
        </p:nvSpPr>
        <p:spPr>
          <a:xfrm>
            <a:off x="130626" y="5067065"/>
            <a:ext cx="6096000"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In Microsoft Fabric, Power BI semantic models are a logical description of an analytical domain, with metrics, business friendly terminology, and representation, to enable deeper analysis.</a:t>
            </a:r>
            <a:endParaRPr lang="en-IN" dirty="0"/>
          </a:p>
        </p:txBody>
      </p:sp>
      <p:sp>
        <p:nvSpPr>
          <p:cNvPr id="12" name="TextBox 11">
            <a:extLst>
              <a:ext uri="{FF2B5EF4-FFF2-40B4-BE49-F238E27FC236}">
                <a16:creationId xmlns:a16="http://schemas.microsoft.com/office/drawing/2014/main" id="{E55DAAE2-CD68-7B4B-5588-5BDC3EB58225}"/>
              </a:ext>
            </a:extLst>
          </p:cNvPr>
          <p:cNvSpPr txBox="1"/>
          <p:nvPr/>
        </p:nvSpPr>
        <p:spPr>
          <a:xfrm>
            <a:off x="6273516" y="4985657"/>
            <a:ext cx="5787858"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 With the semantic model, the semantic model is created automatically for you, and you choose which tables, relationships, and measures are to be added, and the business logic gets inherited from the parent lakehouse or Warehouse respectively</a:t>
            </a:r>
            <a:endParaRPr lang="en-IN" dirty="0"/>
          </a:p>
        </p:txBody>
      </p:sp>
    </p:spTree>
    <p:extLst>
      <p:ext uri="{BB962C8B-B14F-4D97-AF65-F5344CB8AC3E}">
        <p14:creationId xmlns:p14="http://schemas.microsoft.com/office/powerpoint/2010/main" val="217110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D922E-034B-A6F7-71DC-7CAA89019F54}"/>
              </a:ext>
            </a:extLst>
          </p:cNvPr>
          <p:cNvSpPr>
            <a:spLocks noGrp="1"/>
          </p:cNvSpPr>
          <p:nvPr>
            <p:ph type="title"/>
          </p:nvPr>
        </p:nvSpPr>
        <p:spPr>
          <a:xfrm>
            <a:off x="500743" y="-320675"/>
            <a:ext cx="11430000" cy="1325563"/>
          </a:xfrm>
        </p:spPr>
        <p:txBody>
          <a:bodyPr/>
          <a:lstStyle/>
          <a:p>
            <a:r>
              <a:rPr lang="en-US" dirty="0"/>
              <a:t>Facts and Dimensions Tables in Semantic Models</a:t>
            </a:r>
            <a:endParaRPr lang="en-IN" dirty="0"/>
          </a:p>
        </p:txBody>
      </p:sp>
      <p:pic>
        <p:nvPicPr>
          <p:cNvPr id="4" name="Picture 2">
            <a:extLst>
              <a:ext uri="{FF2B5EF4-FFF2-40B4-BE49-F238E27FC236}">
                <a16:creationId xmlns:a16="http://schemas.microsoft.com/office/drawing/2014/main" id="{A28E6268-4B5A-6E76-25C7-B0409A9D1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84" y="1004888"/>
            <a:ext cx="6824608" cy="46971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C39363-2E4B-3A8A-2DBD-C0FA2F4506E7}"/>
              </a:ext>
            </a:extLst>
          </p:cNvPr>
          <p:cNvSpPr txBox="1"/>
          <p:nvPr/>
        </p:nvSpPr>
        <p:spPr>
          <a:xfrm>
            <a:off x="7238264" y="1571598"/>
            <a:ext cx="4692479"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Fact Tables:</a:t>
            </a:r>
          </a:p>
          <a:p>
            <a:pPr>
              <a:buFont typeface="Arial" panose="020B0604020202020204" pitchFamily="34" charset="0"/>
              <a:buChar char="•"/>
            </a:pPr>
            <a:r>
              <a:rPr lang="en-US" dirty="0"/>
              <a:t>Contain </a:t>
            </a:r>
            <a:r>
              <a:rPr lang="en-US" b="1" dirty="0"/>
              <a:t>quantitative data</a:t>
            </a:r>
            <a:r>
              <a:rPr lang="en-US" dirty="0"/>
              <a:t> (e.g., sales, revenue, or transaction details).</a:t>
            </a:r>
          </a:p>
          <a:p>
            <a:endParaRPr lang="en-US" dirty="0"/>
          </a:p>
          <a:p>
            <a:pPr>
              <a:buFont typeface="Arial" panose="020B0604020202020204" pitchFamily="34" charset="0"/>
              <a:buChar char="•"/>
            </a:pPr>
            <a:r>
              <a:rPr lang="en-US" dirty="0"/>
              <a:t>Represent the core measurements or metrics to be analyzed.</a:t>
            </a:r>
          </a:p>
        </p:txBody>
      </p:sp>
      <p:cxnSp>
        <p:nvCxnSpPr>
          <p:cNvPr id="8" name="Straight Arrow Connector 7">
            <a:extLst>
              <a:ext uri="{FF2B5EF4-FFF2-40B4-BE49-F238E27FC236}">
                <a16:creationId xmlns:a16="http://schemas.microsoft.com/office/drawing/2014/main" id="{43374D19-D99E-94A0-66CF-3E475595B38D}"/>
              </a:ext>
            </a:extLst>
          </p:cNvPr>
          <p:cNvCxnSpPr>
            <a:endCxn id="6" idx="1"/>
          </p:cNvCxnSpPr>
          <p:nvPr/>
        </p:nvCxnSpPr>
        <p:spPr>
          <a:xfrm flipV="1">
            <a:off x="4038600" y="2448761"/>
            <a:ext cx="3199664" cy="4359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4F9FC07-636F-974A-9B31-0B684D2C6C4F}"/>
              </a:ext>
            </a:extLst>
          </p:cNvPr>
          <p:cNvSpPr txBox="1"/>
          <p:nvPr/>
        </p:nvSpPr>
        <p:spPr>
          <a:xfrm>
            <a:off x="7238263" y="3947695"/>
            <a:ext cx="4692479"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Dimension Tables:</a:t>
            </a:r>
          </a:p>
          <a:p>
            <a:pPr>
              <a:buFont typeface="Arial" panose="020B0604020202020204" pitchFamily="34" charset="0"/>
              <a:buChar char="•"/>
            </a:pPr>
            <a:r>
              <a:rPr lang="en-US" dirty="0"/>
              <a:t>Contain </a:t>
            </a:r>
            <a:r>
              <a:rPr lang="en-US" b="1" dirty="0"/>
              <a:t>descriptive attributes</a:t>
            </a:r>
            <a:r>
              <a:rPr lang="en-US" dirty="0"/>
              <a:t> or metadata (e.g., product names, customer details, or time periods).</a:t>
            </a:r>
          </a:p>
          <a:p>
            <a:pPr>
              <a:buFont typeface="Arial" panose="020B0604020202020204" pitchFamily="34" charset="0"/>
              <a:buChar char="•"/>
            </a:pPr>
            <a:r>
              <a:rPr lang="en-US" dirty="0"/>
              <a:t>Help provide </a:t>
            </a:r>
            <a:r>
              <a:rPr lang="en-US" b="1" dirty="0"/>
              <a:t>context</a:t>
            </a:r>
            <a:r>
              <a:rPr lang="en-US" dirty="0"/>
              <a:t> for the measures in fact tables.</a:t>
            </a:r>
          </a:p>
        </p:txBody>
      </p:sp>
      <p:cxnSp>
        <p:nvCxnSpPr>
          <p:cNvPr id="11" name="Straight Arrow Connector 10">
            <a:extLst>
              <a:ext uri="{FF2B5EF4-FFF2-40B4-BE49-F238E27FC236}">
                <a16:creationId xmlns:a16="http://schemas.microsoft.com/office/drawing/2014/main" id="{68C183C1-4B74-8314-F5B7-CDF85DDF2608}"/>
              </a:ext>
            </a:extLst>
          </p:cNvPr>
          <p:cNvCxnSpPr>
            <a:cxnSpLocks/>
            <a:endCxn id="10" idx="1"/>
          </p:cNvCxnSpPr>
          <p:nvPr/>
        </p:nvCxnSpPr>
        <p:spPr>
          <a:xfrm>
            <a:off x="5399314" y="4769797"/>
            <a:ext cx="1838949" cy="5506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31EA214-046E-92FE-AF27-962176216DD9}"/>
              </a:ext>
            </a:extLst>
          </p:cNvPr>
          <p:cNvCxnSpPr>
            <a:cxnSpLocks/>
          </p:cNvCxnSpPr>
          <p:nvPr/>
        </p:nvCxnSpPr>
        <p:spPr>
          <a:xfrm flipV="1">
            <a:off x="1872343" y="4203087"/>
            <a:ext cx="5365920" cy="99235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7B49370-E941-E2EB-CEEB-0E9DBF497CEC}"/>
              </a:ext>
            </a:extLst>
          </p:cNvPr>
          <p:cNvSpPr txBox="1"/>
          <p:nvPr/>
        </p:nvSpPr>
        <p:spPr>
          <a:xfrm>
            <a:off x="2209800" y="5853112"/>
            <a:ext cx="609600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Dimension tables are connected to fact tables via </a:t>
            </a:r>
            <a:r>
              <a:rPr lang="en-US" b="1" dirty="0"/>
              <a:t>foreign key-primary key relationships</a:t>
            </a:r>
            <a:r>
              <a:rPr lang="en-US" dirty="0"/>
              <a:t>, forming a </a:t>
            </a:r>
            <a:r>
              <a:rPr lang="en-US" b="1" dirty="0"/>
              <a:t>star schema</a:t>
            </a:r>
            <a:r>
              <a:rPr lang="en-US" dirty="0"/>
              <a:t> or </a:t>
            </a:r>
            <a:r>
              <a:rPr lang="en-US" b="1" dirty="0"/>
              <a:t>snowflake schema</a:t>
            </a:r>
            <a:r>
              <a:rPr lang="en-US" dirty="0"/>
              <a:t>.</a:t>
            </a:r>
            <a:endParaRPr lang="en-IN" dirty="0"/>
          </a:p>
        </p:txBody>
      </p:sp>
      <mc:AlternateContent xmlns:mc="http://schemas.openxmlformats.org/markup-compatibility/2006">
        <mc:Choice xmlns:p14="http://schemas.microsoft.com/office/powerpoint/2010/main" Requires="p14">
          <p:contentPart p14:bwMode="auto" r:id="rId3">
            <p14:nvContentPartPr>
              <p14:cNvPr id="21" name="Ink 20">
                <a:extLst>
                  <a:ext uri="{FF2B5EF4-FFF2-40B4-BE49-F238E27FC236}">
                    <a16:creationId xmlns:a16="http://schemas.microsoft.com/office/drawing/2014/main" id="{99113CB1-8F13-64A9-ED6C-1A9983A1F441}"/>
                  </a:ext>
                </a:extLst>
              </p14:cNvPr>
              <p14:cNvContentPartPr/>
              <p14:nvPr/>
            </p14:nvContentPartPr>
            <p14:xfrm>
              <a:off x="1654251" y="2959989"/>
              <a:ext cx="610920" cy="568440"/>
            </p14:xfrm>
          </p:contentPart>
        </mc:Choice>
        <mc:Fallback>
          <p:pic>
            <p:nvPicPr>
              <p:cNvPr id="21" name="Ink 20">
                <a:extLst>
                  <a:ext uri="{FF2B5EF4-FFF2-40B4-BE49-F238E27FC236}">
                    <a16:creationId xmlns:a16="http://schemas.microsoft.com/office/drawing/2014/main" id="{99113CB1-8F13-64A9-ED6C-1A9983A1F441}"/>
                  </a:ext>
                </a:extLst>
              </p:cNvPr>
              <p:cNvPicPr/>
              <p:nvPr/>
            </p:nvPicPr>
            <p:blipFill>
              <a:blip r:embed="rId4"/>
              <a:stretch>
                <a:fillRect/>
              </a:stretch>
            </p:blipFill>
            <p:spPr>
              <a:xfrm>
                <a:off x="1636251" y="2942349"/>
                <a:ext cx="646560" cy="604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2" name="Ink 21">
                <a:extLst>
                  <a:ext uri="{FF2B5EF4-FFF2-40B4-BE49-F238E27FC236}">
                    <a16:creationId xmlns:a16="http://schemas.microsoft.com/office/drawing/2014/main" id="{8E252CB2-9315-5FA6-931D-9C5B738835C0}"/>
                  </a:ext>
                </a:extLst>
              </p14:cNvPr>
              <p14:cNvContentPartPr/>
              <p14:nvPr/>
            </p14:nvContentPartPr>
            <p14:xfrm>
              <a:off x="2111811" y="3472629"/>
              <a:ext cx="995400" cy="2299320"/>
            </p14:xfrm>
          </p:contentPart>
        </mc:Choice>
        <mc:Fallback>
          <p:pic>
            <p:nvPicPr>
              <p:cNvPr id="22" name="Ink 21">
                <a:extLst>
                  <a:ext uri="{FF2B5EF4-FFF2-40B4-BE49-F238E27FC236}">
                    <a16:creationId xmlns:a16="http://schemas.microsoft.com/office/drawing/2014/main" id="{8E252CB2-9315-5FA6-931D-9C5B738835C0}"/>
                  </a:ext>
                </a:extLst>
              </p:cNvPr>
              <p:cNvPicPr/>
              <p:nvPr/>
            </p:nvPicPr>
            <p:blipFill>
              <a:blip r:embed="rId6"/>
              <a:stretch>
                <a:fillRect/>
              </a:stretch>
            </p:blipFill>
            <p:spPr>
              <a:xfrm>
                <a:off x="2094171" y="3454629"/>
                <a:ext cx="1031040" cy="2334960"/>
              </a:xfrm>
              <a:prstGeom prst="rect">
                <a:avLst/>
              </a:prstGeom>
            </p:spPr>
          </p:pic>
        </mc:Fallback>
      </mc:AlternateContent>
      <p:grpSp>
        <p:nvGrpSpPr>
          <p:cNvPr id="25" name="Group 24">
            <a:extLst>
              <a:ext uri="{FF2B5EF4-FFF2-40B4-BE49-F238E27FC236}">
                <a16:creationId xmlns:a16="http://schemas.microsoft.com/office/drawing/2014/main" id="{4B7A80DD-6D0F-94E3-4A57-D53A8658DCD5}"/>
              </a:ext>
            </a:extLst>
          </p:cNvPr>
          <p:cNvGrpSpPr/>
          <p:nvPr/>
        </p:nvGrpSpPr>
        <p:grpSpPr>
          <a:xfrm>
            <a:off x="3738651" y="2983389"/>
            <a:ext cx="1191600" cy="2908440"/>
            <a:chOff x="3738651" y="2983389"/>
            <a:chExt cx="1191600" cy="2908440"/>
          </a:xfrm>
        </p:grpSpPr>
        <mc:AlternateContent xmlns:mc="http://schemas.openxmlformats.org/markup-compatibility/2006">
          <mc:Choice xmlns:p14="http://schemas.microsoft.com/office/powerpoint/2010/main" Requires="p14">
            <p:contentPart p14:bwMode="auto" r:id="rId7">
              <p14:nvContentPartPr>
                <p14:cNvPr id="23" name="Ink 22">
                  <a:extLst>
                    <a:ext uri="{FF2B5EF4-FFF2-40B4-BE49-F238E27FC236}">
                      <a16:creationId xmlns:a16="http://schemas.microsoft.com/office/drawing/2014/main" id="{E67784A5-2A06-0F14-3732-695E768311BB}"/>
                    </a:ext>
                  </a:extLst>
                </p14:cNvPr>
                <p14:cNvContentPartPr/>
                <p14:nvPr/>
              </p14:nvContentPartPr>
              <p14:xfrm>
                <a:off x="4461531" y="2983389"/>
                <a:ext cx="468720" cy="760680"/>
              </p14:xfrm>
            </p:contentPart>
          </mc:Choice>
          <mc:Fallback>
            <p:pic>
              <p:nvPicPr>
                <p:cNvPr id="23" name="Ink 22">
                  <a:extLst>
                    <a:ext uri="{FF2B5EF4-FFF2-40B4-BE49-F238E27FC236}">
                      <a16:creationId xmlns:a16="http://schemas.microsoft.com/office/drawing/2014/main" id="{E67784A5-2A06-0F14-3732-695E768311BB}"/>
                    </a:ext>
                  </a:extLst>
                </p:cNvPr>
                <p:cNvPicPr/>
                <p:nvPr/>
              </p:nvPicPr>
              <p:blipFill>
                <a:blip r:embed="rId8"/>
                <a:stretch>
                  <a:fillRect/>
                </a:stretch>
              </p:blipFill>
              <p:spPr>
                <a:xfrm>
                  <a:off x="4443531" y="2965389"/>
                  <a:ext cx="504360" cy="796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4" name="Ink 23">
                  <a:extLst>
                    <a:ext uri="{FF2B5EF4-FFF2-40B4-BE49-F238E27FC236}">
                      <a16:creationId xmlns:a16="http://schemas.microsoft.com/office/drawing/2014/main" id="{6C4A0FFF-E865-78E3-F42F-4531F291BCD6}"/>
                    </a:ext>
                  </a:extLst>
                </p14:cNvPr>
                <p14:cNvContentPartPr/>
                <p14:nvPr/>
              </p14:nvContentPartPr>
              <p14:xfrm>
                <a:off x="3738651" y="3690069"/>
                <a:ext cx="942480" cy="2201760"/>
              </p14:xfrm>
            </p:contentPart>
          </mc:Choice>
          <mc:Fallback>
            <p:pic>
              <p:nvPicPr>
                <p:cNvPr id="24" name="Ink 23">
                  <a:extLst>
                    <a:ext uri="{FF2B5EF4-FFF2-40B4-BE49-F238E27FC236}">
                      <a16:creationId xmlns:a16="http://schemas.microsoft.com/office/drawing/2014/main" id="{6C4A0FFF-E865-78E3-F42F-4531F291BCD6}"/>
                    </a:ext>
                  </a:extLst>
                </p:cNvPr>
                <p:cNvPicPr/>
                <p:nvPr/>
              </p:nvPicPr>
              <p:blipFill>
                <a:blip r:embed="rId10"/>
                <a:stretch>
                  <a:fillRect/>
                </a:stretch>
              </p:blipFill>
              <p:spPr>
                <a:xfrm>
                  <a:off x="3720651" y="3672429"/>
                  <a:ext cx="978120" cy="2237400"/>
                </a:xfrm>
                <a:prstGeom prst="rect">
                  <a:avLst/>
                </a:prstGeom>
              </p:spPr>
            </p:pic>
          </mc:Fallback>
        </mc:AlternateContent>
      </p:grpSp>
    </p:spTree>
    <p:extLst>
      <p:ext uri="{BB962C8B-B14F-4D97-AF65-F5344CB8AC3E}">
        <p14:creationId xmlns:p14="http://schemas.microsoft.com/office/powerpoint/2010/main" val="1831391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61D5-2FFC-5844-A0C7-3F8EB4D1EEE5}"/>
              </a:ext>
            </a:extLst>
          </p:cNvPr>
          <p:cNvSpPr>
            <a:spLocks noGrp="1"/>
          </p:cNvSpPr>
          <p:nvPr>
            <p:ph type="title"/>
          </p:nvPr>
        </p:nvSpPr>
        <p:spPr>
          <a:xfrm>
            <a:off x="751113" y="-353332"/>
            <a:ext cx="11560629" cy="1325563"/>
          </a:xfrm>
        </p:spPr>
        <p:txBody>
          <a:bodyPr/>
          <a:lstStyle/>
          <a:p>
            <a:r>
              <a:rPr lang="en-US" dirty="0"/>
              <a:t>Microsoft Fabric and Unified Semantic Models</a:t>
            </a:r>
            <a:endParaRPr lang="en-IN" dirty="0"/>
          </a:p>
        </p:txBody>
      </p:sp>
      <p:sp>
        <p:nvSpPr>
          <p:cNvPr id="5" name="TextBox 4">
            <a:extLst>
              <a:ext uri="{FF2B5EF4-FFF2-40B4-BE49-F238E27FC236}">
                <a16:creationId xmlns:a16="http://schemas.microsoft.com/office/drawing/2014/main" id="{0685017F-7D4E-8031-B6CE-258F6AB04CE9}"/>
              </a:ext>
            </a:extLst>
          </p:cNvPr>
          <p:cNvSpPr txBox="1"/>
          <p:nvPr/>
        </p:nvSpPr>
        <p:spPr>
          <a:xfrm>
            <a:off x="5331279" y="1354268"/>
            <a:ext cx="615587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Microsoft Fabric </a:t>
            </a:r>
            <a:r>
              <a:rPr lang="en-US" b="1" dirty="0"/>
              <a:t>enhances</a:t>
            </a:r>
            <a:r>
              <a:rPr lang="en-US" dirty="0"/>
              <a:t> Power BI’s capabilities by integrating </a:t>
            </a:r>
            <a:r>
              <a:rPr lang="en-US" b="1" dirty="0"/>
              <a:t>data engineering</a:t>
            </a:r>
            <a:r>
              <a:rPr lang="en-US" dirty="0"/>
              <a:t>, </a:t>
            </a:r>
            <a:r>
              <a:rPr lang="en-US" b="1" dirty="0"/>
              <a:t>data lakes</a:t>
            </a:r>
            <a:r>
              <a:rPr lang="en-US" dirty="0"/>
              <a:t>, and </a:t>
            </a:r>
            <a:r>
              <a:rPr lang="en-US" b="1" dirty="0"/>
              <a:t>advanced analytics</a:t>
            </a:r>
            <a:r>
              <a:rPr lang="en-US" dirty="0"/>
              <a:t> into a </a:t>
            </a:r>
            <a:r>
              <a:rPr lang="en-US" b="1" dirty="0"/>
              <a:t>unified ecosystem</a:t>
            </a:r>
            <a:r>
              <a:rPr lang="en-US" dirty="0"/>
              <a:t>.</a:t>
            </a:r>
            <a:endParaRPr lang="en-IN" dirty="0"/>
          </a:p>
        </p:txBody>
      </p:sp>
      <p:sp>
        <p:nvSpPr>
          <p:cNvPr id="7" name="TextBox 6">
            <a:extLst>
              <a:ext uri="{FF2B5EF4-FFF2-40B4-BE49-F238E27FC236}">
                <a16:creationId xmlns:a16="http://schemas.microsoft.com/office/drawing/2014/main" id="{79218A3D-A5F1-3BF1-BA52-AC3829EDA8DB}"/>
              </a:ext>
            </a:extLst>
          </p:cNvPr>
          <p:cNvSpPr txBox="1"/>
          <p:nvPr/>
        </p:nvSpPr>
        <p:spPr>
          <a:xfrm>
            <a:off x="5331279" y="2659635"/>
            <a:ext cx="6155870"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Relationship with Fact and Dimension Tables</a:t>
            </a:r>
            <a:r>
              <a:rPr lang="en-US" dirty="0"/>
              <a:t>:</a:t>
            </a:r>
          </a:p>
          <a:p>
            <a:pPr>
              <a:buFont typeface="Arial" panose="020B0604020202020204" pitchFamily="34" charset="0"/>
              <a:buChar char="•"/>
            </a:pPr>
            <a:r>
              <a:rPr lang="en-US" b="1" dirty="0"/>
              <a:t>Fact and dimension tables</a:t>
            </a:r>
            <a:r>
              <a:rPr lang="en-US" dirty="0"/>
              <a:t> are stored and processed within </a:t>
            </a:r>
            <a:r>
              <a:rPr lang="en-US" b="1" dirty="0"/>
              <a:t>OneLake</a:t>
            </a:r>
            <a:r>
              <a:rPr lang="en-US" dirty="0"/>
              <a:t>, Fabric’s centralized data lake.</a:t>
            </a:r>
          </a:p>
          <a:p>
            <a:pPr>
              <a:buFont typeface="Arial" panose="020B0604020202020204" pitchFamily="34" charset="0"/>
              <a:buChar char="•"/>
            </a:pPr>
            <a:endParaRPr lang="en-US" dirty="0"/>
          </a:p>
          <a:p>
            <a:pPr>
              <a:buFont typeface="Arial" panose="020B0604020202020204" pitchFamily="34" charset="0"/>
              <a:buChar char="•"/>
            </a:pPr>
            <a:r>
              <a:rPr lang="en-US" dirty="0"/>
              <a:t>They can be directly used in </a:t>
            </a:r>
            <a:r>
              <a:rPr lang="en-US" b="1" dirty="0"/>
              <a:t>Fabric Lakehouses</a:t>
            </a:r>
            <a:r>
              <a:rPr lang="en-US" dirty="0"/>
              <a:t> or </a:t>
            </a:r>
            <a:r>
              <a:rPr lang="en-US" b="1" dirty="0"/>
              <a:t>Warehouse</a:t>
            </a:r>
            <a:r>
              <a:rPr lang="en-US" dirty="0"/>
              <a:t> for scalable modeling.</a:t>
            </a:r>
          </a:p>
        </p:txBody>
      </p:sp>
      <p:sp>
        <p:nvSpPr>
          <p:cNvPr id="9" name="TextBox 8">
            <a:extLst>
              <a:ext uri="{FF2B5EF4-FFF2-40B4-BE49-F238E27FC236}">
                <a16:creationId xmlns:a16="http://schemas.microsoft.com/office/drawing/2014/main" id="{005DE49A-D05C-D642-6290-8A596E0E7823}"/>
              </a:ext>
            </a:extLst>
          </p:cNvPr>
          <p:cNvSpPr txBox="1"/>
          <p:nvPr/>
        </p:nvSpPr>
        <p:spPr>
          <a:xfrm>
            <a:off x="1615166" y="4936475"/>
            <a:ext cx="9832521"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b="1" dirty="0"/>
              <a:t>Semantic Models in Microsoft Fabric</a:t>
            </a:r>
            <a:r>
              <a:rPr lang="en-IN" dirty="0"/>
              <a:t>:</a:t>
            </a:r>
          </a:p>
          <a:p>
            <a:pPr>
              <a:buFont typeface="Arial" panose="020B0604020202020204" pitchFamily="34" charset="0"/>
              <a:buChar char="•"/>
            </a:pPr>
            <a:r>
              <a:rPr lang="en-IN" dirty="0"/>
              <a:t>Leverage </a:t>
            </a:r>
            <a:r>
              <a:rPr lang="en-IN" b="1" dirty="0"/>
              <a:t>Direct Lake mode</a:t>
            </a:r>
            <a:r>
              <a:rPr lang="en-IN" dirty="0"/>
              <a:t> to directly query data in </a:t>
            </a:r>
            <a:r>
              <a:rPr lang="en-IN" dirty="0" err="1"/>
              <a:t>OneLake</a:t>
            </a:r>
            <a:r>
              <a:rPr lang="en-IN" dirty="0"/>
              <a:t> without moving it.</a:t>
            </a:r>
          </a:p>
          <a:p>
            <a:pPr>
              <a:buFont typeface="Arial" panose="020B0604020202020204" pitchFamily="34" charset="0"/>
              <a:buChar char="•"/>
            </a:pPr>
            <a:r>
              <a:rPr lang="en-IN" dirty="0"/>
              <a:t>Enhanced scalability and performance for large datasets.</a:t>
            </a:r>
          </a:p>
          <a:p>
            <a:pPr>
              <a:buFont typeface="Arial" panose="020B0604020202020204" pitchFamily="34" charset="0"/>
              <a:buChar char="•"/>
            </a:pPr>
            <a:r>
              <a:rPr lang="en-IN" dirty="0"/>
              <a:t>Unified data </a:t>
            </a:r>
            <a:r>
              <a:rPr lang="en-IN" dirty="0" err="1"/>
              <a:t>modeling</a:t>
            </a:r>
            <a:r>
              <a:rPr lang="en-IN" dirty="0"/>
              <a:t> with </a:t>
            </a:r>
            <a:r>
              <a:rPr lang="en-IN" b="1" dirty="0"/>
              <a:t>Power BI datasets</a:t>
            </a:r>
            <a:r>
              <a:rPr lang="en-IN" dirty="0"/>
              <a:t>, </a:t>
            </a:r>
            <a:r>
              <a:rPr lang="en-IN" b="1" dirty="0"/>
              <a:t>Fabric Warehouse</a:t>
            </a:r>
            <a:r>
              <a:rPr lang="en-IN" dirty="0"/>
              <a:t>, and </a:t>
            </a:r>
            <a:r>
              <a:rPr lang="en-IN" b="1" dirty="0" err="1"/>
              <a:t>Lakehouses</a:t>
            </a:r>
            <a:r>
              <a:rPr lang="en-IN" dirty="0"/>
              <a:t>.</a:t>
            </a:r>
          </a:p>
          <a:p>
            <a:pPr>
              <a:buFont typeface="Arial" panose="020B0604020202020204" pitchFamily="34" charset="0"/>
              <a:buChar char="•"/>
            </a:pPr>
            <a:r>
              <a:rPr lang="en-IN" dirty="0"/>
              <a:t>Fact and dimension tables in Fabric pipelines feed into these semantic models.</a:t>
            </a:r>
          </a:p>
        </p:txBody>
      </p:sp>
      <p:pic>
        <p:nvPicPr>
          <p:cNvPr id="2050" name="Picture 2" descr="All Microsoft Fabric icons for diagramming (old version ...">
            <a:extLst>
              <a:ext uri="{FF2B5EF4-FFF2-40B4-BE49-F238E27FC236}">
                <a16:creationId xmlns:a16="http://schemas.microsoft.com/office/drawing/2014/main" id="{D574975F-156E-9EBF-0BCD-4D30036C91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966" y="1630630"/>
            <a:ext cx="2061839" cy="20618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ower BI Logo, symbol, meaning, history, PNG, brand">
            <a:extLst>
              <a:ext uri="{FF2B5EF4-FFF2-40B4-BE49-F238E27FC236}">
                <a16:creationId xmlns:a16="http://schemas.microsoft.com/office/drawing/2014/main" id="{DBCA57F4-F94A-3BF7-C777-11035FA5E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5008" y="1630630"/>
            <a:ext cx="3678251" cy="2069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199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289</Words>
  <Application>Microsoft Office PowerPoint</Application>
  <PresentationFormat>Widescreen</PresentationFormat>
  <Paragraphs>23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Intro to Semantic Models </vt:lpstr>
      <vt:lpstr>PowerPoint Presentation</vt:lpstr>
      <vt:lpstr>Facts and Dimensions Tables in Semantic Models</vt:lpstr>
      <vt:lpstr>Microsoft Fabric and Unified Semantic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2024-12-14T11:09:08Z</dcterms:created>
  <dcterms:modified xsi:type="dcterms:W3CDTF">2024-12-14T11:25:26Z</dcterms:modified>
</cp:coreProperties>
</file>