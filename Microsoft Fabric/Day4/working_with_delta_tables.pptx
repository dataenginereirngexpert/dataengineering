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7" r:id="rId11"/>
    <p:sldId id="265" r:id="rId12"/>
    <p:sldId id="266"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FEAFB3B-57DD-47A2-AFE6-EB6ACF524594}" v="6" dt="2025-02-01T07:45:32.0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1166"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bhjot Singh Bakshi" userId="2bc06dbbe72a50e9" providerId="LiveId" clId="{CFEAFB3B-57DD-47A2-AFE6-EB6ACF524594}"/>
    <pc:docChg chg="modSld">
      <pc:chgData name="Prabhjot Singh Bakshi" userId="2bc06dbbe72a50e9" providerId="LiveId" clId="{CFEAFB3B-57DD-47A2-AFE6-EB6ACF524594}" dt="2025-02-01T11:29:34.566" v="17" actId="20577"/>
      <pc:docMkLst>
        <pc:docMk/>
      </pc:docMkLst>
      <pc:sldChg chg="modSp">
        <pc:chgData name="Prabhjot Singh Bakshi" userId="2bc06dbbe72a50e9" providerId="LiveId" clId="{CFEAFB3B-57DD-47A2-AFE6-EB6ACF524594}" dt="2025-02-01T07:45:32.080" v="5" actId="1076"/>
        <pc:sldMkLst>
          <pc:docMk/>
          <pc:sldMk cId="108041741" sldId="258"/>
        </pc:sldMkLst>
        <pc:picChg chg="mod">
          <ac:chgData name="Prabhjot Singh Bakshi" userId="2bc06dbbe72a50e9" providerId="LiveId" clId="{CFEAFB3B-57DD-47A2-AFE6-EB6ACF524594}" dt="2025-02-01T07:45:32.080" v="5" actId="1076"/>
          <ac:picMkLst>
            <pc:docMk/>
            <pc:sldMk cId="108041741" sldId="258"/>
            <ac:picMk id="3074" creationId="{2259AD14-BD8C-3F58-9779-79EEC0ADCFEC}"/>
          </ac:picMkLst>
        </pc:picChg>
      </pc:sldChg>
      <pc:sldChg chg="modSp mod">
        <pc:chgData name="Prabhjot Singh Bakshi" userId="2bc06dbbe72a50e9" providerId="LiveId" clId="{CFEAFB3B-57DD-47A2-AFE6-EB6ACF524594}" dt="2025-02-01T11:29:34.566" v="17" actId="20577"/>
        <pc:sldMkLst>
          <pc:docMk/>
          <pc:sldMk cId="1841348209" sldId="264"/>
        </pc:sldMkLst>
        <pc:spChg chg="mod">
          <ac:chgData name="Prabhjot Singh Bakshi" userId="2bc06dbbe72a50e9" providerId="LiveId" clId="{CFEAFB3B-57DD-47A2-AFE6-EB6ACF524594}" dt="2025-02-01T11:29:34.566" v="17" actId="20577"/>
          <ac:spMkLst>
            <pc:docMk/>
            <pc:sldMk cId="1841348209" sldId="264"/>
            <ac:spMk id="2" creationId="{A4848A5C-6337-F50E-6521-5BC98EF9202B}"/>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68E6A-272A-9669-E857-7E541B3914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BF767F4-FB33-8542-FC46-E29A4643FC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621667F-039F-0BC7-8B91-49F95E6D4EC2}"/>
              </a:ext>
            </a:extLst>
          </p:cNvPr>
          <p:cNvSpPr>
            <a:spLocks noGrp="1"/>
          </p:cNvSpPr>
          <p:nvPr>
            <p:ph type="dt" sz="half" idx="10"/>
          </p:nvPr>
        </p:nvSpPr>
        <p:spPr/>
        <p:txBody>
          <a:bodyPr/>
          <a:lstStyle/>
          <a:p>
            <a:fld id="{FE789988-45FA-43BC-BE13-EAAA7A5FAC29}" type="datetimeFigureOut">
              <a:rPr lang="en-IN" smtClean="0"/>
              <a:t>01-02-2025</a:t>
            </a:fld>
            <a:endParaRPr lang="en-IN"/>
          </a:p>
        </p:txBody>
      </p:sp>
      <p:sp>
        <p:nvSpPr>
          <p:cNvPr id="5" name="Footer Placeholder 4">
            <a:extLst>
              <a:ext uri="{FF2B5EF4-FFF2-40B4-BE49-F238E27FC236}">
                <a16:creationId xmlns:a16="http://schemas.microsoft.com/office/drawing/2014/main" id="{110BA492-1D35-7E84-182D-8E57EBA92F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038144-DF25-7A4C-1D55-41294922B810}"/>
              </a:ext>
            </a:extLst>
          </p:cNvPr>
          <p:cNvSpPr>
            <a:spLocks noGrp="1"/>
          </p:cNvSpPr>
          <p:nvPr>
            <p:ph type="sldNum" sz="quarter" idx="12"/>
          </p:nvPr>
        </p:nvSpPr>
        <p:spPr/>
        <p:txBody>
          <a:bodyPr/>
          <a:lstStyle/>
          <a:p>
            <a:fld id="{43A1CFE4-BE10-416F-BF1A-303FB8BEE1A8}" type="slidenum">
              <a:rPr lang="en-IN" smtClean="0"/>
              <a:t>‹#›</a:t>
            </a:fld>
            <a:endParaRPr lang="en-IN"/>
          </a:p>
        </p:txBody>
      </p:sp>
    </p:spTree>
    <p:extLst>
      <p:ext uri="{BB962C8B-B14F-4D97-AF65-F5344CB8AC3E}">
        <p14:creationId xmlns:p14="http://schemas.microsoft.com/office/powerpoint/2010/main" val="10466287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7495D-B567-D30B-BF30-4BD097F37C4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66BB21A-DC8D-4464-FCFB-EC601F306B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E319BD-BE6B-4B91-C219-C7B5603D8423}"/>
              </a:ext>
            </a:extLst>
          </p:cNvPr>
          <p:cNvSpPr>
            <a:spLocks noGrp="1"/>
          </p:cNvSpPr>
          <p:nvPr>
            <p:ph type="dt" sz="half" idx="10"/>
          </p:nvPr>
        </p:nvSpPr>
        <p:spPr/>
        <p:txBody>
          <a:bodyPr/>
          <a:lstStyle/>
          <a:p>
            <a:fld id="{FE789988-45FA-43BC-BE13-EAAA7A5FAC29}" type="datetimeFigureOut">
              <a:rPr lang="en-IN" smtClean="0"/>
              <a:t>01-02-2025</a:t>
            </a:fld>
            <a:endParaRPr lang="en-IN"/>
          </a:p>
        </p:txBody>
      </p:sp>
      <p:sp>
        <p:nvSpPr>
          <p:cNvPr id="5" name="Footer Placeholder 4">
            <a:extLst>
              <a:ext uri="{FF2B5EF4-FFF2-40B4-BE49-F238E27FC236}">
                <a16:creationId xmlns:a16="http://schemas.microsoft.com/office/drawing/2014/main" id="{26C942E7-6929-468D-27B2-C131B0C3A50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EAD8F2A-B8EB-60FD-CE2C-99FDBA8E2FBE}"/>
              </a:ext>
            </a:extLst>
          </p:cNvPr>
          <p:cNvSpPr>
            <a:spLocks noGrp="1"/>
          </p:cNvSpPr>
          <p:nvPr>
            <p:ph type="sldNum" sz="quarter" idx="12"/>
          </p:nvPr>
        </p:nvSpPr>
        <p:spPr/>
        <p:txBody>
          <a:bodyPr/>
          <a:lstStyle/>
          <a:p>
            <a:fld id="{43A1CFE4-BE10-416F-BF1A-303FB8BEE1A8}" type="slidenum">
              <a:rPr lang="en-IN" smtClean="0"/>
              <a:t>‹#›</a:t>
            </a:fld>
            <a:endParaRPr lang="en-IN"/>
          </a:p>
        </p:txBody>
      </p:sp>
    </p:spTree>
    <p:extLst>
      <p:ext uri="{BB962C8B-B14F-4D97-AF65-F5344CB8AC3E}">
        <p14:creationId xmlns:p14="http://schemas.microsoft.com/office/powerpoint/2010/main" val="22232946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474BD-2948-200B-B6F4-1B4858FA6FE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8B825DC-52B2-3DB2-0999-AF707DFB66B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5C0680-7624-B602-AC2F-98D5BC2BAD86}"/>
              </a:ext>
            </a:extLst>
          </p:cNvPr>
          <p:cNvSpPr>
            <a:spLocks noGrp="1"/>
          </p:cNvSpPr>
          <p:nvPr>
            <p:ph type="dt" sz="half" idx="10"/>
          </p:nvPr>
        </p:nvSpPr>
        <p:spPr/>
        <p:txBody>
          <a:bodyPr/>
          <a:lstStyle/>
          <a:p>
            <a:fld id="{FE789988-45FA-43BC-BE13-EAAA7A5FAC29}" type="datetimeFigureOut">
              <a:rPr lang="en-IN" smtClean="0"/>
              <a:t>01-02-2025</a:t>
            </a:fld>
            <a:endParaRPr lang="en-IN"/>
          </a:p>
        </p:txBody>
      </p:sp>
      <p:sp>
        <p:nvSpPr>
          <p:cNvPr id="5" name="Footer Placeholder 4">
            <a:extLst>
              <a:ext uri="{FF2B5EF4-FFF2-40B4-BE49-F238E27FC236}">
                <a16:creationId xmlns:a16="http://schemas.microsoft.com/office/drawing/2014/main" id="{C77173C9-A517-1623-5667-276EF8E0C32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17C451E-02AC-49D0-CE02-AB02A1DC67C4}"/>
              </a:ext>
            </a:extLst>
          </p:cNvPr>
          <p:cNvSpPr>
            <a:spLocks noGrp="1"/>
          </p:cNvSpPr>
          <p:nvPr>
            <p:ph type="sldNum" sz="quarter" idx="12"/>
          </p:nvPr>
        </p:nvSpPr>
        <p:spPr/>
        <p:txBody>
          <a:bodyPr/>
          <a:lstStyle/>
          <a:p>
            <a:fld id="{43A1CFE4-BE10-416F-BF1A-303FB8BEE1A8}" type="slidenum">
              <a:rPr lang="en-IN" smtClean="0"/>
              <a:t>‹#›</a:t>
            </a:fld>
            <a:endParaRPr lang="en-IN"/>
          </a:p>
        </p:txBody>
      </p:sp>
    </p:spTree>
    <p:extLst>
      <p:ext uri="{BB962C8B-B14F-4D97-AF65-F5344CB8AC3E}">
        <p14:creationId xmlns:p14="http://schemas.microsoft.com/office/powerpoint/2010/main" val="8624164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2B54A-E670-ACC0-DD29-B5166530F43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174FF30-E7AD-5490-4795-9218A2868AE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8947C8B-09C3-DCEA-9890-8C8F0354765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768FA3F-EB66-942F-E65E-E2CFC505CA50}"/>
              </a:ext>
            </a:extLst>
          </p:cNvPr>
          <p:cNvSpPr>
            <a:spLocks noGrp="1"/>
          </p:cNvSpPr>
          <p:nvPr>
            <p:ph type="dt" sz="half" idx="10"/>
          </p:nvPr>
        </p:nvSpPr>
        <p:spPr/>
        <p:txBody>
          <a:bodyPr/>
          <a:lstStyle/>
          <a:p>
            <a:fld id="{FE789988-45FA-43BC-BE13-EAAA7A5FAC29}" type="datetimeFigureOut">
              <a:rPr lang="en-IN" smtClean="0"/>
              <a:t>01-02-2025</a:t>
            </a:fld>
            <a:endParaRPr lang="en-IN"/>
          </a:p>
        </p:txBody>
      </p:sp>
      <p:sp>
        <p:nvSpPr>
          <p:cNvPr id="6" name="Footer Placeholder 5">
            <a:extLst>
              <a:ext uri="{FF2B5EF4-FFF2-40B4-BE49-F238E27FC236}">
                <a16:creationId xmlns:a16="http://schemas.microsoft.com/office/drawing/2014/main" id="{9A013CFD-1016-4664-E189-857F7A5B905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3009FA7-2E95-5FB1-978A-68728ECAA9AB}"/>
              </a:ext>
            </a:extLst>
          </p:cNvPr>
          <p:cNvSpPr>
            <a:spLocks noGrp="1"/>
          </p:cNvSpPr>
          <p:nvPr>
            <p:ph type="sldNum" sz="quarter" idx="12"/>
          </p:nvPr>
        </p:nvSpPr>
        <p:spPr/>
        <p:txBody>
          <a:bodyPr/>
          <a:lstStyle/>
          <a:p>
            <a:fld id="{43A1CFE4-BE10-416F-BF1A-303FB8BEE1A8}" type="slidenum">
              <a:rPr lang="en-IN" smtClean="0"/>
              <a:t>‹#›</a:t>
            </a:fld>
            <a:endParaRPr lang="en-IN"/>
          </a:p>
        </p:txBody>
      </p:sp>
    </p:spTree>
    <p:extLst>
      <p:ext uri="{BB962C8B-B14F-4D97-AF65-F5344CB8AC3E}">
        <p14:creationId xmlns:p14="http://schemas.microsoft.com/office/powerpoint/2010/main" val="34946849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8ED2-142F-679B-139C-C9946299CD1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17B3ACB-3398-B850-42F7-1E70185A99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BEE600E-6EFD-1E94-5CD2-5F40168A92B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69E7198-FD41-B70A-2693-DDE5B1AC241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389925A-FDB2-4F10-5FB8-9AE8BE415B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59BAA6A-3571-AB22-31AF-1F55CA2125FD}"/>
              </a:ext>
            </a:extLst>
          </p:cNvPr>
          <p:cNvSpPr>
            <a:spLocks noGrp="1"/>
          </p:cNvSpPr>
          <p:nvPr>
            <p:ph type="dt" sz="half" idx="10"/>
          </p:nvPr>
        </p:nvSpPr>
        <p:spPr/>
        <p:txBody>
          <a:bodyPr/>
          <a:lstStyle/>
          <a:p>
            <a:fld id="{FE789988-45FA-43BC-BE13-EAAA7A5FAC29}" type="datetimeFigureOut">
              <a:rPr lang="en-IN" smtClean="0"/>
              <a:t>01-02-2025</a:t>
            </a:fld>
            <a:endParaRPr lang="en-IN"/>
          </a:p>
        </p:txBody>
      </p:sp>
      <p:sp>
        <p:nvSpPr>
          <p:cNvPr id="8" name="Footer Placeholder 7">
            <a:extLst>
              <a:ext uri="{FF2B5EF4-FFF2-40B4-BE49-F238E27FC236}">
                <a16:creationId xmlns:a16="http://schemas.microsoft.com/office/drawing/2014/main" id="{C3DAE52C-2227-F9C3-C282-CE549399C48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93AEF1C-0520-3D11-D0E4-90EC8774F620}"/>
              </a:ext>
            </a:extLst>
          </p:cNvPr>
          <p:cNvSpPr>
            <a:spLocks noGrp="1"/>
          </p:cNvSpPr>
          <p:nvPr>
            <p:ph type="sldNum" sz="quarter" idx="12"/>
          </p:nvPr>
        </p:nvSpPr>
        <p:spPr/>
        <p:txBody>
          <a:bodyPr/>
          <a:lstStyle/>
          <a:p>
            <a:fld id="{43A1CFE4-BE10-416F-BF1A-303FB8BEE1A8}" type="slidenum">
              <a:rPr lang="en-IN" smtClean="0"/>
              <a:t>‹#›</a:t>
            </a:fld>
            <a:endParaRPr lang="en-IN"/>
          </a:p>
        </p:txBody>
      </p:sp>
    </p:spTree>
    <p:extLst>
      <p:ext uri="{BB962C8B-B14F-4D97-AF65-F5344CB8AC3E}">
        <p14:creationId xmlns:p14="http://schemas.microsoft.com/office/powerpoint/2010/main" val="36396686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E6DBC-F3AB-EBC4-24DB-29C25324FF3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C698D32-ED50-0C7E-DB30-213052EFA442}"/>
              </a:ext>
            </a:extLst>
          </p:cNvPr>
          <p:cNvSpPr>
            <a:spLocks noGrp="1"/>
          </p:cNvSpPr>
          <p:nvPr>
            <p:ph type="dt" sz="half" idx="10"/>
          </p:nvPr>
        </p:nvSpPr>
        <p:spPr/>
        <p:txBody>
          <a:bodyPr/>
          <a:lstStyle/>
          <a:p>
            <a:fld id="{FE789988-45FA-43BC-BE13-EAAA7A5FAC29}" type="datetimeFigureOut">
              <a:rPr lang="en-IN" smtClean="0"/>
              <a:t>01-02-2025</a:t>
            </a:fld>
            <a:endParaRPr lang="en-IN"/>
          </a:p>
        </p:txBody>
      </p:sp>
      <p:sp>
        <p:nvSpPr>
          <p:cNvPr id="4" name="Footer Placeholder 3">
            <a:extLst>
              <a:ext uri="{FF2B5EF4-FFF2-40B4-BE49-F238E27FC236}">
                <a16:creationId xmlns:a16="http://schemas.microsoft.com/office/drawing/2014/main" id="{6DFC1653-610C-1E43-8D9F-4A92135E0DF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C7190CA-0826-58BA-98DE-5BCB539293D7}"/>
              </a:ext>
            </a:extLst>
          </p:cNvPr>
          <p:cNvSpPr>
            <a:spLocks noGrp="1"/>
          </p:cNvSpPr>
          <p:nvPr>
            <p:ph type="sldNum" sz="quarter" idx="12"/>
          </p:nvPr>
        </p:nvSpPr>
        <p:spPr/>
        <p:txBody>
          <a:bodyPr/>
          <a:lstStyle/>
          <a:p>
            <a:fld id="{43A1CFE4-BE10-416F-BF1A-303FB8BEE1A8}" type="slidenum">
              <a:rPr lang="en-IN" smtClean="0"/>
              <a:t>‹#›</a:t>
            </a:fld>
            <a:endParaRPr lang="en-IN"/>
          </a:p>
        </p:txBody>
      </p:sp>
    </p:spTree>
    <p:extLst>
      <p:ext uri="{BB962C8B-B14F-4D97-AF65-F5344CB8AC3E}">
        <p14:creationId xmlns:p14="http://schemas.microsoft.com/office/powerpoint/2010/main" val="6556273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7E8FA8E-825C-5A21-D9C2-B12C33E7966A}"/>
              </a:ext>
            </a:extLst>
          </p:cNvPr>
          <p:cNvSpPr>
            <a:spLocks noGrp="1"/>
          </p:cNvSpPr>
          <p:nvPr>
            <p:ph type="dt" sz="half" idx="10"/>
          </p:nvPr>
        </p:nvSpPr>
        <p:spPr/>
        <p:txBody>
          <a:bodyPr/>
          <a:lstStyle/>
          <a:p>
            <a:fld id="{FE789988-45FA-43BC-BE13-EAAA7A5FAC29}" type="datetimeFigureOut">
              <a:rPr lang="en-IN" smtClean="0"/>
              <a:t>01-02-2025</a:t>
            </a:fld>
            <a:endParaRPr lang="en-IN"/>
          </a:p>
        </p:txBody>
      </p:sp>
      <p:sp>
        <p:nvSpPr>
          <p:cNvPr id="3" name="Footer Placeholder 2">
            <a:extLst>
              <a:ext uri="{FF2B5EF4-FFF2-40B4-BE49-F238E27FC236}">
                <a16:creationId xmlns:a16="http://schemas.microsoft.com/office/drawing/2014/main" id="{0FC73CB4-2736-4A58-3045-607D757A4AE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6A3F05F-14F7-1AC9-5857-09687361D0DB}"/>
              </a:ext>
            </a:extLst>
          </p:cNvPr>
          <p:cNvSpPr>
            <a:spLocks noGrp="1"/>
          </p:cNvSpPr>
          <p:nvPr>
            <p:ph type="sldNum" sz="quarter" idx="12"/>
          </p:nvPr>
        </p:nvSpPr>
        <p:spPr/>
        <p:txBody>
          <a:bodyPr/>
          <a:lstStyle/>
          <a:p>
            <a:fld id="{43A1CFE4-BE10-416F-BF1A-303FB8BEE1A8}" type="slidenum">
              <a:rPr lang="en-IN" smtClean="0"/>
              <a:t>‹#›</a:t>
            </a:fld>
            <a:endParaRPr lang="en-IN"/>
          </a:p>
        </p:txBody>
      </p:sp>
    </p:spTree>
    <p:extLst>
      <p:ext uri="{BB962C8B-B14F-4D97-AF65-F5344CB8AC3E}">
        <p14:creationId xmlns:p14="http://schemas.microsoft.com/office/powerpoint/2010/main" val="374550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A071B-8531-D284-FDC1-7379F95689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7154806-B2F9-9375-50BF-9F1D4637AD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A3762B4-FEFF-67FF-290B-4DABB639D3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1D76CD-25F4-B77C-D8AD-9FC93EBA0EDE}"/>
              </a:ext>
            </a:extLst>
          </p:cNvPr>
          <p:cNvSpPr>
            <a:spLocks noGrp="1"/>
          </p:cNvSpPr>
          <p:nvPr>
            <p:ph type="dt" sz="half" idx="10"/>
          </p:nvPr>
        </p:nvSpPr>
        <p:spPr/>
        <p:txBody>
          <a:bodyPr/>
          <a:lstStyle/>
          <a:p>
            <a:fld id="{FE789988-45FA-43BC-BE13-EAAA7A5FAC29}" type="datetimeFigureOut">
              <a:rPr lang="en-IN" smtClean="0"/>
              <a:t>01-02-2025</a:t>
            </a:fld>
            <a:endParaRPr lang="en-IN"/>
          </a:p>
        </p:txBody>
      </p:sp>
      <p:sp>
        <p:nvSpPr>
          <p:cNvPr id="6" name="Footer Placeholder 5">
            <a:extLst>
              <a:ext uri="{FF2B5EF4-FFF2-40B4-BE49-F238E27FC236}">
                <a16:creationId xmlns:a16="http://schemas.microsoft.com/office/drawing/2014/main" id="{EA932043-22A2-9548-3EAB-BDDC6A9B538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BA66C56-BA27-3AD9-327A-BDA32A7735D4}"/>
              </a:ext>
            </a:extLst>
          </p:cNvPr>
          <p:cNvSpPr>
            <a:spLocks noGrp="1"/>
          </p:cNvSpPr>
          <p:nvPr>
            <p:ph type="sldNum" sz="quarter" idx="12"/>
          </p:nvPr>
        </p:nvSpPr>
        <p:spPr/>
        <p:txBody>
          <a:bodyPr/>
          <a:lstStyle/>
          <a:p>
            <a:fld id="{43A1CFE4-BE10-416F-BF1A-303FB8BEE1A8}" type="slidenum">
              <a:rPr lang="en-IN" smtClean="0"/>
              <a:t>‹#›</a:t>
            </a:fld>
            <a:endParaRPr lang="en-IN"/>
          </a:p>
        </p:txBody>
      </p:sp>
    </p:spTree>
    <p:extLst>
      <p:ext uri="{BB962C8B-B14F-4D97-AF65-F5344CB8AC3E}">
        <p14:creationId xmlns:p14="http://schemas.microsoft.com/office/powerpoint/2010/main" val="22583907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0A3DF-A788-6E59-5E7E-45A5A55E33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EC7E20F-08E4-4A0E-75DA-7D945D69F43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F92D8B8-ABF0-5A61-880F-1BF9AACF80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DD6906-A563-40E5-9774-F89A4BA58C53}"/>
              </a:ext>
            </a:extLst>
          </p:cNvPr>
          <p:cNvSpPr>
            <a:spLocks noGrp="1"/>
          </p:cNvSpPr>
          <p:nvPr>
            <p:ph type="dt" sz="half" idx="10"/>
          </p:nvPr>
        </p:nvSpPr>
        <p:spPr/>
        <p:txBody>
          <a:bodyPr/>
          <a:lstStyle/>
          <a:p>
            <a:fld id="{FE789988-45FA-43BC-BE13-EAAA7A5FAC29}" type="datetimeFigureOut">
              <a:rPr lang="en-IN" smtClean="0"/>
              <a:t>01-02-2025</a:t>
            </a:fld>
            <a:endParaRPr lang="en-IN"/>
          </a:p>
        </p:txBody>
      </p:sp>
      <p:sp>
        <p:nvSpPr>
          <p:cNvPr id="6" name="Footer Placeholder 5">
            <a:extLst>
              <a:ext uri="{FF2B5EF4-FFF2-40B4-BE49-F238E27FC236}">
                <a16:creationId xmlns:a16="http://schemas.microsoft.com/office/drawing/2014/main" id="{3017762E-AD05-2CA1-4F7F-5BEC2EA2977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F1A0E30-A690-05A8-0652-A7190495B70B}"/>
              </a:ext>
            </a:extLst>
          </p:cNvPr>
          <p:cNvSpPr>
            <a:spLocks noGrp="1"/>
          </p:cNvSpPr>
          <p:nvPr>
            <p:ph type="sldNum" sz="quarter" idx="12"/>
          </p:nvPr>
        </p:nvSpPr>
        <p:spPr/>
        <p:txBody>
          <a:bodyPr/>
          <a:lstStyle/>
          <a:p>
            <a:fld id="{43A1CFE4-BE10-416F-BF1A-303FB8BEE1A8}" type="slidenum">
              <a:rPr lang="en-IN" smtClean="0"/>
              <a:t>‹#›</a:t>
            </a:fld>
            <a:endParaRPr lang="en-IN"/>
          </a:p>
        </p:txBody>
      </p:sp>
    </p:spTree>
    <p:extLst>
      <p:ext uri="{BB962C8B-B14F-4D97-AF65-F5344CB8AC3E}">
        <p14:creationId xmlns:p14="http://schemas.microsoft.com/office/powerpoint/2010/main" val="2817649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A5053-8D78-C191-8747-853DDE6C52F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02569B8-0BA2-4115-2FF1-B4FBD4A6E5F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30F3707-1FA9-51EE-450C-A08E2975EF01}"/>
              </a:ext>
            </a:extLst>
          </p:cNvPr>
          <p:cNvSpPr>
            <a:spLocks noGrp="1"/>
          </p:cNvSpPr>
          <p:nvPr>
            <p:ph type="dt" sz="half" idx="10"/>
          </p:nvPr>
        </p:nvSpPr>
        <p:spPr/>
        <p:txBody>
          <a:bodyPr/>
          <a:lstStyle/>
          <a:p>
            <a:fld id="{FE789988-45FA-43BC-BE13-EAAA7A5FAC29}" type="datetimeFigureOut">
              <a:rPr lang="en-IN" smtClean="0"/>
              <a:t>01-02-2025</a:t>
            </a:fld>
            <a:endParaRPr lang="en-IN"/>
          </a:p>
        </p:txBody>
      </p:sp>
      <p:sp>
        <p:nvSpPr>
          <p:cNvPr id="5" name="Footer Placeholder 4">
            <a:extLst>
              <a:ext uri="{FF2B5EF4-FFF2-40B4-BE49-F238E27FC236}">
                <a16:creationId xmlns:a16="http://schemas.microsoft.com/office/drawing/2014/main" id="{54B84DC3-6DE9-8B39-2D39-0389C98821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F28FB8C-5C84-6B4C-3B34-6F8D69D477DA}"/>
              </a:ext>
            </a:extLst>
          </p:cNvPr>
          <p:cNvSpPr>
            <a:spLocks noGrp="1"/>
          </p:cNvSpPr>
          <p:nvPr>
            <p:ph type="sldNum" sz="quarter" idx="12"/>
          </p:nvPr>
        </p:nvSpPr>
        <p:spPr/>
        <p:txBody>
          <a:bodyPr/>
          <a:lstStyle/>
          <a:p>
            <a:fld id="{43A1CFE4-BE10-416F-BF1A-303FB8BEE1A8}" type="slidenum">
              <a:rPr lang="en-IN" smtClean="0"/>
              <a:t>‹#›</a:t>
            </a:fld>
            <a:endParaRPr lang="en-IN"/>
          </a:p>
        </p:txBody>
      </p:sp>
    </p:spTree>
    <p:extLst>
      <p:ext uri="{BB962C8B-B14F-4D97-AF65-F5344CB8AC3E}">
        <p14:creationId xmlns:p14="http://schemas.microsoft.com/office/powerpoint/2010/main" val="19679495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57B9640-31A6-C762-C151-C2D7F7F0D1B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DEEE4A3-F2A4-1321-1DA5-18B29095B85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A062D51-611B-62A0-928E-211DAEFF6DE8}"/>
              </a:ext>
            </a:extLst>
          </p:cNvPr>
          <p:cNvSpPr>
            <a:spLocks noGrp="1"/>
          </p:cNvSpPr>
          <p:nvPr>
            <p:ph type="dt" sz="half" idx="10"/>
          </p:nvPr>
        </p:nvSpPr>
        <p:spPr/>
        <p:txBody>
          <a:bodyPr/>
          <a:lstStyle/>
          <a:p>
            <a:fld id="{FE789988-45FA-43BC-BE13-EAAA7A5FAC29}" type="datetimeFigureOut">
              <a:rPr lang="en-IN" smtClean="0"/>
              <a:t>01-02-2025</a:t>
            </a:fld>
            <a:endParaRPr lang="en-IN"/>
          </a:p>
        </p:txBody>
      </p:sp>
      <p:sp>
        <p:nvSpPr>
          <p:cNvPr id="5" name="Footer Placeholder 4">
            <a:extLst>
              <a:ext uri="{FF2B5EF4-FFF2-40B4-BE49-F238E27FC236}">
                <a16:creationId xmlns:a16="http://schemas.microsoft.com/office/drawing/2014/main" id="{EC0D34BA-7A78-8B82-E2AE-31C82F4D6F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A79160-0C62-E21D-4C82-AFE63DD4174A}"/>
              </a:ext>
            </a:extLst>
          </p:cNvPr>
          <p:cNvSpPr>
            <a:spLocks noGrp="1"/>
          </p:cNvSpPr>
          <p:nvPr>
            <p:ph type="sldNum" sz="quarter" idx="12"/>
          </p:nvPr>
        </p:nvSpPr>
        <p:spPr/>
        <p:txBody>
          <a:bodyPr/>
          <a:lstStyle/>
          <a:p>
            <a:fld id="{43A1CFE4-BE10-416F-BF1A-303FB8BEE1A8}" type="slidenum">
              <a:rPr lang="en-IN" smtClean="0"/>
              <a:t>‹#›</a:t>
            </a:fld>
            <a:endParaRPr lang="en-IN"/>
          </a:p>
        </p:txBody>
      </p:sp>
    </p:spTree>
    <p:extLst>
      <p:ext uri="{BB962C8B-B14F-4D97-AF65-F5344CB8AC3E}">
        <p14:creationId xmlns:p14="http://schemas.microsoft.com/office/powerpoint/2010/main" val="115263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71F9BFA-EA21-9BD2-C93C-613EBAEA8C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B79CD6E-1274-9BB7-4980-A723BBE2EDD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1C3B242-E8F7-8C1B-698D-792FD950EB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E789988-45FA-43BC-BE13-EAAA7A5FAC29}" type="datetimeFigureOut">
              <a:rPr lang="en-IN" smtClean="0"/>
              <a:t>01-02-2025</a:t>
            </a:fld>
            <a:endParaRPr lang="en-IN"/>
          </a:p>
        </p:txBody>
      </p:sp>
      <p:sp>
        <p:nvSpPr>
          <p:cNvPr id="5" name="Footer Placeholder 4">
            <a:extLst>
              <a:ext uri="{FF2B5EF4-FFF2-40B4-BE49-F238E27FC236}">
                <a16:creationId xmlns:a16="http://schemas.microsoft.com/office/drawing/2014/main" id="{9282A87C-0C9C-3F09-BE54-B1BD5CD4E3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B56F2BAB-248F-1244-AE17-2EC8132071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3A1CFE4-BE10-416F-BF1A-303FB8BEE1A8}" type="slidenum">
              <a:rPr lang="en-IN" smtClean="0"/>
              <a:t>‹#›</a:t>
            </a:fld>
            <a:endParaRPr lang="en-IN"/>
          </a:p>
        </p:txBody>
      </p:sp>
    </p:spTree>
    <p:extLst>
      <p:ext uri="{BB962C8B-B14F-4D97-AF65-F5344CB8AC3E}">
        <p14:creationId xmlns:p14="http://schemas.microsoft.com/office/powerpoint/2010/main" val="30202237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3" name="Rectangle 1032">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8094AA-6450-EC1D-6700-8556B7F5CCBE}"/>
              </a:ext>
            </a:extLst>
          </p:cNvPr>
          <p:cNvSpPr>
            <a:spLocks noGrp="1"/>
          </p:cNvSpPr>
          <p:nvPr>
            <p:ph type="ctrTitle"/>
          </p:nvPr>
        </p:nvSpPr>
        <p:spPr>
          <a:xfrm>
            <a:off x="1113810" y="2464652"/>
            <a:ext cx="4036334" cy="2387600"/>
          </a:xfrm>
        </p:spPr>
        <p:txBody>
          <a:bodyPr anchor="t">
            <a:normAutofit/>
          </a:bodyPr>
          <a:lstStyle/>
          <a:p>
            <a:r>
              <a:rPr lang="en-US" sz="5400" dirty="0"/>
              <a:t>Working With Delta Tables </a:t>
            </a:r>
            <a:endParaRPr lang="en-IN" sz="5400" dirty="0"/>
          </a:p>
        </p:txBody>
      </p:sp>
      <p:grpSp>
        <p:nvGrpSpPr>
          <p:cNvPr id="1035" name="Group 1034">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1036" name="Rectangle 1035">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8" name="Rectangle 1037">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40" name="Rectangle 1039">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2" name="Rectangle 1041">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More New Features for Microsoft Fabric as it approaches Go ...">
            <a:extLst>
              <a:ext uri="{FF2B5EF4-FFF2-40B4-BE49-F238E27FC236}">
                <a16:creationId xmlns:a16="http://schemas.microsoft.com/office/drawing/2014/main" id="{7F47F481-8BFB-97BE-18ED-0AC8EEDEF11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957597" y="666728"/>
            <a:ext cx="5465791" cy="54657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63827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CD276E-8425-8170-872D-D7B44326E666}"/>
              </a:ext>
            </a:extLst>
          </p:cNvPr>
          <p:cNvSpPr>
            <a:spLocks noGrp="1"/>
          </p:cNvSpPr>
          <p:nvPr>
            <p:ph type="title"/>
          </p:nvPr>
        </p:nvSpPr>
        <p:spPr>
          <a:xfrm>
            <a:off x="793662" y="386930"/>
            <a:ext cx="10066122" cy="1298448"/>
          </a:xfrm>
        </p:spPr>
        <p:txBody>
          <a:bodyPr vert="horz" lIns="91440" tIns="45720" rIns="91440" bIns="45720" rtlCol="0" anchor="b">
            <a:normAutofit/>
          </a:bodyPr>
          <a:lstStyle/>
          <a:p>
            <a:r>
              <a:rPr lang="en-US" sz="4800" kern="1200">
                <a:solidFill>
                  <a:schemeClr val="tx1"/>
                </a:solidFill>
                <a:latin typeface="+mj-lt"/>
                <a:ea typeface="+mj-ea"/>
                <a:cs typeface="+mj-cs"/>
              </a:rPr>
              <a:t>Delta Tables</a:t>
            </a:r>
          </a:p>
        </p:txBody>
      </p:sp>
      <p:sp>
        <p:nvSpPr>
          <p:cNvPr id="2057" name="Rectangle 2056">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9" name="Rectangle 2058">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07D9AB3-052E-5BB2-F5F3-04609B2CC357}"/>
              </a:ext>
            </a:extLst>
          </p:cNvPr>
          <p:cNvSpPr txBox="1"/>
          <p:nvPr/>
        </p:nvSpPr>
        <p:spPr>
          <a:xfrm>
            <a:off x="793661" y="2599509"/>
            <a:ext cx="4530898" cy="3639450"/>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2000" b="0" i="0" dirty="0">
                <a:effectLst/>
              </a:rPr>
              <a:t>Delta Lake is an open-source storage layer that adds relational database semantics to Spark-based data lake processing.</a:t>
            </a:r>
          </a:p>
          <a:p>
            <a:pPr indent="-228600">
              <a:lnSpc>
                <a:spcPct val="90000"/>
              </a:lnSpc>
              <a:spcAft>
                <a:spcPts val="600"/>
              </a:spcAft>
              <a:buFont typeface="Arial" panose="020B0604020202020204" pitchFamily="34" charset="0"/>
              <a:buChar char="•"/>
            </a:pPr>
            <a:endParaRPr lang="en-US" sz="2000" dirty="0"/>
          </a:p>
          <a:p>
            <a:pPr indent="-228600">
              <a:lnSpc>
                <a:spcPct val="90000"/>
              </a:lnSpc>
              <a:spcAft>
                <a:spcPts val="600"/>
              </a:spcAft>
              <a:buFont typeface="Arial" panose="020B0604020202020204" pitchFamily="34" charset="0"/>
              <a:buChar char="•"/>
            </a:pPr>
            <a:r>
              <a:rPr lang="en-US" sz="2000" b="0" i="0" dirty="0">
                <a:effectLst/>
              </a:rPr>
              <a:t>Delta tables are schema abstractions over data files that are stored in Delta format. For each table, the </a:t>
            </a:r>
            <a:r>
              <a:rPr lang="en-US" sz="2000" b="0" i="0" dirty="0" err="1">
                <a:effectLst/>
              </a:rPr>
              <a:t>lakehouse</a:t>
            </a:r>
            <a:r>
              <a:rPr lang="en-US" sz="2000" b="0" i="0" dirty="0">
                <a:effectLst/>
              </a:rPr>
              <a:t> stores a folder containing </a:t>
            </a:r>
            <a:r>
              <a:rPr lang="en-US" sz="2000" b="0" i="1" dirty="0">
                <a:effectLst/>
              </a:rPr>
              <a:t>Parquet</a:t>
            </a:r>
            <a:r>
              <a:rPr lang="en-US" sz="2000" b="0" i="0" dirty="0">
                <a:effectLst/>
              </a:rPr>
              <a:t> data files and a </a:t>
            </a:r>
            <a:r>
              <a:rPr lang="en-US" sz="2000" b="1" i="0" dirty="0">
                <a:effectLst/>
              </a:rPr>
              <a:t>_</a:t>
            </a:r>
            <a:r>
              <a:rPr lang="en-US" sz="2000" b="1" i="0" dirty="0" err="1">
                <a:effectLst/>
              </a:rPr>
              <a:t>delta_Log</a:t>
            </a:r>
            <a:r>
              <a:rPr lang="en-US" sz="2000" b="0" i="0" dirty="0">
                <a:effectLst/>
              </a:rPr>
              <a:t> folder in which transaction details are logged in JSON format.</a:t>
            </a:r>
            <a:endParaRPr lang="en-US" sz="2000" dirty="0"/>
          </a:p>
        </p:txBody>
      </p:sp>
      <p:pic>
        <p:nvPicPr>
          <p:cNvPr id="2050" name="Picture 2" descr="First impression of Microsoft Fabric – Small Data And self service">
            <a:extLst>
              <a:ext uri="{FF2B5EF4-FFF2-40B4-BE49-F238E27FC236}">
                <a16:creationId xmlns:a16="http://schemas.microsoft.com/office/drawing/2014/main" id="{51CB12D5-6889-B379-6171-4FA74B8ACD4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5911532" y="2854235"/>
            <a:ext cx="5150277" cy="2974284"/>
          </a:xfrm>
          <a:prstGeom prst="rect">
            <a:avLst/>
          </a:prstGeom>
          <a:noFill/>
          <a:extLst>
            <a:ext uri="{909E8E84-426E-40DD-AFC4-6F175D3DCCD1}">
              <a14:hiddenFill xmlns:a14="http://schemas.microsoft.com/office/drawing/2010/main">
                <a:solidFill>
                  <a:srgbClr val="FFFFFF"/>
                </a:solidFill>
              </a14:hiddenFill>
            </a:ext>
          </a:extLst>
        </p:spPr>
      </p:pic>
      <p:sp>
        <p:nvSpPr>
          <p:cNvPr id="2061" name="Rectangle 2060">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006373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D3A42DC-E401-118B-2B7A-F9327B65C8D0}"/>
              </a:ext>
            </a:extLst>
          </p:cNvPr>
          <p:cNvSpPr>
            <a:spLocks noGrp="1"/>
          </p:cNvSpPr>
          <p:nvPr>
            <p:ph type="title"/>
          </p:nvPr>
        </p:nvSpPr>
        <p:spPr>
          <a:xfrm>
            <a:off x="793662" y="386930"/>
            <a:ext cx="10066122" cy="1298448"/>
          </a:xfrm>
        </p:spPr>
        <p:txBody>
          <a:bodyPr vert="horz" lIns="91440" tIns="45720" rIns="91440" bIns="45720" rtlCol="0" anchor="b">
            <a:normAutofit/>
          </a:bodyPr>
          <a:lstStyle/>
          <a:p>
            <a:r>
              <a:rPr lang="en-US" sz="4800" kern="1200" dirty="0">
                <a:solidFill>
                  <a:schemeClr val="tx1"/>
                </a:solidFill>
                <a:latin typeface="+mj-lt"/>
                <a:ea typeface="+mj-ea"/>
                <a:cs typeface="+mj-cs"/>
              </a:rPr>
              <a:t>External and Managed Delta Tables</a:t>
            </a:r>
          </a:p>
        </p:txBody>
      </p:sp>
      <p:sp>
        <p:nvSpPr>
          <p:cNvPr id="3081" name="Rectangle 308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3" name="Rectangle 308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071145D-5DA7-A4E2-795C-A1610365EE5D}"/>
              </a:ext>
            </a:extLst>
          </p:cNvPr>
          <p:cNvSpPr txBox="1"/>
          <p:nvPr/>
        </p:nvSpPr>
        <p:spPr>
          <a:xfrm>
            <a:off x="793661" y="2599509"/>
            <a:ext cx="4530898" cy="3639450"/>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1900" dirty="0"/>
              <a:t>Managed Tables: In managed tables, the table definition in the </a:t>
            </a:r>
            <a:r>
              <a:rPr lang="en-US" sz="1900" dirty="0" err="1"/>
              <a:t>metastore</a:t>
            </a:r>
            <a:r>
              <a:rPr lang="en-US" sz="1900" dirty="0"/>
              <a:t> and the underlying data files are both managed by the Spark runtime for the Fabric </a:t>
            </a:r>
            <a:r>
              <a:rPr lang="en-US" sz="1900" dirty="0" err="1"/>
              <a:t>lakehouse</a:t>
            </a:r>
            <a:r>
              <a:rPr lang="en-US" sz="1900" dirty="0"/>
              <a:t>. Deleting the table will also delete the underlying files from the Tables storage location for the </a:t>
            </a:r>
            <a:r>
              <a:rPr lang="en-US" sz="1900" dirty="0" err="1"/>
              <a:t>lakehouse</a:t>
            </a:r>
            <a:r>
              <a:rPr lang="en-US" sz="1900" dirty="0"/>
              <a:t>.</a:t>
            </a:r>
          </a:p>
          <a:p>
            <a:pPr indent="-228600">
              <a:lnSpc>
                <a:spcPct val="90000"/>
              </a:lnSpc>
              <a:spcAft>
                <a:spcPts val="600"/>
              </a:spcAft>
              <a:buFont typeface="Arial" panose="020B0604020202020204" pitchFamily="34" charset="0"/>
              <a:buChar char="•"/>
            </a:pPr>
            <a:endParaRPr lang="en-US" sz="1900" dirty="0"/>
          </a:p>
          <a:p>
            <a:pPr indent="-228600">
              <a:lnSpc>
                <a:spcPct val="90000"/>
              </a:lnSpc>
              <a:spcAft>
                <a:spcPts val="600"/>
              </a:spcAft>
              <a:buFont typeface="Arial" panose="020B0604020202020204" pitchFamily="34" charset="0"/>
              <a:buChar char="•"/>
            </a:pPr>
            <a:r>
              <a:rPr lang="en-US" sz="1900" dirty="0"/>
              <a:t>External Tables: In external tables, the relational table definition in the </a:t>
            </a:r>
            <a:r>
              <a:rPr lang="en-US" sz="1900" dirty="0" err="1"/>
              <a:t>metastore</a:t>
            </a:r>
            <a:r>
              <a:rPr lang="en-US" sz="1900" dirty="0"/>
              <a:t> is mapped to an alternative file storage location. Deleting the external table will not delete the underlying files</a:t>
            </a:r>
          </a:p>
        </p:txBody>
      </p:sp>
      <p:pic>
        <p:nvPicPr>
          <p:cNvPr id="3074" name="Picture 2" descr="Creating Managed and External Spark Tables in Fabric Lakehouse | by Aitor  Murguzur | Medium">
            <a:extLst>
              <a:ext uri="{FF2B5EF4-FFF2-40B4-BE49-F238E27FC236}">
                <a16:creationId xmlns:a16="http://schemas.microsoft.com/office/drawing/2014/main" id="{2259AD14-BD8C-3F58-9779-79EEC0ADCFE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5216912" y="2870521"/>
            <a:ext cx="6150088" cy="2829039"/>
          </a:xfrm>
          <a:prstGeom prst="rect">
            <a:avLst/>
          </a:prstGeom>
          <a:noFill/>
          <a:extLst>
            <a:ext uri="{909E8E84-426E-40DD-AFC4-6F175D3DCCD1}">
              <a14:hiddenFill xmlns:a14="http://schemas.microsoft.com/office/drawing/2010/main">
                <a:solidFill>
                  <a:srgbClr val="FFFFFF"/>
                </a:solidFill>
              </a14:hiddenFill>
            </a:ext>
          </a:extLst>
        </p:spPr>
      </p:pic>
      <p:sp>
        <p:nvSpPr>
          <p:cNvPr id="3085" name="Rectangle 308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80417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F7E2296-4419-2BC6-23FF-5ADB63379006}"/>
              </a:ext>
            </a:extLst>
          </p:cNvPr>
          <p:cNvSpPr txBox="1"/>
          <p:nvPr/>
        </p:nvSpPr>
        <p:spPr>
          <a:xfrm>
            <a:off x="3679371" y="560137"/>
            <a:ext cx="4212771" cy="584775"/>
          </a:xfrm>
          <a:prstGeom prst="rect">
            <a:avLst/>
          </a:prstGeom>
          <a:ln w="28575"/>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sz="3200" dirty="0"/>
              <a:t>Managed Delta Table</a:t>
            </a:r>
            <a:endParaRPr lang="en-IN" sz="3200" dirty="0"/>
          </a:p>
        </p:txBody>
      </p:sp>
      <p:sp>
        <p:nvSpPr>
          <p:cNvPr id="9" name="TextBox 8">
            <a:extLst>
              <a:ext uri="{FF2B5EF4-FFF2-40B4-BE49-F238E27FC236}">
                <a16:creationId xmlns:a16="http://schemas.microsoft.com/office/drawing/2014/main" id="{B7182CCA-13BA-983E-D7EF-1E588E400DF2}"/>
              </a:ext>
            </a:extLst>
          </p:cNvPr>
          <p:cNvSpPr txBox="1"/>
          <p:nvPr/>
        </p:nvSpPr>
        <p:spPr>
          <a:xfrm>
            <a:off x="3820885" y="4054451"/>
            <a:ext cx="4212771" cy="584775"/>
          </a:xfrm>
          <a:prstGeom prst="rect">
            <a:avLst/>
          </a:prstGeom>
          <a:ln w="28575"/>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sz="3200" dirty="0"/>
              <a:t>External Delta Table</a:t>
            </a:r>
            <a:endParaRPr lang="en-IN" sz="3200" dirty="0"/>
          </a:p>
        </p:txBody>
      </p:sp>
      <p:sp>
        <p:nvSpPr>
          <p:cNvPr id="10" name="Text Placeholder 2">
            <a:extLst>
              <a:ext uri="{FF2B5EF4-FFF2-40B4-BE49-F238E27FC236}">
                <a16:creationId xmlns:a16="http://schemas.microsoft.com/office/drawing/2014/main" id="{EE1D3A32-67AF-07FC-E5AD-6255A74F953D}"/>
              </a:ext>
            </a:extLst>
          </p:cNvPr>
          <p:cNvSpPr txBox="1">
            <a:spLocks/>
          </p:cNvSpPr>
          <p:nvPr/>
        </p:nvSpPr>
        <p:spPr>
          <a:xfrm>
            <a:off x="1039495" y="1403363"/>
            <a:ext cx="10113009" cy="1785104"/>
          </a:xfrm>
          <a:prstGeom prst="rect">
            <a:avLst/>
          </a:prstGeom>
          <a:solidFill>
            <a:schemeClr val="bg1"/>
          </a:solidFill>
          <a:ln w="38100">
            <a:solidFill>
              <a:schemeClr val="bg1">
                <a:lumMod val="95000"/>
              </a:schemeClr>
            </a:solidFill>
          </a:ln>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7432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41148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37160" lvl="1" indent="0">
              <a:buNone/>
            </a:pPr>
            <a:r>
              <a:rPr lang="en-US" sz="2000" dirty="0">
                <a:solidFill>
                  <a:schemeClr val="accent6"/>
                </a:solidFill>
                <a:latin typeface="Consolas" panose="020B0609020204030204" pitchFamily="49" charset="0"/>
              </a:rPr>
              <a:t># Load a file into a </a:t>
            </a:r>
            <a:r>
              <a:rPr lang="en-US" sz="2000" dirty="0" err="1">
                <a:solidFill>
                  <a:schemeClr val="accent6"/>
                </a:solidFill>
                <a:latin typeface="Consolas" panose="020B0609020204030204" pitchFamily="49" charset="0"/>
              </a:rPr>
              <a:t>dataframe</a:t>
            </a:r>
            <a:endParaRPr lang="en-US" sz="2000" dirty="0">
              <a:solidFill>
                <a:schemeClr val="accent6"/>
              </a:solidFill>
              <a:latin typeface="Consolas" panose="020B0609020204030204" pitchFamily="49" charset="0"/>
            </a:endParaRPr>
          </a:p>
          <a:p>
            <a:pPr marL="137160" lvl="1" indent="0">
              <a:buNone/>
            </a:pPr>
            <a:r>
              <a:rPr lang="en-US" sz="2000" dirty="0" err="1">
                <a:latin typeface="Consolas" panose="020B0609020204030204" pitchFamily="49" charset="0"/>
              </a:rPr>
              <a:t>df</a:t>
            </a:r>
            <a:r>
              <a:rPr lang="en-US" sz="2000" dirty="0">
                <a:latin typeface="Consolas" panose="020B0609020204030204" pitchFamily="49" charset="0"/>
              </a:rPr>
              <a:t> = </a:t>
            </a:r>
            <a:r>
              <a:rPr lang="en-US" sz="2000" dirty="0" err="1">
                <a:latin typeface="Consolas" panose="020B0609020204030204" pitchFamily="49" charset="0"/>
              </a:rPr>
              <a:t>spark.read.load</a:t>
            </a:r>
            <a:r>
              <a:rPr lang="en-US" sz="2000" dirty="0">
                <a:latin typeface="Consolas" panose="020B0609020204030204" pitchFamily="49" charset="0"/>
              </a:rPr>
              <a:t>(‘Files/mydata.csv’, format=‘csv’, header=True)</a:t>
            </a:r>
          </a:p>
          <a:p>
            <a:pPr marL="137160" lvl="1" indent="0">
              <a:buNone/>
            </a:pPr>
            <a:endParaRPr lang="en-US" sz="2000" dirty="0">
              <a:latin typeface="Consolas" panose="020B0609020204030204" pitchFamily="49" charset="0"/>
            </a:endParaRPr>
          </a:p>
          <a:p>
            <a:pPr marL="137160" lvl="1" indent="0">
              <a:buNone/>
            </a:pPr>
            <a:r>
              <a:rPr lang="en-US" sz="2000" dirty="0">
                <a:solidFill>
                  <a:schemeClr val="accent6"/>
                </a:solidFill>
                <a:latin typeface="Consolas" panose="020B0609020204030204" pitchFamily="49" charset="0"/>
              </a:rPr>
              <a:t># Save the </a:t>
            </a:r>
            <a:r>
              <a:rPr lang="en-US" sz="2000" dirty="0" err="1">
                <a:solidFill>
                  <a:schemeClr val="accent6"/>
                </a:solidFill>
                <a:latin typeface="Consolas" panose="020B0609020204030204" pitchFamily="49" charset="0"/>
              </a:rPr>
              <a:t>dataframe</a:t>
            </a:r>
            <a:r>
              <a:rPr lang="en-US" sz="2000" dirty="0">
                <a:solidFill>
                  <a:schemeClr val="accent6"/>
                </a:solidFill>
                <a:latin typeface="Consolas" panose="020B0609020204030204" pitchFamily="49" charset="0"/>
              </a:rPr>
              <a:t> as a delta table</a:t>
            </a:r>
          </a:p>
          <a:p>
            <a:pPr marL="137160" lvl="1" indent="0">
              <a:buNone/>
            </a:pPr>
            <a:r>
              <a:rPr lang="en-US" sz="2000" dirty="0" err="1">
                <a:latin typeface="Consolas" panose="020B0609020204030204" pitchFamily="49" charset="0"/>
              </a:rPr>
              <a:t>df.write.format</a:t>
            </a:r>
            <a:r>
              <a:rPr lang="en-US" sz="2000" dirty="0">
                <a:latin typeface="Consolas" panose="020B0609020204030204" pitchFamily="49" charset="0"/>
              </a:rPr>
              <a:t>(“delta”).</a:t>
            </a:r>
            <a:r>
              <a:rPr lang="en-US" sz="2000" dirty="0" err="1">
                <a:latin typeface="Consolas" panose="020B0609020204030204" pitchFamily="49" charset="0"/>
              </a:rPr>
              <a:t>saveAsTable</a:t>
            </a:r>
            <a:r>
              <a:rPr lang="en-US" sz="2000" dirty="0">
                <a:latin typeface="Consolas" panose="020B0609020204030204" pitchFamily="49" charset="0"/>
              </a:rPr>
              <a:t>(“</a:t>
            </a:r>
            <a:r>
              <a:rPr lang="en-US" sz="2000" dirty="0" err="1">
                <a:latin typeface="Consolas" panose="020B0609020204030204" pitchFamily="49" charset="0"/>
              </a:rPr>
              <a:t>mytable</a:t>
            </a:r>
            <a:r>
              <a:rPr lang="en-US" sz="2000" dirty="0">
                <a:latin typeface="Consolas" panose="020B0609020204030204" pitchFamily="49" charset="0"/>
              </a:rPr>
              <a:t>”)</a:t>
            </a:r>
          </a:p>
        </p:txBody>
      </p:sp>
      <p:sp>
        <p:nvSpPr>
          <p:cNvPr id="13" name="Text Placeholder 2">
            <a:extLst>
              <a:ext uri="{FF2B5EF4-FFF2-40B4-BE49-F238E27FC236}">
                <a16:creationId xmlns:a16="http://schemas.microsoft.com/office/drawing/2014/main" id="{E8AC5E6F-A2C1-6BFE-F1FE-E4A725F7526E}"/>
              </a:ext>
            </a:extLst>
          </p:cNvPr>
          <p:cNvSpPr txBox="1">
            <a:spLocks/>
          </p:cNvSpPr>
          <p:nvPr/>
        </p:nvSpPr>
        <p:spPr>
          <a:xfrm>
            <a:off x="51705" y="5166656"/>
            <a:ext cx="12088587" cy="677108"/>
          </a:xfrm>
          <a:prstGeom prst="rect">
            <a:avLst/>
          </a:prstGeom>
          <a:solidFill>
            <a:schemeClr val="bg1"/>
          </a:solidFill>
          <a:ln w="38100">
            <a:solidFill>
              <a:schemeClr val="bg1">
                <a:lumMod val="95000"/>
              </a:schemeClr>
            </a:solidFill>
          </a:ln>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7432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41148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37160" lvl="1" indent="0">
              <a:buNone/>
            </a:pPr>
            <a:r>
              <a:rPr lang="en-US" sz="2000" dirty="0">
                <a:solidFill>
                  <a:schemeClr val="accent6"/>
                </a:solidFill>
                <a:latin typeface="Consolas" panose="020B0609020204030204" pitchFamily="49" charset="0"/>
              </a:rPr>
              <a:t># Saving </a:t>
            </a:r>
            <a:r>
              <a:rPr lang="en-US" sz="2000" dirty="0" err="1">
                <a:solidFill>
                  <a:schemeClr val="accent6"/>
                </a:solidFill>
                <a:latin typeface="Consolas" panose="020B0609020204030204" pitchFamily="49" charset="0"/>
              </a:rPr>
              <a:t>dataframe</a:t>
            </a:r>
            <a:r>
              <a:rPr lang="en-US" sz="2000" dirty="0">
                <a:solidFill>
                  <a:schemeClr val="accent6"/>
                </a:solidFill>
                <a:latin typeface="Consolas" panose="020B0609020204030204" pitchFamily="49" charset="0"/>
              </a:rPr>
              <a:t> “</a:t>
            </a:r>
            <a:r>
              <a:rPr lang="en-US" sz="2000" dirty="0" err="1">
                <a:solidFill>
                  <a:schemeClr val="accent6"/>
                </a:solidFill>
                <a:latin typeface="Consolas" panose="020B0609020204030204" pitchFamily="49" charset="0"/>
              </a:rPr>
              <a:t>df</a:t>
            </a:r>
            <a:r>
              <a:rPr lang="en-US" sz="2000" dirty="0">
                <a:solidFill>
                  <a:schemeClr val="accent6"/>
                </a:solidFill>
                <a:latin typeface="Consolas" panose="020B0609020204030204" pitchFamily="49" charset="0"/>
              </a:rPr>
              <a:t>” as an external table</a:t>
            </a:r>
          </a:p>
          <a:p>
            <a:pPr marL="137160" lvl="1" indent="0">
              <a:buNone/>
            </a:pPr>
            <a:r>
              <a:rPr lang="en-US" sz="2000" dirty="0" err="1">
                <a:latin typeface="Consolas" panose="020B0609020204030204" pitchFamily="49" charset="0"/>
              </a:rPr>
              <a:t>df.write.format</a:t>
            </a:r>
            <a:r>
              <a:rPr lang="en-US" sz="2000" dirty="0">
                <a:latin typeface="Consolas" panose="020B0609020204030204" pitchFamily="49" charset="0"/>
              </a:rPr>
              <a:t>(“delta”).</a:t>
            </a:r>
            <a:r>
              <a:rPr lang="en-US" sz="2000" dirty="0" err="1">
                <a:latin typeface="Consolas" panose="020B0609020204030204" pitchFamily="49" charset="0"/>
              </a:rPr>
              <a:t>saveAsTable</a:t>
            </a:r>
            <a:r>
              <a:rPr lang="en-US" sz="2000" dirty="0">
                <a:latin typeface="Consolas" panose="020B0609020204030204" pitchFamily="49" charset="0"/>
              </a:rPr>
              <a:t>(“</a:t>
            </a:r>
            <a:r>
              <a:rPr lang="en-US" sz="2000" dirty="0" err="1">
                <a:latin typeface="Consolas" panose="020B0609020204030204" pitchFamily="49" charset="0"/>
              </a:rPr>
              <a:t>myexternaltable</a:t>
            </a:r>
            <a:r>
              <a:rPr lang="en-US" sz="2000" dirty="0">
                <a:latin typeface="Consolas" panose="020B0609020204030204" pitchFamily="49" charset="0"/>
              </a:rPr>
              <a:t>”, path=“Files/</a:t>
            </a:r>
            <a:r>
              <a:rPr lang="en-US" sz="2000" dirty="0" err="1">
                <a:latin typeface="Consolas" panose="020B0609020204030204" pitchFamily="49" charset="0"/>
              </a:rPr>
              <a:t>myexternaltable</a:t>
            </a:r>
            <a:r>
              <a:rPr lang="en-US" sz="2000" dirty="0">
                <a:latin typeface="Consolas" panose="020B0609020204030204" pitchFamily="49" charset="0"/>
              </a:rPr>
              <a:t>”)</a:t>
            </a:r>
          </a:p>
        </p:txBody>
      </p:sp>
    </p:spTree>
    <p:extLst>
      <p:ext uri="{BB962C8B-B14F-4D97-AF65-F5344CB8AC3E}">
        <p14:creationId xmlns:p14="http://schemas.microsoft.com/office/powerpoint/2010/main" val="678390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34AC707-D262-877B-9332-A5A31574AF0A}"/>
              </a:ext>
            </a:extLst>
          </p:cNvPr>
          <p:cNvSpPr>
            <a:spLocks noGrp="1"/>
          </p:cNvSpPr>
          <p:nvPr>
            <p:ph type="title"/>
          </p:nvPr>
        </p:nvSpPr>
        <p:spPr>
          <a:xfrm>
            <a:off x="793662" y="386930"/>
            <a:ext cx="10066122" cy="1298448"/>
          </a:xfrm>
        </p:spPr>
        <p:txBody>
          <a:bodyPr anchor="b">
            <a:normAutofit/>
          </a:bodyPr>
          <a:lstStyle/>
          <a:p>
            <a:r>
              <a:rPr lang="en-US" sz="4800"/>
              <a:t>Using Delta Tables for Streaming Data</a:t>
            </a:r>
            <a:endParaRPr lang="en-IN" sz="4800"/>
          </a:p>
        </p:txBody>
      </p:sp>
      <p:sp>
        <p:nvSpPr>
          <p:cNvPr id="12" name="Rectangle 1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3848CD9-0ED8-6736-68E2-C06A497BE920}"/>
              </a:ext>
            </a:extLst>
          </p:cNvPr>
          <p:cNvSpPr>
            <a:spLocks noGrp="1"/>
          </p:cNvSpPr>
          <p:nvPr>
            <p:ph idx="1"/>
          </p:nvPr>
        </p:nvSpPr>
        <p:spPr>
          <a:xfrm>
            <a:off x="737407" y="2421253"/>
            <a:ext cx="4530898" cy="3639450"/>
          </a:xfrm>
        </p:spPr>
        <p:txBody>
          <a:bodyPr anchor="ctr">
            <a:normAutofit/>
          </a:bodyPr>
          <a:lstStyle/>
          <a:p>
            <a:pPr marL="0" indent="0">
              <a:buNone/>
            </a:pPr>
            <a:r>
              <a:rPr lang="en-US" sz="1700" dirty="0"/>
              <a:t>Spark includes native support for streaming data through Spark Structured Streaming, an API that is based on a boundless </a:t>
            </a:r>
            <a:r>
              <a:rPr lang="en-US" sz="1700" dirty="0" err="1"/>
              <a:t>dataframe</a:t>
            </a:r>
            <a:r>
              <a:rPr lang="en-US" sz="1700" dirty="0"/>
              <a:t> in which streaming data is captured for processing. A Spark Structured Streaming </a:t>
            </a:r>
            <a:r>
              <a:rPr lang="en-US" sz="1700" dirty="0" err="1"/>
              <a:t>dataframe</a:t>
            </a:r>
            <a:r>
              <a:rPr lang="en-US" sz="1700" dirty="0"/>
              <a:t> can read data from many different kinds of streaming source, including:</a:t>
            </a:r>
          </a:p>
          <a:p>
            <a:endParaRPr lang="en-US" sz="1700" dirty="0"/>
          </a:p>
          <a:p>
            <a:r>
              <a:rPr lang="en-US" sz="1700" dirty="0"/>
              <a:t>Network ports</a:t>
            </a:r>
          </a:p>
          <a:p>
            <a:r>
              <a:rPr lang="en-US" sz="1700" dirty="0"/>
              <a:t>Real time message brokering services such as Azure Event Hubs or Kafka</a:t>
            </a:r>
          </a:p>
          <a:p>
            <a:r>
              <a:rPr lang="en-US" sz="1700" dirty="0"/>
              <a:t>File system locations.</a:t>
            </a:r>
            <a:endParaRPr lang="en-IN" sz="1700" dirty="0"/>
          </a:p>
        </p:txBody>
      </p:sp>
      <p:pic>
        <p:nvPicPr>
          <p:cNvPr id="7" name="Graphic 6" descr="Download from cloud">
            <a:extLst>
              <a:ext uri="{FF2B5EF4-FFF2-40B4-BE49-F238E27FC236}">
                <a16:creationId xmlns:a16="http://schemas.microsoft.com/office/drawing/2014/main" id="{66117455-84F0-6982-9AE9-C92D7D82B07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29548" y="2484255"/>
            <a:ext cx="3714244" cy="3714244"/>
          </a:xfrm>
          <a:prstGeom prst="rect">
            <a:avLst/>
          </a:prstGeom>
        </p:spPr>
      </p:pic>
      <p:sp>
        <p:nvSpPr>
          <p:cNvPr id="16" name="Rectangle 1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526629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0B4759C-1CF0-7BBB-B4E1-F28C661C8D33}"/>
              </a:ext>
            </a:extLst>
          </p:cNvPr>
          <p:cNvSpPr txBox="1"/>
          <p:nvPr/>
        </p:nvSpPr>
        <p:spPr>
          <a:xfrm>
            <a:off x="2264227" y="54413"/>
            <a:ext cx="7826829" cy="584775"/>
          </a:xfrm>
          <a:prstGeom prst="rect">
            <a:avLst/>
          </a:prstGeom>
          <a:ln w="28575"/>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sz="3200" dirty="0"/>
              <a:t>Using Delta Table as a Streaming Source</a:t>
            </a:r>
            <a:endParaRPr lang="en-IN" sz="3200" dirty="0"/>
          </a:p>
        </p:txBody>
      </p:sp>
      <p:sp>
        <p:nvSpPr>
          <p:cNvPr id="7" name="Text Placeholder 2">
            <a:extLst>
              <a:ext uri="{FF2B5EF4-FFF2-40B4-BE49-F238E27FC236}">
                <a16:creationId xmlns:a16="http://schemas.microsoft.com/office/drawing/2014/main" id="{A835AB6E-3DAC-214D-A92F-2538E19E5D06}"/>
              </a:ext>
            </a:extLst>
          </p:cNvPr>
          <p:cNvSpPr txBox="1">
            <a:spLocks/>
          </p:cNvSpPr>
          <p:nvPr/>
        </p:nvSpPr>
        <p:spPr>
          <a:xfrm>
            <a:off x="1039495" y="3671569"/>
            <a:ext cx="10113009" cy="2828744"/>
          </a:xfrm>
          <a:prstGeom prst="rect">
            <a:avLst/>
          </a:prstGeom>
          <a:solidFill>
            <a:schemeClr val="bg1"/>
          </a:solidFill>
          <a:ln w="38100">
            <a:solidFill>
              <a:schemeClr val="bg1">
                <a:lumMod val="95000"/>
              </a:schemeClr>
            </a:solidFill>
          </a:ln>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7432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41148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37160" lvl="1" indent="0">
              <a:buNone/>
            </a:pPr>
            <a:r>
              <a:rPr lang="en-US" sz="2000" dirty="0">
                <a:solidFill>
                  <a:schemeClr val="accent6"/>
                </a:solidFill>
                <a:latin typeface="Consolas" panose="020B0609020204030204" pitchFamily="49" charset="0"/>
              </a:rPr>
              <a:t># Write the stream to a delta table</a:t>
            </a:r>
          </a:p>
          <a:p>
            <a:pPr marL="137160" lvl="1" indent="0">
              <a:buNone/>
            </a:pPr>
            <a:r>
              <a:rPr lang="en-US" sz="2000" dirty="0" err="1">
                <a:latin typeface="Consolas" panose="020B0609020204030204" pitchFamily="49" charset="0"/>
              </a:rPr>
              <a:t>output_table_path</a:t>
            </a:r>
            <a:r>
              <a:rPr lang="en-US" sz="2000" dirty="0">
                <a:latin typeface="Consolas" panose="020B0609020204030204" pitchFamily="49" charset="0"/>
              </a:rPr>
              <a:t> = 'Tables/</a:t>
            </a:r>
            <a:r>
              <a:rPr lang="en-US" sz="2000" dirty="0" err="1">
                <a:latin typeface="Consolas" panose="020B0609020204030204" pitchFamily="49" charset="0"/>
              </a:rPr>
              <a:t>orders_processed</a:t>
            </a:r>
            <a:r>
              <a:rPr lang="en-US" sz="2000" dirty="0">
                <a:latin typeface="Consolas" panose="020B0609020204030204" pitchFamily="49" charset="0"/>
              </a:rPr>
              <a:t>'</a:t>
            </a:r>
          </a:p>
          <a:p>
            <a:pPr marL="137160" lvl="1" indent="0">
              <a:buNone/>
            </a:pPr>
            <a:r>
              <a:rPr lang="en-US" sz="2000" dirty="0" err="1">
                <a:latin typeface="Consolas" panose="020B0609020204030204" pitchFamily="49" charset="0"/>
              </a:rPr>
              <a:t>checkpointpath</a:t>
            </a:r>
            <a:r>
              <a:rPr lang="en-US" sz="2000" dirty="0">
                <a:latin typeface="Consolas" panose="020B0609020204030204" pitchFamily="49" charset="0"/>
              </a:rPr>
              <a:t> = 'Files/delta/checkpoint'</a:t>
            </a:r>
          </a:p>
          <a:p>
            <a:pPr marL="137160" lvl="1" indent="0">
              <a:buNone/>
            </a:pPr>
            <a:r>
              <a:rPr lang="en-US" sz="2000" dirty="0" err="1">
                <a:latin typeface="Consolas" panose="020B0609020204030204" pitchFamily="49" charset="0"/>
              </a:rPr>
              <a:t>deltastream</a:t>
            </a:r>
            <a:r>
              <a:rPr lang="en-US" sz="2000" dirty="0">
                <a:latin typeface="Consolas" panose="020B0609020204030204" pitchFamily="49" charset="0"/>
              </a:rPr>
              <a:t> = </a:t>
            </a:r>
            <a:r>
              <a:rPr lang="en-US" sz="2000" dirty="0" err="1">
                <a:latin typeface="Consolas" panose="020B0609020204030204" pitchFamily="49" charset="0"/>
              </a:rPr>
              <a:t>transformed_df.writeStream.format</a:t>
            </a:r>
            <a:r>
              <a:rPr lang="en-US" sz="2000" dirty="0">
                <a:latin typeface="Consolas" panose="020B0609020204030204" pitchFamily="49" charset="0"/>
              </a:rPr>
              <a:t>("delta").option("</a:t>
            </a:r>
            <a:r>
              <a:rPr lang="en-US" sz="2000" dirty="0" err="1">
                <a:latin typeface="Consolas" panose="020B0609020204030204" pitchFamily="49" charset="0"/>
              </a:rPr>
              <a:t>checkpointLocation</a:t>
            </a:r>
            <a:r>
              <a:rPr lang="en-US" sz="2000" dirty="0">
                <a:latin typeface="Consolas" panose="020B0609020204030204" pitchFamily="49" charset="0"/>
              </a:rPr>
              <a:t>", </a:t>
            </a:r>
            <a:r>
              <a:rPr lang="en-US" sz="2000" dirty="0" err="1">
                <a:latin typeface="Consolas" panose="020B0609020204030204" pitchFamily="49" charset="0"/>
              </a:rPr>
              <a:t>checkpointpath</a:t>
            </a:r>
            <a:r>
              <a:rPr lang="en-US" sz="2000" dirty="0">
                <a:latin typeface="Consolas" panose="020B0609020204030204" pitchFamily="49" charset="0"/>
              </a:rPr>
              <a:t>).start(</a:t>
            </a:r>
            <a:r>
              <a:rPr lang="en-US" sz="2000" dirty="0" err="1">
                <a:latin typeface="Consolas" panose="020B0609020204030204" pitchFamily="49" charset="0"/>
              </a:rPr>
              <a:t>output_table_path</a:t>
            </a:r>
            <a:r>
              <a:rPr lang="en-US" sz="2000" dirty="0">
                <a:latin typeface="Consolas" panose="020B0609020204030204" pitchFamily="49" charset="0"/>
              </a:rPr>
              <a:t>)</a:t>
            </a:r>
          </a:p>
          <a:p>
            <a:pPr marL="137160" lvl="1" indent="0">
              <a:buNone/>
            </a:pPr>
            <a:endParaRPr lang="en-US" sz="2000" dirty="0">
              <a:latin typeface="Consolas" panose="020B0609020204030204" pitchFamily="49" charset="0"/>
            </a:endParaRPr>
          </a:p>
          <a:p>
            <a:pPr marL="137160" lvl="1" indent="0">
              <a:buNone/>
            </a:pPr>
            <a:r>
              <a:rPr lang="en-US" sz="2000" dirty="0">
                <a:latin typeface="Consolas" panose="020B0609020204030204" pitchFamily="49" charset="0"/>
              </a:rPr>
              <a:t>print("Streaming to </a:t>
            </a:r>
            <a:r>
              <a:rPr lang="en-US" sz="2000" dirty="0" err="1">
                <a:latin typeface="Consolas" panose="020B0609020204030204" pitchFamily="49" charset="0"/>
              </a:rPr>
              <a:t>orders_processed</a:t>
            </a:r>
            <a:r>
              <a:rPr lang="en-US" sz="2000" dirty="0">
                <a:latin typeface="Consolas" panose="020B0609020204030204" pitchFamily="49" charset="0"/>
              </a:rPr>
              <a:t>...")</a:t>
            </a:r>
          </a:p>
        </p:txBody>
      </p:sp>
      <p:sp>
        <p:nvSpPr>
          <p:cNvPr id="10" name="Text Placeholder 2">
            <a:extLst>
              <a:ext uri="{FF2B5EF4-FFF2-40B4-BE49-F238E27FC236}">
                <a16:creationId xmlns:a16="http://schemas.microsoft.com/office/drawing/2014/main" id="{A77B5A7E-27F2-363B-25D9-74401DBAEE28}"/>
              </a:ext>
            </a:extLst>
          </p:cNvPr>
          <p:cNvSpPr txBox="1">
            <a:spLocks/>
          </p:cNvSpPr>
          <p:nvPr/>
        </p:nvSpPr>
        <p:spPr>
          <a:xfrm>
            <a:off x="1121136" y="825145"/>
            <a:ext cx="10113009" cy="1415772"/>
          </a:xfrm>
          <a:prstGeom prst="rect">
            <a:avLst/>
          </a:prstGeom>
          <a:solidFill>
            <a:schemeClr val="bg1"/>
          </a:solidFill>
          <a:ln w="38100">
            <a:solidFill>
              <a:schemeClr val="bg1">
                <a:lumMod val="95000"/>
              </a:schemeClr>
            </a:solidFill>
          </a:ln>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7432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41148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37160" lvl="1" indent="0">
              <a:buNone/>
            </a:pPr>
            <a:r>
              <a:rPr lang="en-US" sz="2000" dirty="0">
                <a:solidFill>
                  <a:schemeClr val="accent6"/>
                </a:solidFill>
                <a:latin typeface="Consolas" panose="020B0609020204030204" pitchFamily="49" charset="0"/>
              </a:rPr>
              <a:t># Load a streaming </a:t>
            </a:r>
            <a:r>
              <a:rPr lang="en-US" sz="2000" dirty="0" err="1">
                <a:solidFill>
                  <a:schemeClr val="accent6"/>
                </a:solidFill>
                <a:latin typeface="Consolas" panose="020B0609020204030204" pitchFamily="49" charset="0"/>
              </a:rPr>
              <a:t>DataFrame</a:t>
            </a:r>
            <a:r>
              <a:rPr lang="en-US" sz="2000" dirty="0">
                <a:solidFill>
                  <a:schemeClr val="accent6"/>
                </a:solidFill>
                <a:latin typeface="Consolas" panose="020B0609020204030204" pitchFamily="49" charset="0"/>
              </a:rPr>
              <a:t> from the Delta table</a:t>
            </a:r>
          </a:p>
          <a:p>
            <a:pPr marL="137160" lvl="1" indent="0">
              <a:buNone/>
            </a:pPr>
            <a:r>
              <a:rPr lang="en-US" sz="2000" dirty="0" err="1">
                <a:latin typeface="Consolas" panose="020B0609020204030204" pitchFamily="49" charset="0"/>
              </a:rPr>
              <a:t>stream_df</a:t>
            </a:r>
            <a:r>
              <a:rPr lang="en-US" sz="2000" dirty="0">
                <a:latin typeface="Consolas" panose="020B0609020204030204" pitchFamily="49" charset="0"/>
              </a:rPr>
              <a:t> = </a:t>
            </a:r>
            <a:r>
              <a:rPr lang="en-US" sz="2000" dirty="0" err="1">
                <a:latin typeface="Consolas" panose="020B0609020204030204" pitchFamily="49" charset="0"/>
              </a:rPr>
              <a:t>spark.readStream.format</a:t>
            </a:r>
            <a:r>
              <a:rPr lang="en-US" sz="2000" dirty="0">
                <a:latin typeface="Consolas" panose="020B0609020204030204" pitchFamily="49" charset="0"/>
              </a:rPr>
              <a:t>("delta") \</a:t>
            </a:r>
          </a:p>
          <a:p>
            <a:pPr marL="137160" lvl="1" indent="0">
              <a:buNone/>
            </a:pPr>
            <a:r>
              <a:rPr lang="en-US" sz="2000" dirty="0">
                <a:latin typeface="Consolas" panose="020B0609020204030204" pitchFamily="49" charset="0"/>
              </a:rPr>
              <a:t>    .option("</a:t>
            </a:r>
            <a:r>
              <a:rPr lang="en-US" sz="2000" dirty="0" err="1">
                <a:latin typeface="Consolas" panose="020B0609020204030204" pitchFamily="49" charset="0"/>
              </a:rPr>
              <a:t>ignoreChanges</a:t>
            </a:r>
            <a:r>
              <a:rPr lang="en-US" sz="2000" dirty="0">
                <a:latin typeface="Consolas" panose="020B0609020204030204" pitchFamily="49" charset="0"/>
              </a:rPr>
              <a:t>", "true") \</a:t>
            </a:r>
          </a:p>
          <a:p>
            <a:pPr marL="137160" lvl="1" indent="0">
              <a:buNone/>
            </a:pPr>
            <a:r>
              <a:rPr lang="en-US" sz="2000" dirty="0">
                <a:latin typeface="Consolas" panose="020B0609020204030204" pitchFamily="49" charset="0"/>
              </a:rPr>
              <a:t>    .table("</a:t>
            </a:r>
            <a:r>
              <a:rPr lang="en-US" sz="2000" dirty="0" err="1">
                <a:latin typeface="Consolas" panose="020B0609020204030204" pitchFamily="49" charset="0"/>
              </a:rPr>
              <a:t>orders_in</a:t>
            </a:r>
            <a:r>
              <a:rPr lang="en-US" sz="2000" dirty="0">
                <a:latin typeface="Consolas" panose="020B0609020204030204" pitchFamily="49" charset="0"/>
              </a:rPr>
              <a:t>")</a:t>
            </a:r>
          </a:p>
        </p:txBody>
      </p:sp>
      <p:sp>
        <p:nvSpPr>
          <p:cNvPr id="11" name="TextBox 10">
            <a:extLst>
              <a:ext uri="{FF2B5EF4-FFF2-40B4-BE49-F238E27FC236}">
                <a16:creationId xmlns:a16="http://schemas.microsoft.com/office/drawing/2014/main" id="{B0DE49B4-D8FF-017E-7212-84B6DD6FB9A2}"/>
              </a:ext>
            </a:extLst>
          </p:cNvPr>
          <p:cNvSpPr txBox="1"/>
          <p:nvPr/>
        </p:nvSpPr>
        <p:spPr>
          <a:xfrm>
            <a:off x="2264227" y="2844225"/>
            <a:ext cx="7826829" cy="584775"/>
          </a:xfrm>
          <a:prstGeom prst="rect">
            <a:avLst/>
          </a:prstGeom>
          <a:ln w="28575"/>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sz="3200" dirty="0"/>
              <a:t>Using Delta Table as a Streaming Sink</a:t>
            </a:r>
            <a:endParaRPr lang="en-IN" sz="3200" dirty="0"/>
          </a:p>
        </p:txBody>
      </p:sp>
    </p:spTree>
    <p:extLst>
      <p:ext uri="{BB962C8B-B14F-4D97-AF65-F5344CB8AC3E}">
        <p14:creationId xmlns:p14="http://schemas.microsoft.com/office/powerpoint/2010/main" val="3050068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3" name="Rectangle 4102">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C6395C-28B7-86B6-2475-B198BD80D0E1}"/>
              </a:ext>
            </a:extLst>
          </p:cNvPr>
          <p:cNvSpPr>
            <a:spLocks noGrp="1"/>
          </p:cNvSpPr>
          <p:nvPr>
            <p:ph type="title"/>
          </p:nvPr>
        </p:nvSpPr>
        <p:spPr>
          <a:xfrm>
            <a:off x="793662" y="386930"/>
            <a:ext cx="10066122" cy="1298448"/>
          </a:xfrm>
        </p:spPr>
        <p:txBody>
          <a:bodyPr vert="horz" lIns="91440" tIns="45720" rIns="91440" bIns="45720" rtlCol="0" anchor="b">
            <a:normAutofit/>
          </a:bodyPr>
          <a:lstStyle/>
          <a:p>
            <a:r>
              <a:rPr lang="en-US" sz="4100" kern="1200" dirty="0">
                <a:solidFill>
                  <a:schemeClr val="tx1"/>
                </a:solidFill>
                <a:latin typeface="+mj-lt"/>
                <a:ea typeface="+mj-ea"/>
                <a:cs typeface="+mj-cs"/>
              </a:rPr>
              <a:t>Optimize Delta Tables with </a:t>
            </a:r>
            <a:r>
              <a:rPr lang="en-US" sz="4100" kern="1200" dirty="0" err="1">
                <a:solidFill>
                  <a:schemeClr val="tx1"/>
                </a:solidFill>
                <a:latin typeface="+mj-lt"/>
                <a:ea typeface="+mj-ea"/>
                <a:cs typeface="+mj-cs"/>
              </a:rPr>
              <a:t>OptimizeWrite</a:t>
            </a:r>
            <a:r>
              <a:rPr lang="en-US" sz="4100" kern="1200" dirty="0">
                <a:solidFill>
                  <a:schemeClr val="tx1"/>
                </a:solidFill>
                <a:latin typeface="+mj-lt"/>
                <a:ea typeface="+mj-ea"/>
                <a:cs typeface="+mj-cs"/>
              </a:rPr>
              <a:t> Function</a:t>
            </a:r>
          </a:p>
        </p:txBody>
      </p:sp>
      <p:sp>
        <p:nvSpPr>
          <p:cNvPr id="4105" name="Rectangle 4104">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7" name="Rectangle 410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CB3FC34-8811-76F7-8EEF-4C68099323AE}"/>
              </a:ext>
            </a:extLst>
          </p:cNvPr>
          <p:cNvSpPr txBox="1"/>
          <p:nvPr/>
        </p:nvSpPr>
        <p:spPr>
          <a:xfrm>
            <a:off x="793661" y="2599509"/>
            <a:ext cx="4530898" cy="3639450"/>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2000"/>
              <a:t>Parquet files are immutable, with new files written for every update or delete.</a:t>
            </a:r>
            <a:br>
              <a:rPr lang="en-US" sz="2000"/>
            </a:br>
            <a:endParaRPr lang="en-US" sz="2000"/>
          </a:p>
          <a:p>
            <a:pPr indent="-228600">
              <a:lnSpc>
                <a:spcPct val="90000"/>
              </a:lnSpc>
              <a:spcAft>
                <a:spcPts val="600"/>
              </a:spcAft>
              <a:buFont typeface="Arial" panose="020B0604020202020204" pitchFamily="34" charset="0"/>
              <a:buChar char="•"/>
            </a:pPr>
            <a:r>
              <a:rPr lang="en-US" sz="2000"/>
              <a:t>This process can result in Spark storing data in a large number of small files, known as the small file problem.</a:t>
            </a:r>
          </a:p>
        </p:txBody>
      </p:sp>
      <p:pic>
        <p:nvPicPr>
          <p:cNvPr id="4098" name="Picture 2" descr="Diagram showing how Optimize Write writes fewer large files.">
            <a:extLst>
              <a:ext uri="{FF2B5EF4-FFF2-40B4-BE49-F238E27FC236}">
                <a16:creationId xmlns:a16="http://schemas.microsoft.com/office/drawing/2014/main" id="{A4871089-9FEC-DBE3-CA3A-7AEEDCE232E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5911532" y="2879986"/>
            <a:ext cx="5150277" cy="2922782"/>
          </a:xfrm>
          <a:prstGeom prst="rect">
            <a:avLst/>
          </a:prstGeom>
          <a:noFill/>
          <a:extLst>
            <a:ext uri="{909E8E84-426E-40DD-AFC4-6F175D3DCCD1}">
              <a14:hiddenFill xmlns:a14="http://schemas.microsoft.com/office/drawing/2010/main">
                <a:solidFill>
                  <a:srgbClr val="FFFFFF"/>
                </a:solidFill>
              </a14:hiddenFill>
            </a:ext>
          </a:extLst>
        </p:spPr>
      </p:pic>
      <p:sp>
        <p:nvSpPr>
          <p:cNvPr id="4109" name="Rectangle 4108">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422891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a:extLst>
              <a:ext uri="{FF2B5EF4-FFF2-40B4-BE49-F238E27FC236}">
                <a16:creationId xmlns:a16="http://schemas.microsoft.com/office/drawing/2014/main" id="{33078A1E-1024-3646-9780-3C0A1200C8F6}"/>
              </a:ext>
            </a:extLst>
          </p:cNvPr>
          <p:cNvSpPr txBox="1">
            <a:spLocks noGrp="1"/>
          </p:cNvSpPr>
          <p:nvPr>
            <p:ph idx="1"/>
          </p:nvPr>
        </p:nvSpPr>
        <p:spPr>
          <a:xfrm>
            <a:off x="838200" y="1825625"/>
            <a:ext cx="10515600" cy="2523768"/>
          </a:xfrm>
          <a:prstGeom prst="rect">
            <a:avLst/>
          </a:prstGeom>
          <a:solidFill>
            <a:schemeClr val="bg1"/>
          </a:solidFill>
          <a:ln w="38100">
            <a:solidFill>
              <a:schemeClr val="bg1">
                <a:lumMod val="95000"/>
              </a:schemeClr>
            </a:solidFill>
          </a:ln>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7432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41148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37160" lvl="1" indent="0">
              <a:buNone/>
            </a:pPr>
            <a:r>
              <a:rPr lang="en-US" sz="2000" dirty="0">
                <a:solidFill>
                  <a:schemeClr val="accent6"/>
                </a:solidFill>
                <a:latin typeface="Consolas" panose="020B0609020204030204" pitchFamily="49" charset="0"/>
              </a:rPr>
              <a:t># Disable Optimize Write at the Spark session level</a:t>
            </a:r>
          </a:p>
          <a:p>
            <a:pPr marL="137160" lvl="1" indent="0">
              <a:buNone/>
            </a:pPr>
            <a:r>
              <a:rPr lang="en-US" sz="2000" dirty="0" err="1">
                <a:latin typeface="Consolas" panose="020B0609020204030204" pitchFamily="49" charset="0"/>
              </a:rPr>
              <a:t>spark.conf.set</a:t>
            </a:r>
            <a:r>
              <a:rPr lang="en-US" sz="2000" dirty="0">
                <a:latin typeface="Consolas" panose="020B0609020204030204" pitchFamily="49" charset="0"/>
              </a:rPr>
              <a:t>("</a:t>
            </a:r>
            <a:r>
              <a:rPr lang="en-US" sz="2000" dirty="0" err="1">
                <a:latin typeface="Consolas" panose="020B0609020204030204" pitchFamily="49" charset="0"/>
              </a:rPr>
              <a:t>spark.microsoft.delta.optimizeWrite.enabled</a:t>
            </a:r>
            <a:r>
              <a:rPr lang="en-US" sz="2000" dirty="0">
                <a:latin typeface="Consolas" panose="020B0609020204030204" pitchFamily="49" charset="0"/>
              </a:rPr>
              <a:t>", False)</a:t>
            </a:r>
          </a:p>
          <a:p>
            <a:pPr marL="137160" lvl="1" indent="0">
              <a:buNone/>
            </a:pPr>
            <a:endParaRPr lang="en-US" sz="2000" dirty="0">
              <a:solidFill>
                <a:schemeClr val="accent6"/>
              </a:solidFill>
              <a:latin typeface="Consolas" panose="020B0609020204030204" pitchFamily="49" charset="0"/>
            </a:endParaRPr>
          </a:p>
          <a:p>
            <a:pPr marL="137160" lvl="1" indent="0">
              <a:buNone/>
            </a:pPr>
            <a:r>
              <a:rPr lang="en-US" sz="2000" dirty="0">
                <a:solidFill>
                  <a:schemeClr val="accent6"/>
                </a:solidFill>
                <a:latin typeface="Consolas" panose="020B0609020204030204" pitchFamily="49" charset="0"/>
              </a:rPr>
              <a:t># Enable Optimize Write at the Spark session level</a:t>
            </a:r>
          </a:p>
          <a:p>
            <a:pPr marL="137160" lvl="1" indent="0">
              <a:buNone/>
            </a:pPr>
            <a:r>
              <a:rPr lang="en-US" sz="2000" dirty="0" err="1">
                <a:latin typeface="Consolas" panose="020B0609020204030204" pitchFamily="49" charset="0"/>
              </a:rPr>
              <a:t>spark.conf.set</a:t>
            </a:r>
            <a:r>
              <a:rPr lang="en-US" sz="2000" dirty="0">
                <a:latin typeface="Consolas" panose="020B0609020204030204" pitchFamily="49" charset="0"/>
              </a:rPr>
              <a:t>("</a:t>
            </a:r>
            <a:r>
              <a:rPr lang="en-US" sz="2000" dirty="0" err="1">
                <a:latin typeface="Consolas" panose="020B0609020204030204" pitchFamily="49" charset="0"/>
              </a:rPr>
              <a:t>spark.microsoft.delta.optimizeWrite.enabled</a:t>
            </a:r>
            <a:r>
              <a:rPr lang="en-US" sz="2000" dirty="0">
                <a:latin typeface="Consolas" panose="020B0609020204030204" pitchFamily="49" charset="0"/>
              </a:rPr>
              <a:t>", True)</a:t>
            </a:r>
          </a:p>
          <a:p>
            <a:pPr marL="137160" lvl="1" indent="0">
              <a:buNone/>
            </a:pPr>
            <a:endParaRPr lang="en-US" sz="2000" dirty="0">
              <a:solidFill>
                <a:schemeClr val="accent6"/>
              </a:solidFill>
              <a:latin typeface="Consolas" panose="020B0609020204030204" pitchFamily="49" charset="0"/>
            </a:endParaRPr>
          </a:p>
          <a:p>
            <a:pPr marL="137160" lvl="1" indent="0">
              <a:buNone/>
            </a:pPr>
            <a:r>
              <a:rPr lang="en-US" sz="2000" dirty="0">
                <a:latin typeface="Consolas" panose="020B0609020204030204" pitchFamily="49" charset="0"/>
              </a:rPr>
              <a:t>print(</a:t>
            </a:r>
            <a:r>
              <a:rPr lang="en-US" sz="2000" dirty="0" err="1">
                <a:latin typeface="Consolas" panose="020B0609020204030204" pitchFamily="49" charset="0"/>
              </a:rPr>
              <a:t>spark.conf.get</a:t>
            </a:r>
            <a:r>
              <a:rPr lang="en-US" sz="2000" dirty="0">
                <a:latin typeface="Consolas" panose="020B0609020204030204" pitchFamily="49" charset="0"/>
              </a:rPr>
              <a:t>("</a:t>
            </a:r>
            <a:r>
              <a:rPr lang="en-US" sz="2000" dirty="0" err="1">
                <a:latin typeface="Consolas" panose="020B0609020204030204" pitchFamily="49" charset="0"/>
              </a:rPr>
              <a:t>spark.microsoft.delta.optimizeWrite.enabled</a:t>
            </a:r>
            <a:r>
              <a:rPr lang="en-US" sz="2000" dirty="0">
                <a:latin typeface="Consolas" panose="020B0609020204030204" pitchFamily="49" charset="0"/>
              </a:rPr>
              <a:t>"))</a:t>
            </a:r>
          </a:p>
        </p:txBody>
      </p:sp>
      <p:sp>
        <p:nvSpPr>
          <p:cNvPr id="5" name="TextBox 4">
            <a:extLst>
              <a:ext uri="{FF2B5EF4-FFF2-40B4-BE49-F238E27FC236}">
                <a16:creationId xmlns:a16="http://schemas.microsoft.com/office/drawing/2014/main" id="{1F397652-4B34-E5B0-EF6F-632B6B27AFF7}"/>
              </a:ext>
            </a:extLst>
          </p:cNvPr>
          <p:cNvSpPr txBox="1"/>
          <p:nvPr/>
        </p:nvSpPr>
        <p:spPr>
          <a:xfrm>
            <a:off x="3537857" y="971882"/>
            <a:ext cx="4626430" cy="584775"/>
          </a:xfrm>
          <a:prstGeom prst="rect">
            <a:avLst/>
          </a:prstGeom>
          <a:ln w="28575"/>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sz="3200" dirty="0" err="1"/>
              <a:t>OptimizeWrite</a:t>
            </a:r>
            <a:r>
              <a:rPr lang="en-US" sz="3200" dirty="0"/>
              <a:t> Function</a:t>
            </a:r>
            <a:endParaRPr lang="en-IN" sz="3200" dirty="0"/>
          </a:p>
        </p:txBody>
      </p:sp>
    </p:spTree>
    <p:extLst>
      <p:ext uri="{BB962C8B-B14F-4D97-AF65-F5344CB8AC3E}">
        <p14:creationId xmlns:p14="http://schemas.microsoft.com/office/powerpoint/2010/main" val="3519018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7" name="Rectangle 5126">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4848A5C-6337-F50E-6521-5BC98EF9202B}"/>
              </a:ext>
            </a:extLst>
          </p:cNvPr>
          <p:cNvSpPr>
            <a:spLocks noGrp="1"/>
          </p:cNvSpPr>
          <p:nvPr>
            <p:ph type="title"/>
          </p:nvPr>
        </p:nvSpPr>
        <p:spPr>
          <a:xfrm>
            <a:off x="793662" y="386930"/>
            <a:ext cx="10066122" cy="1298448"/>
          </a:xfrm>
        </p:spPr>
        <p:txBody>
          <a:bodyPr vert="horz" lIns="91440" tIns="45720" rIns="91440" bIns="45720" rtlCol="0" anchor="b">
            <a:normAutofit/>
          </a:bodyPr>
          <a:lstStyle/>
          <a:p>
            <a:r>
              <a:rPr lang="en-US" sz="4800" kern="1200">
                <a:solidFill>
                  <a:schemeClr val="tx1"/>
                </a:solidFill>
                <a:latin typeface="+mj-lt"/>
                <a:ea typeface="+mj-ea"/>
                <a:cs typeface="+mj-cs"/>
              </a:rPr>
              <a:t>Optimize V-Order Function</a:t>
            </a:r>
          </a:p>
        </p:txBody>
      </p:sp>
      <p:sp>
        <p:nvSpPr>
          <p:cNvPr id="5129" name="Rectangle 5128">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1" name="Rectangle 5130">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69594EF4-0E79-07D2-0B18-1D23CC78A218}"/>
              </a:ext>
            </a:extLst>
          </p:cNvPr>
          <p:cNvSpPr txBox="1"/>
          <p:nvPr/>
        </p:nvSpPr>
        <p:spPr>
          <a:xfrm>
            <a:off x="793661" y="2599509"/>
            <a:ext cx="4530898" cy="3639450"/>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1400" dirty="0"/>
              <a:t>Optimize is a table maintenance feature that consolidates small Parquet files into fewer large files.</a:t>
            </a:r>
          </a:p>
          <a:p>
            <a:pPr indent="-228600">
              <a:lnSpc>
                <a:spcPct val="90000"/>
              </a:lnSpc>
              <a:spcAft>
                <a:spcPts val="600"/>
              </a:spcAft>
              <a:buFont typeface="Arial" panose="020B0604020202020204" pitchFamily="34" charset="0"/>
              <a:buChar char="•"/>
            </a:pPr>
            <a:endParaRPr lang="en-US" sz="1400" dirty="0"/>
          </a:p>
          <a:p>
            <a:pPr indent="-228600">
              <a:lnSpc>
                <a:spcPct val="90000"/>
              </a:lnSpc>
              <a:spcAft>
                <a:spcPts val="600"/>
              </a:spcAft>
              <a:buFont typeface="Arial" panose="020B0604020202020204" pitchFamily="34" charset="0"/>
              <a:buChar char="•"/>
            </a:pPr>
            <a:r>
              <a:rPr lang="en-US" sz="1400" b="1" dirty="0"/>
              <a:t>V-Order Functionality</a:t>
            </a:r>
            <a:r>
              <a:rPr lang="en-US" sz="1400" dirty="0"/>
              <a:t>: When you run Optimize, you can optionally run V-Order, which is designed for the Parquet file format in Fabric. V-Order enables lightning-fast reads, with in-memory-like data access times. It also improves cost efficiency as it reduces network, disk, and CPU resources during reads.</a:t>
            </a:r>
          </a:p>
          <a:p>
            <a:pPr indent="-228600">
              <a:lnSpc>
                <a:spcPct val="90000"/>
              </a:lnSpc>
              <a:spcAft>
                <a:spcPts val="600"/>
              </a:spcAft>
              <a:buFont typeface="Arial" panose="020B0604020202020204" pitchFamily="34" charset="0"/>
              <a:buChar char="•"/>
            </a:pPr>
            <a:endParaRPr lang="en-US" sz="1400" dirty="0"/>
          </a:p>
          <a:p>
            <a:pPr indent="-228600">
              <a:lnSpc>
                <a:spcPct val="90000"/>
              </a:lnSpc>
              <a:spcAft>
                <a:spcPts val="600"/>
              </a:spcAft>
              <a:buFont typeface="Arial" panose="020B0604020202020204" pitchFamily="34" charset="0"/>
              <a:buChar char="•"/>
            </a:pPr>
            <a:r>
              <a:rPr lang="en-US" sz="1400" dirty="0"/>
              <a:t>V-Order might not be beneficial for write-intensive scenarios such as staging data stores where data is only read once or twice. In these situations, disabling V-Order might reduce the overall processing time for data ingestion.</a:t>
            </a:r>
          </a:p>
          <a:p>
            <a:pPr indent="-228600">
              <a:lnSpc>
                <a:spcPct val="90000"/>
              </a:lnSpc>
              <a:spcAft>
                <a:spcPts val="600"/>
              </a:spcAft>
              <a:buFont typeface="Arial" panose="020B0604020202020204" pitchFamily="34" charset="0"/>
              <a:buChar char="•"/>
            </a:pPr>
            <a:endParaRPr lang="en-US" sz="1400" dirty="0"/>
          </a:p>
        </p:txBody>
      </p:sp>
      <p:pic>
        <p:nvPicPr>
          <p:cNvPr id="5122" name="Picture 2" descr="Diagram showing how Optimize consolidates Parquet files.">
            <a:extLst>
              <a:ext uri="{FF2B5EF4-FFF2-40B4-BE49-F238E27FC236}">
                <a16:creationId xmlns:a16="http://schemas.microsoft.com/office/drawing/2014/main" id="{85A5000A-D5A6-2A99-1493-570D59D2E86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5911532" y="2622472"/>
            <a:ext cx="5150277" cy="3437809"/>
          </a:xfrm>
          <a:prstGeom prst="rect">
            <a:avLst/>
          </a:prstGeom>
          <a:noFill/>
          <a:extLst>
            <a:ext uri="{909E8E84-426E-40DD-AFC4-6F175D3DCCD1}">
              <a14:hiddenFill xmlns:a14="http://schemas.microsoft.com/office/drawing/2010/main">
                <a:solidFill>
                  <a:srgbClr val="FFFFFF"/>
                </a:solidFill>
              </a14:hiddenFill>
            </a:ext>
          </a:extLst>
        </p:spPr>
      </p:pic>
      <p:sp>
        <p:nvSpPr>
          <p:cNvPr id="5133" name="Rectangle 5132">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413482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D9D11-78A8-B19D-8C2C-532F8DFB6D1D}"/>
              </a:ext>
            </a:extLst>
          </p:cNvPr>
          <p:cNvSpPr>
            <a:spLocks noGrp="1"/>
          </p:cNvSpPr>
          <p:nvPr>
            <p:ph type="title"/>
          </p:nvPr>
        </p:nvSpPr>
        <p:spPr/>
        <p:txBody>
          <a:bodyPr/>
          <a:lstStyle/>
          <a:p>
            <a:r>
              <a:rPr lang="en-US" dirty="0"/>
              <a:t>V-Order Function</a:t>
            </a:r>
            <a:endParaRPr lang="en-IN" dirty="0"/>
          </a:p>
        </p:txBody>
      </p:sp>
      <p:pic>
        <p:nvPicPr>
          <p:cNvPr id="4" name="Picture 2" descr="Screen picture of table maintenance with V-order selected">
            <a:extLst>
              <a:ext uri="{FF2B5EF4-FFF2-40B4-BE49-F238E27FC236}">
                <a16:creationId xmlns:a16="http://schemas.microsoft.com/office/drawing/2014/main" id="{5DEC7145-9122-B822-6834-081288A1072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83044" y="1934482"/>
            <a:ext cx="8025912" cy="4351338"/>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75571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1" name="Rectangle 6150">
            <a:extLst>
              <a:ext uri="{FF2B5EF4-FFF2-40B4-BE49-F238E27FC236}">
                <a16:creationId xmlns:a16="http://schemas.microsoft.com/office/drawing/2014/main" id="{117AB3D3-3C9C-4DED-809A-78734805B8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1BCD03-E382-5B4C-F567-DAD4DDA1ECD2}"/>
              </a:ext>
            </a:extLst>
          </p:cNvPr>
          <p:cNvSpPr>
            <a:spLocks noGrp="1"/>
          </p:cNvSpPr>
          <p:nvPr>
            <p:ph type="title"/>
          </p:nvPr>
        </p:nvSpPr>
        <p:spPr>
          <a:xfrm>
            <a:off x="793662" y="386930"/>
            <a:ext cx="10066122" cy="1298448"/>
          </a:xfrm>
        </p:spPr>
        <p:txBody>
          <a:bodyPr vert="horz" lIns="91440" tIns="45720" rIns="91440" bIns="45720" rtlCol="0" anchor="b">
            <a:normAutofit/>
          </a:bodyPr>
          <a:lstStyle/>
          <a:p>
            <a:r>
              <a:rPr lang="en-US" sz="4800" dirty="0"/>
              <a:t>Vacuum Command</a:t>
            </a:r>
          </a:p>
        </p:txBody>
      </p:sp>
      <p:sp>
        <p:nvSpPr>
          <p:cNvPr id="6153" name="Rectangle 6152">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5" name="Rectangle 615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A01FEFA0-349A-81D2-9AA7-99A127763D21}"/>
              </a:ext>
            </a:extLst>
          </p:cNvPr>
          <p:cNvSpPr txBox="1"/>
          <p:nvPr/>
        </p:nvSpPr>
        <p:spPr>
          <a:xfrm>
            <a:off x="793661" y="2599509"/>
            <a:ext cx="4530898" cy="3639450"/>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2000" dirty="0"/>
              <a:t>Every time an update or delete is done, a new Parquet file is created, and an entry is made in the transaction log. Old Parquet files are retained to enable time travel, which means that Parquet files accumulate over time.</a:t>
            </a:r>
          </a:p>
          <a:p>
            <a:pPr>
              <a:lnSpc>
                <a:spcPct val="90000"/>
              </a:lnSpc>
              <a:spcAft>
                <a:spcPts val="600"/>
              </a:spcAft>
            </a:pPr>
            <a:endParaRPr lang="en-US" sz="2000" dirty="0"/>
          </a:p>
          <a:p>
            <a:pPr indent="-228600">
              <a:lnSpc>
                <a:spcPct val="90000"/>
              </a:lnSpc>
              <a:spcAft>
                <a:spcPts val="600"/>
              </a:spcAft>
              <a:buFont typeface="Arial" panose="020B0604020202020204" pitchFamily="34" charset="0"/>
              <a:buChar char="•"/>
            </a:pPr>
            <a:r>
              <a:rPr lang="en-US" sz="2000" dirty="0"/>
              <a:t>The VACUUM command removes old Parquet data files, but not the transaction logs. When you run VACUUM, you can't time travel back earlier than the retention period.</a:t>
            </a:r>
          </a:p>
        </p:txBody>
      </p:sp>
      <p:pic>
        <p:nvPicPr>
          <p:cNvPr id="6146" name="Picture 2" descr="Diagram showing how vacuum works.">
            <a:extLst>
              <a:ext uri="{FF2B5EF4-FFF2-40B4-BE49-F238E27FC236}">
                <a16:creationId xmlns:a16="http://schemas.microsoft.com/office/drawing/2014/main" id="{E4772474-6FAB-418A-73C6-7B5D69AA770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r="7442"/>
          <a:stretch/>
        </p:blipFill>
        <p:spPr bwMode="auto">
          <a:xfrm>
            <a:off x="5911532" y="2484255"/>
            <a:ext cx="5150277" cy="3714244"/>
          </a:xfrm>
          <a:prstGeom prst="rect">
            <a:avLst/>
          </a:prstGeom>
          <a:noFill/>
          <a:extLst>
            <a:ext uri="{909E8E84-426E-40DD-AFC4-6F175D3DCCD1}">
              <a14:hiddenFill xmlns:a14="http://schemas.microsoft.com/office/drawing/2010/main">
                <a:solidFill>
                  <a:srgbClr val="FFFFFF"/>
                </a:solidFill>
              </a14:hiddenFill>
            </a:ext>
          </a:extLst>
        </p:spPr>
      </p:pic>
      <p:sp>
        <p:nvSpPr>
          <p:cNvPr id="6157" name="Rectangle 6156">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226752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75" name="Rectangle 7174">
            <a:extLst>
              <a:ext uri="{FF2B5EF4-FFF2-40B4-BE49-F238E27FC236}">
                <a16:creationId xmlns:a16="http://schemas.microsoft.com/office/drawing/2014/main" id="{117AB3D3-3C9C-4DED-809A-78734805B8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1160533-D1AD-6AF4-B550-4341B554628E}"/>
              </a:ext>
            </a:extLst>
          </p:cNvPr>
          <p:cNvSpPr>
            <a:spLocks noGrp="1"/>
          </p:cNvSpPr>
          <p:nvPr>
            <p:ph type="title"/>
          </p:nvPr>
        </p:nvSpPr>
        <p:spPr>
          <a:xfrm>
            <a:off x="793662" y="386930"/>
            <a:ext cx="10066122" cy="1298448"/>
          </a:xfrm>
        </p:spPr>
        <p:txBody>
          <a:bodyPr vert="horz" lIns="91440" tIns="45720" rIns="91440" bIns="45720" rtlCol="0" anchor="b">
            <a:normAutofit/>
          </a:bodyPr>
          <a:lstStyle/>
          <a:p>
            <a:r>
              <a:rPr lang="en-US" sz="4800"/>
              <a:t>Partitioning Delta Tables</a:t>
            </a:r>
          </a:p>
        </p:txBody>
      </p:sp>
      <p:sp>
        <p:nvSpPr>
          <p:cNvPr id="7177" name="Rectangle 7176">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79" name="Rectangle 7178">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751AE604-1067-8B7D-03E5-668ECA214FB0}"/>
              </a:ext>
            </a:extLst>
          </p:cNvPr>
          <p:cNvSpPr txBox="1"/>
          <p:nvPr/>
        </p:nvSpPr>
        <p:spPr>
          <a:xfrm>
            <a:off x="793661" y="2599509"/>
            <a:ext cx="4530898" cy="3639450"/>
          </a:xfrm>
          <a:prstGeom prst="rect">
            <a:avLst/>
          </a:prstGeom>
        </p:spPr>
        <p:txBody>
          <a:bodyPr vert="horz" lIns="91440" tIns="45720" rIns="91440" bIns="45720" rtlCol="0" anchor="ctr">
            <a:normAutofit/>
          </a:bodyPr>
          <a:lstStyle/>
          <a:p>
            <a:pPr>
              <a:lnSpc>
                <a:spcPct val="90000"/>
              </a:lnSpc>
              <a:spcAft>
                <a:spcPts val="600"/>
              </a:spcAft>
            </a:pPr>
            <a:r>
              <a:rPr lang="en-US" sz="1700" b="1" dirty="0"/>
              <a:t>Use partitioning when:</a:t>
            </a:r>
          </a:p>
          <a:p>
            <a:pPr indent="-228600">
              <a:lnSpc>
                <a:spcPct val="90000"/>
              </a:lnSpc>
              <a:spcAft>
                <a:spcPts val="600"/>
              </a:spcAft>
              <a:buFont typeface="Arial" panose="020B0604020202020204" pitchFamily="34" charset="0"/>
              <a:buChar char="•"/>
            </a:pPr>
            <a:r>
              <a:rPr lang="en-US" sz="1700" dirty="0"/>
              <a:t>You have very large amounts of data.</a:t>
            </a:r>
          </a:p>
          <a:p>
            <a:pPr indent="-228600">
              <a:lnSpc>
                <a:spcPct val="90000"/>
              </a:lnSpc>
              <a:spcAft>
                <a:spcPts val="600"/>
              </a:spcAft>
              <a:buFont typeface="Arial" panose="020B0604020202020204" pitchFamily="34" charset="0"/>
              <a:buChar char="•"/>
            </a:pPr>
            <a:r>
              <a:rPr lang="en-US" sz="1700" dirty="0"/>
              <a:t>Tables can be split into a few large partitions.</a:t>
            </a:r>
          </a:p>
          <a:p>
            <a:pPr>
              <a:lnSpc>
                <a:spcPct val="90000"/>
              </a:lnSpc>
              <a:spcAft>
                <a:spcPts val="600"/>
              </a:spcAft>
            </a:pPr>
            <a:endParaRPr lang="en-US" sz="1700" b="1" dirty="0"/>
          </a:p>
          <a:p>
            <a:pPr>
              <a:lnSpc>
                <a:spcPct val="90000"/>
              </a:lnSpc>
              <a:spcAft>
                <a:spcPts val="600"/>
              </a:spcAft>
            </a:pPr>
            <a:r>
              <a:rPr lang="en-US" sz="1700" b="1" dirty="0"/>
              <a:t>Don't use partitioning when:</a:t>
            </a:r>
          </a:p>
          <a:p>
            <a:pPr indent="-228600">
              <a:lnSpc>
                <a:spcPct val="90000"/>
              </a:lnSpc>
              <a:spcAft>
                <a:spcPts val="600"/>
              </a:spcAft>
              <a:buFont typeface="Arial" panose="020B0604020202020204" pitchFamily="34" charset="0"/>
              <a:buChar char="•"/>
            </a:pPr>
            <a:r>
              <a:rPr lang="en-US" sz="1700" dirty="0"/>
              <a:t>Data volumes are small.</a:t>
            </a:r>
          </a:p>
          <a:p>
            <a:pPr indent="-228600">
              <a:lnSpc>
                <a:spcPct val="90000"/>
              </a:lnSpc>
              <a:spcAft>
                <a:spcPts val="600"/>
              </a:spcAft>
              <a:buFont typeface="Arial" panose="020B0604020202020204" pitchFamily="34" charset="0"/>
              <a:buChar char="•"/>
            </a:pPr>
            <a:r>
              <a:rPr lang="en-US" sz="1700" dirty="0"/>
              <a:t>A partitioning column has high cardinality, as this creates a large number of partitions.</a:t>
            </a:r>
          </a:p>
          <a:p>
            <a:pPr indent="-228600">
              <a:lnSpc>
                <a:spcPct val="90000"/>
              </a:lnSpc>
              <a:spcAft>
                <a:spcPts val="600"/>
              </a:spcAft>
              <a:buFont typeface="Arial" panose="020B0604020202020204" pitchFamily="34" charset="0"/>
              <a:buChar char="•"/>
            </a:pPr>
            <a:r>
              <a:rPr lang="en-US" sz="1700" dirty="0"/>
              <a:t>A partitioning column would result in multiple levels.</a:t>
            </a:r>
          </a:p>
        </p:txBody>
      </p:sp>
      <p:pic>
        <p:nvPicPr>
          <p:cNvPr id="7170" name="Picture 2" descr="Diagram showing partitioning by one or more columns.">
            <a:extLst>
              <a:ext uri="{FF2B5EF4-FFF2-40B4-BE49-F238E27FC236}">
                <a16:creationId xmlns:a16="http://schemas.microsoft.com/office/drawing/2014/main" id="{71EF859F-4168-1018-8F58-41FB474F25C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6133" r="6164" b="1"/>
          <a:stretch/>
        </p:blipFill>
        <p:spPr bwMode="auto">
          <a:xfrm>
            <a:off x="5911532" y="2484255"/>
            <a:ext cx="5150277" cy="3714244"/>
          </a:xfrm>
          <a:prstGeom prst="rect">
            <a:avLst/>
          </a:prstGeom>
          <a:noFill/>
          <a:extLst>
            <a:ext uri="{909E8E84-426E-40DD-AFC4-6F175D3DCCD1}">
              <a14:hiddenFill xmlns:a14="http://schemas.microsoft.com/office/drawing/2010/main">
                <a:solidFill>
                  <a:srgbClr val="FFFFFF"/>
                </a:solidFill>
              </a14:hiddenFill>
            </a:ext>
          </a:extLst>
        </p:spPr>
      </p:pic>
      <p:sp>
        <p:nvSpPr>
          <p:cNvPr id="7181" name="Rectangle 7180">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668239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a:extLst>
              <a:ext uri="{FF2B5EF4-FFF2-40B4-BE49-F238E27FC236}">
                <a16:creationId xmlns:a16="http://schemas.microsoft.com/office/drawing/2014/main" id="{8720C340-2515-F406-90AE-DB98FC23AF3B}"/>
              </a:ext>
            </a:extLst>
          </p:cNvPr>
          <p:cNvSpPr txBox="1">
            <a:spLocks noGrp="1"/>
          </p:cNvSpPr>
          <p:nvPr>
            <p:ph idx="1"/>
          </p:nvPr>
        </p:nvSpPr>
        <p:spPr>
          <a:xfrm>
            <a:off x="914400" y="464911"/>
            <a:ext cx="10515600" cy="984885"/>
          </a:xfrm>
          <a:prstGeom prst="rect">
            <a:avLst/>
          </a:prstGeom>
          <a:ln/>
        </p:spPr>
        <p:style>
          <a:lnRef idx="2">
            <a:schemeClr val="accent5"/>
          </a:lnRef>
          <a:fillRef idx="1">
            <a:schemeClr val="lt1"/>
          </a:fillRef>
          <a:effectRef idx="0">
            <a:schemeClr val="accent5"/>
          </a:effectRef>
          <a:fontRef idx="minor">
            <a:schemeClr val="dk1"/>
          </a:fontRef>
        </p:style>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7432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41148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37160" lvl="1" indent="0">
              <a:buNone/>
            </a:pPr>
            <a:r>
              <a:rPr lang="en-US" sz="2000" dirty="0">
                <a:solidFill>
                  <a:schemeClr val="accent6"/>
                </a:solidFill>
                <a:latin typeface="Consolas" panose="020B0609020204030204" pitchFamily="49" charset="0"/>
              </a:rPr>
              <a:t># Partitioning Delta Table by “Category”</a:t>
            </a:r>
          </a:p>
          <a:p>
            <a:pPr marL="137160" lvl="1" indent="0">
              <a:buNone/>
            </a:pPr>
            <a:r>
              <a:rPr lang="en-US" sz="2000" dirty="0" err="1">
                <a:latin typeface="Consolas" panose="020B0609020204030204" pitchFamily="49" charset="0"/>
              </a:rPr>
              <a:t>df.write.format</a:t>
            </a:r>
            <a:r>
              <a:rPr lang="en-US" sz="2000" dirty="0">
                <a:latin typeface="Consolas" panose="020B0609020204030204" pitchFamily="49" charset="0"/>
              </a:rPr>
              <a:t>("delta").</a:t>
            </a:r>
            <a:r>
              <a:rPr lang="en-US" sz="2000" dirty="0" err="1">
                <a:latin typeface="Consolas" panose="020B0609020204030204" pitchFamily="49" charset="0"/>
              </a:rPr>
              <a:t>partitionBy</a:t>
            </a:r>
            <a:r>
              <a:rPr lang="en-US" sz="2000" dirty="0">
                <a:latin typeface="Consolas" panose="020B0609020204030204" pitchFamily="49" charset="0"/>
              </a:rPr>
              <a:t>("Category").</a:t>
            </a:r>
            <a:r>
              <a:rPr lang="en-US" sz="2000" dirty="0" err="1">
                <a:latin typeface="Consolas" panose="020B0609020204030204" pitchFamily="49" charset="0"/>
              </a:rPr>
              <a:t>saveAsTable</a:t>
            </a:r>
            <a:r>
              <a:rPr lang="en-US" sz="2000" dirty="0">
                <a:latin typeface="Consolas" panose="020B0609020204030204" pitchFamily="49" charset="0"/>
              </a:rPr>
              <a:t>("</a:t>
            </a:r>
            <a:r>
              <a:rPr lang="en-US" sz="2000" dirty="0" err="1">
                <a:latin typeface="Consolas" panose="020B0609020204030204" pitchFamily="49" charset="0"/>
              </a:rPr>
              <a:t>partitioned_products</a:t>
            </a:r>
            <a:r>
              <a:rPr lang="en-US" sz="2000" dirty="0">
                <a:latin typeface="Consolas" panose="020B0609020204030204" pitchFamily="49" charset="0"/>
              </a:rPr>
              <a:t>", path="</a:t>
            </a:r>
            <a:r>
              <a:rPr lang="en-US" sz="2000" dirty="0" err="1">
                <a:latin typeface="Consolas" panose="020B0609020204030204" pitchFamily="49" charset="0"/>
              </a:rPr>
              <a:t>abfs_path</a:t>
            </a:r>
            <a:r>
              <a:rPr lang="en-US" sz="2000" dirty="0">
                <a:latin typeface="Consolas" panose="020B0609020204030204" pitchFamily="49" charset="0"/>
              </a:rPr>
              <a:t>/</a:t>
            </a:r>
            <a:r>
              <a:rPr lang="en-US" sz="2000" dirty="0" err="1">
                <a:latin typeface="Consolas" panose="020B0609020204030204" pitchFamily="49" charset="0"/>
              </a:rPr>
              <a:t>partitioned_products</a:t>
            </a:r>
            <a:r>
              <a:rPr lang="en-US" sz="2000" dirty="0">
                <a:latin typeface="Consolas" panose="020B0609020204030204" pitchFamily="49" charset="0"/>
              </a:rPr>
              <a:t>")</a:t>
            </a:r>
          </a:p>
        </p:txBody>
      </p:sp>
      <p:pic>
        <p:nvPicPr>
          <p:cNvPr id="8194" name="Picture 2" descr="Screen picture of the lakehouse explorer and the product file partitioned by category.">
            <a:extLst>
              <a:ext uri="{FF2B5EF4-FFF2-40B4-BE49-F238E27FC236}">
                <a16:creationId xmlns:a16="http://schemas.microsoft.com/office/drawing/2014/main" id="{D64F388B-816C-1158-1FA5-086A2ADA6B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057626"/>
            <a:ext cx="12192000" cy="43354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7787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256</TotalTime>
  <Words>832</Words>
  <Application>Microsoft Office PowerPoint</Application>
  <PresentationFormat>Widescreen</PresentationFormat>
  <Paragraphs>69</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Aptos Display</vt:lpstr>
      <vt:lpstr>Arial</vt:lpstr>
      <vt:lpstr>Consolas</vt:lpstr>
      <vt:lpstr>Office Theme</vt:lpstr>
      <vt:lpstr>Working With Delta Tables </vt:lpstr>
      <vt:lpstr>Delta Tables</vt:lpstr>
      <vt:lpstr>External and Managed Delta Tables</vt:lpstr>
      <vt:lpstr>PowerPoint Presentation</vt:lpstr>
      <vt:lpstr>Using Delta Tables for Streaming Data</vt:lpstr>
      <vt:lpstr>PowerPoint Presentation</vt:lpstr>
      <vt:lpstr>Optimize Delta Tables with OptimizeWrite Function</vt:lpstr>
      <vt:lpstr>PowerPoint Presentation</vt:lpstr>
      <vt:lpstr>Optimize V-Order Function</vt:lpstr>
      <vt:lpstr>V-Order Function</vt:lpstr>
      <vt:lpstr>Vacuum Command</vt:lpstr>
      <vt:lpstr>Partitioning Delta Tables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Prabhjot Singh Bakshi</dc:creator>
  <cp:lastModifiedBy>Prabhjot Singh Bakshi</cp:lastModifiedBy>
  <cp:revision>1</cp:revision>
  <dcterms:created xsi:type="dcterms:W3CDTF">2025-02-01T06:28:38Z</dcterms:created>
  <dcterms:modified xsi:type="dcterms:W3CDTF">2025-02-01T11:29:35Z</dcterms:modified>
</cp:coreProperties>
</file>