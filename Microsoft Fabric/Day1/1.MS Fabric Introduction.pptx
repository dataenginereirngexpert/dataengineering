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65" r:id="rId5"/>
    <p:sldId id="258" r:id="rId6"/>
    <p:sldId id="257" r:id="rId7"/>
    <p:sldId id="264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89013-F951-37C2-9D66-681E519A71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C24B4-FBB6-0FD2-AA0A-4F08D46FF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6FF3C-4DB1-EE8D-218A-32E774D36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9501-85A3-4F5A-B3E8-080FB0C78181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CF3A6-D9BF-3D1B-7645-E04B4298A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65036-4AC1-8C36-77F4-C6631C85D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F6F44-598D-4D59-AC20-68ABA2B3F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270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089E9-D1C6-B8DA-EE42-9C754C07A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E7D32-2B7A-FCB5-B72B-617C59D8B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C6DB1-6E07-C6DB-1F56-82158868D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9501-85A3-4F5A-B3E8-080FB0C78181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D7FEE-9953-486C-E19B-9A44F8E93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C96AD-0E98-9844-2FB9-62A988571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F6F44-598D-4D59-AC20-68ABA2B3F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989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49F25-ABC6-77B1-922A-9D935BD3E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EEF69-0ABF-276C-6A0A-BF0BFA876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2339B-5E95-1527-5169-D18B1C588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9501-85A3-4F5A-B3E8-080FB0C78181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D6D5A-FBCC-5069-A480-E086923B3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C4B9-D8A1-DDCC-C5BF-44ED52D6D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F6F44-598D-4D59-AC20-68ABA2B3F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05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12EB5-9343-1CBE-EBE1-22C38B11D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5BAC2-A136-AD4A-D7AC-277208CEF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230C14-0349-61A1-FB28-A6DD8DD93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C56A5-9257-4DB6-73D5-5CD1A92EB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9501-85A3-4F5A-B3E8-080FB0C78181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65EA3-EF18-0D00-39CA-3980507E2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08D6B-A4CF-307B-7682-91080BB48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F6F44-598D-4D59-AC20-68ABA2B3F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009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3D431-C838-3881-DBED-006945036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57B22-0FAE-33E0-1829-9C1BACCDC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EE78D-8255-F11A-56FA-7E60F6974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478DD3-19D3-23F1-E468-8DCA3B1482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A28A67-D3D9-487A-FFA5-5F233F77EE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AED4C8-EC6A-B2CE-7FF9-34A239FEA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9501-85A3-4F5A-B3E8-080FB0C78181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950093-BC5F-32BC-C362-865F91BEE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0E9F46-E7C3-5F4D-43DC-E38B4A45C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F6F44-598D-4D59-AC20-68ABA2B3F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568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9F51E-C5FE-F76B-3D52-55109C7BF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4BD588-EF2E-DE45-276C-0D70FC34D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9501-85A3-4F5A-B3E8-080FB0C78181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1FD846-450B-67EC-120E-CCE329B6D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6A0CF9-5D59-E726-8C26-2A9051788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F6F44-598D-4D59-AC20-68ABA2B3F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017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7588C-E107-95F3-43E7-5F1ADA533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9501-85A3-4F5A-B3E8-080FB0C78181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1C62F9-F270-9DDF-A323-046610F3A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7B03C-A89D-6996-94D6-FDB170A9B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F6F44-598D-4D59-AC20-68ABA2B3F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018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59C68-9EC5-CD73-3DE3-C96B0745F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B6173-9B90-40F2-E88B-10AF2862F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63D089-4414-FC04-9E7C-DD2ABC14F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D600D-5DEA-2ECE-E834-B873B069A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9501-85A3-4F5A-B3E8-080FB0C78181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26EAB-FFF5-AD5B-8F52-DBF60BEC2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6D7AC-5E2A-0A41-2928-1C7D9D2ED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F6F44-598D-4D59-AC20-68ABA2B3F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700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68B2-A57A-F24E-6336-ECDBC5AED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AF4DF6-8B38-CD29-57E6-625408FD8E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23545-1D48-346A-6863-B866A3871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62C5A-786F-12D0-93FC-45EB582D1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9501-85A3-4F5A-B3E8-080FB0C78181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B4665-E945-C76A-216E-50E4613BC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35F6D-6DC2-7877-86FA-FB8D42874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F6F44-598D-4D59-AC20-68ABA2B3F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535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19626-787E-8A34-3058-F2E10872C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6AE072-16B0-8307-3779-31F7622EA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9075E-913B-A519-8443-5118ACFC5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9501-85A3-4F5A-B3E8-080FB0C78181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179EB-145C-85C3-003B-1E412B2D3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DBBC1-A294-7B38-7A6D-719472D52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F6F44-598D-4D59-AC20-68ABA2B3F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914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3403B8-BF81-7B82-BD2F-EA5C16EAE6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F4BC9-E9D3-8E1D-644F-909C43C24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06EF6-8AA4-95FE-A652-7FCA9AD25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9501-85A3-4F5A-B3E8-080FB0C78181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C7C5B-9044-DE73-5E94-971C3ED70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9DF2A-9B12-78C8-B49C-82706E6EE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F6F44-598D-4D59-AC20-68ABA2B3F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139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B50B73-50E8-D02B-EA3B-9049844FB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4FB09-7F22-5724-E361-90846B2E9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2B7EF-A0B2-5805-63BB-4F873F626E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259501-85A3-4F5A-B3E8-080FB0C78181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B6D0D-DC01-6BEB-BCDA-78E2D49250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D089E-A0C5-59CA-97E4-F103DF0CE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9F6F44-598D-4D59-AC20-68ABA2B3F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87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363EEA-7F75-E3EF-D5C5-99F113718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7955" y="2957208"/>
            <a:ext cx="5303521" cy="2387600"/>
          </a:xfrm>
        </p:spPr>
        <p:txBody>
          <a:bodyPr anchor="t">
            <a:normAutofit/>
          </a:bodyPr>
          <a:lstStyle/>
          <a:p>
            <a:pPr algn="l"/>
            <a:r>
              <a:rPr lang="en-US" sz="5400" dirty="0"/>
              <a:t>Microsoft Fabric</a:t>
            </a:r>
            <a:endParaRPr lang="en-IN" sz="5400" dirty="0"/>
          </a:p>
        </p:txBody>
      </p:sp>
      <p:grpSp>
        <p:nvGrpSpPr>
          <p:cNvPr id="3081" name="Group 308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082" name="Rectangle 308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3" name="Rectangle 308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4" name="Rectangle 308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86" name="Rectangle 308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8" name="Rectangle 308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Microsoft Fabric Logo - David Alzamendi">
            <a:extLst>
              <a:ext uri="{FF2B5EF4-FFF2-40B4-BE49-F238E27FC236}">
                <a16:creationId xmlns:a16="http://schemas.microsoft.com/office/drawing/2014/main" id="{AFFFF8BD-24D5-1E3B-2FFE-270F83580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57597" y="666728"/>
            <a:ext cx="5465791" cy="5465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423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FF494-89A8-8FEC-576A-3107CA2EF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2657" y="-227354"/>
            <a:ext cx="11353800" cy="1325563"/>
          </a:xfrm>
        </p:spPr>
        <p:txBody>
          <a:bodyPr/>
          <a:lstStyle/>
          <a:p>
            <a:r>
              <a:rPr lang="en-US" dirty="0"/>
              <a:t>Problem Statements (What is Fabric </a:t>
            </a:r>
            <a:r>
              <a:rPr lang="en-US" dirty="0" err="1"/>
              <a:t>Tryna</a:t>
            </a:r>
            <a:r>
              <a:rPr lang="en-US" dirty="0"/>
              <a:t> solve?)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A6060-5D96-5ECB-B1D7-AA8FF3727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1253331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Fragmented Data Systems: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Organizations often struggle with siloed data scattered across various storage systems, databases, and applications, making it difficult to access and integrate.</a:t>
            </a:r>
          </a:p>
          <a:p>
            <a:pPr marL="0" indent="0">
              <a:buNone/>
            </a:pPr>
            <a:r>
              <a:rPr lang="en-US" dirty="0"/>
              <a:t>    Consolidating this data for analytics, reporting, or AI/ML purposes involves extensive effort and custom solutions.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High Cost of Data Infrastructure: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Maintaining separate tools and platforms for data integration, data lakes, analytics, and AI workloads leads to high infrastructure and operational costs.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Lack of Collaboration Across Teams: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Data, analytics, and AI teams often operate in silos, leading to misaligned efforts and wasted resources.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6" name="Picture 2" descr="Microsoft Fabric Logo - David Alzamendi">
            <a:extLst>
              <a:ext uri="{FF2B5EF4-FFF2-40B4-BE49-F238E27FC236}">
                <a16:creationId xmlns:a16="http://schemas.microsoft.com/office/drawing/2014/main" id="{29E11E23-8FFA-5A36-DA63-2492A445A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321143" y="0"/>
            <a:ext cx="870857" cy="87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8299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iagram of the software as a service foundation beneath the different experiences of Fabric.">
            <a:extLst>
              <a:ext uri="{FF2B5EF4-FFF2-40B4-BE49-F238E27FC236}">
                <a16:creationId xmlns:a16="http://schemas.microsoft.com/office/drawing/2014/main" id="{D9AF89F8-9A40-30A9-3D01-C2C9C48E5C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380514" cy="4022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F680F1-2D87-68F4-D4CD-123F41BC9561}"/>
              </a:ext>
            </a:extLst>
          </p:cNvPr>
          <p:cNvSpPr txBox="1"/>
          <p:nvPr/>
        </p:nvSpPr>
        <p:spPr>
          <a:xfrm>
            <a:off x="7587343" y="252284"/>
            <a:ext cx="4354286" cy="206210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b="1" dirty="0"/>
              <a:t>Unified Platform for Analytics and AI:</a:t>
            </a:r>
            <a:endParaRPr lang="en-IN" sz="1600" dirty="0"/>
          </a:p>
          <a:p>
            <a:r>
              <a:rPr lang="en-IN" sz="1600" dirty="0"/>
              <a:t>1)  Microsoft Fabric </a:t>
            </a:r>
            <a:r>
              <a:rPr lang="en-IN" sz="1600" b="1" dirty="0"/>
              <a:t>integrates</a:t>
            </a:r>
            <a:r>
              <a:rPr lang="en-IN" sz="1600" dirty="0"/>
              <a:t> data engineering, data lakes, data science, analytics, and AI workloads into a </a:t>
            </a:r>
            <a:r>
              <a:rPr lang="en-IN" sz="1600" b="1" dirty="0"/>
              <a:t>single, end-to-end SaaS platform.</a:t>
            </a:r>
          </a:p>
          <a:p>
            <a:endParaRPr lang="en-IN" sz="1600" dirty="0"/>
          </a:p>
          <a:p>
            <a:r>
              <a:rPr lang="en-IN" sz="1600" dirty="0"/>
              <a:t> 2) It </a:t>
            </a:r>
            <a:r>
              <a:rPr lang="en-IN" sz="1600" b="1" dirty="0"/>
              <a:t>reduces fragmentation </a:t>
            </a:r>
            <a:r>
              <a:rPr lang="en-IN" sz="1600" dirty="0"/>
              <a:t>by bringing all data capabilities under one roof.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39172-6E83-05CA-B54F-EEFC41B9B1EC}"/>
              </a:ext>
            </a:extLst>
          </p:cNvPr>
          <p:cNvSpPr txBox="1"/>
          <p:nvPr/>
        </p:nvSpPr>
        <p:spPr>
          <a:xfrm>
            <a:off x="152400" y="4791865"/>
            <a:ext cx="6346371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err="1"/>
              <a:t>OneLake</a:t>
            </a:r>
            <a:r>
              <a:rPr lang="en-US" sz="1600" b="1" dirty="0"/>
              <a:t> as a Unified Storage Solution: </a:t>
            </a:r>
            <a:r>
              <a:rPr lang="en-US" sz="1600" dirty="0" err="1"/>
              <a:t>OneLake</a:t>
            </a:r>
            <a:r>
              <a:rPr lang="en-US" sz="1600" dirty="0"/>
              <a:t>, the core of Microsoft Fabric, acts as a single, unified data lake for all data storage needs</a:t>
            </a:r>
            <a:r>
              <a:rPr lang="en-US" sz="1600" b="1" dirty="0"/>
              <a:t>. There can never be zero and if you have fabric, you have one single ”</a:t>
            </a:r>
            <a:r>
              <a:rPr lang="en-US" sz="1600" b="1" dirty="0" err="1"/>
              <a:t>OneLake</a:t>
            </a:r>
            <a:r>
              <a:rPr lang="en-US" sz="1600" b="1" dirty="0"/>
              <a:t>” for your Fabric Tenant.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6633D85-4681-D6E4-2192-DD39D3B1A345}"/>
              </a:ext>
            </a:extLst>
          </p:cNvPr>
          <p:cNvSpPr/>
          <p:nvPr/>
        </p:nvSpPr>
        <p:spPr>
          <a:xfrm>
            <a:off x="-136072" y="555171"/>
            <a:ext cx="7723415" cy="1643743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ABC96F-13F8-2C28-F3AC-BBD473D68107}"/>
              </a:ext>
            </a:extLst>
          </p:cNvPr>
          <p:cNvCxnSpPr/>
          <p:nvPr/>
        </p:nvCxnSpPr>
        <p:spPr>
          <a:xfrm flipV="1">
            <a:off x="5334000" y="252284"/>
            <a:ext cx="2329543" cy="5532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888595-F08B-C613-0091-B3BD3A7A1E54}"/>
              </a:ext>
            </a:extLst>
          </p:cNvPr>
          <p:cNvCxnSpPr>
            <a:cxnSpLocks/>
          </p:cNvCxnSpPr>
          <p:nvPr/>
        </p:nvCxnSpPr>
        <p:spPr>
          <a:xfrm flipH="1">
            <a:off x="1306286" y="2968399"/>
            <a:ext cx="1491343" cy="1823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DF64EA3-760B-7E90-EE3A-7F70D9479A63}"/>
              </a:ext>
            </a:extLst>
          </p:cNvPr>
          <p:cNvSpPr txBox="1"/>
          <p:nvPr/>
        </p:nvSpPr>
        <p:spPr>
          <a:xfrm>
            <a:off x="8033657" y="4968780"/>
            <a:ext cx="3722914" cy="107721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/>
              <a:t>Collaboration and Governance: </a:t>
            </a:r>
            <a:r>
              <a:rPr lang="en-US" sz="1600" dirty="0"/>
              <a:t>Built-in governance tools, such as Purview, ensure compliance, data lineage, and security.</a:t>
            </a:r>
            <a:endParaRPr lang="en-IN" sz="16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EBC429-9F14-143A-177B-84A6AEE1D21F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582886" y="3677999"/>
            <a:ext cx="3450771" cy="18293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1734EBC-DD05-3A41-F164-81FB21E8BEAE}"/>
              </a:ext>
            </a:extLst>
          </p:cNvPr>
          <p:cNvSpPr txBox="1"/>
          <p:nvPr/>
        </p:nvSpPr>
        <p:spPr>
          <a:xfrm>
            <a:off x="3853542" y="2810670"/>
            <a:ext cx="3526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Single Source of Truth </a:t>
            </a:r>
            <a:endParaRPr lang="en-IN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EEFEA6-7CEA-5065-1A53-87FD643C3FCD}"/>
              </a:ext>
            </a:extLst>
          </p:cNvPr>
          <p:cNvSpPr txBox="1"/>
          <p:nvPr/>
        </p:nvSpPr>
        <p:spPr>
          <a:xfrm>
            <a:off x="7815942" y="2953049"/>
            <a:ext cx="4103915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Copilot For Fabric </a:t>
            </a:r>
            <a:r>
              <a:rPr lang="en-US" dirty="0"/>
              <a:t>ensures you get a beginner friendly experience and you use “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AI for AI, by AI and with AI</a:t>
            </a:r>
            <a:r>
              <a:rPr lang="en-US" dirty="0"/>
              <a:t>”</a:t>
            </a:r>
            <a:endParaRPr lang="en-I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4332383-497A-42AD-D4CF-AB5AF2A0CBD2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4449535" y="2384343"/>
            <a:ext cx="5418365" cy="5687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918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Diagram of different Fabric experiences all accessing the same OneLake data storage.">
            <a:extLst>
              <a:ext uri="{FF2B5EF4-FFF2-40B4-BE49-F238E27FC236}">
                <a16:creationId xmlns:a16="http://schemas.microsoft.com/office/drawing/2014/main" id="{6B354D11-27E6-3932-9236-611C133D614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910"/>
            <a:ext cx="7856452" cy="480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DA51D1-72C9-1E5A-947E-6DCDC35A350A}"/>
              </a:ext>
            </a:extLst>
          </p:cNvPr>
          <p:cNvSpPr txBox="1"/>
          <p:nvPr/>
        </p:nvSpPr>
        <p:spPr>
          <a:xfrm>
            <a:off x="8196942" y="83910"/>
            <a:ext cx="3842658" cy="132343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All the Microsoft Fabric compute experiences are prewired to </a:t>
            </a:r>
            <a:r>
              <a:rPr lang="en-US" sz="1600" b="1" dirty="0" err="1"/>
              <a:t>OneLake</a:t>
            </a:r>
            <a:r>
              <a:rPr lang="en-US" sz="1600" dirty="0"/>
              <a:t>, just like the Office applications are prewired to use the organizational OneDrive.</a:t>
            </a:r>
            <a:endParaRPr lang="en-IN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D4AA1B-186B-E6E9-97D7-034913C6D72F}"/>
              </a:ext>
            </a:extLst>
          </p:cNvPr>
          <p:cNvSpPr txBox="1"/>
          <p:nvPr/>
        </p:nvSpPr>
        <p:spPr>
          <a:xfrm>
            <a:off x="8196942" y="2105561"/>
            <a:ext cx="3842658" cy="132343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All the queries that you throw on your data run on a </a:t>
            </a:r>
            <a:r>
              <a:rPr lang="en-US" sz="1600" b="1" dirty="0"/>
              <a:t>serverless starter pool </a:t>
            </a:r>
            <a:r>
              <a:rPr lang="en-US" sz="1600" dirty="0"/>
              <a:t>which is in fact, “</a:t>
            </a:r>
            <a:r>
              <a:rPr lang="en-US" sz="1600" b="1" dirty="0"/>
              <a:t>serverless</a:t>
            </a:r>
            <a:r>
              <a:rPr lang="en-US" sz="1600" dirty="0"/>
              <a:t>” which means </a:t>
            </a:r>
            <a:r>
              <a:rPr lang="en-US" sz="1600" b="1" dirty="0"/>
              <a:t>“cost saving” </a:t>
            </a:r>
            <a:r>
              <a:rPr lang="en-US" sz="1600" dirty="0"/>
              <a:t>and “more focus on </a:t>
            </a:r>
            <a:r>
              <a:rPr lang="en-US" sz="1600" b="1" dirty="0"/>
              <a:t>business workflow </a:t>
            </a:r>
            <a:r>
              <a:rPr lang="en-US" sz="1600" dirty="0"/>
              <a:t>than infra”</a:t>
            </a:r>
            <a:endParaRPr lang="en-IN" sz="16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CCDA2A-4147-F02E-971B-0F1E75BB1D22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5007429" y="2090057"/>
            <a:ext cx="3189513" cy="6772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C67DCD1-7673-EA14-4454-BC6DCE3EE458}"/>
              </a:ext>
            </a:extLst>
          </p:cNvPr>
          <p:cNvSpPr/>
          <p:nvPr/>
        </p:nvSpPr>
        <p:spPr>
          <a:xfrm>
            <a:off x="1930699" y="1407349"/>
            <a:ext cx="5812971" cy="881743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737B2B1-833C-7C12-A585-7138BBD59B24}"/>
              </a:ext>
            </a:extLst>
          </p:cNvPr>
          <p:cNvSpPr/>
          <p:nvPr/>
        </p:nvSpPr>
        <p:spPr>
          <a:xfrm>
            <a:off x="1821842" y="3376880"/>
            <a:ext cx="5812971" cy="881743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978046-9DCD-981F-171C-F421D199A895}"/>
              </a:ext>
            </a:extLst>
          </p:cNvPr>
          <p:cNvSpPr txBox="1"/>
          <p:nvPr/>
        </p:nvSpPr>
        <p:spPr>
          <a:xfrm>
            <a:off x="7347857" y="4709458"/>
            <a:ext cx="4844143" cy="107721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/>
              <a:t>OneLake</a:t>
            </a:r>
            <a:r>
              <a:rPr lang="en-US" sz="1600" dirty="0"/>
              <a:t> </a:t>
            </a:r>
            <a:r>
              <a:rPr lang="en-US" sz="1600" b="1" dirty="0"/>
              <a:t>is multi-cloud </a:t>
            </a:r>
            <a:r>
              <a:rPr lang="en-US" sz="1600" dirty="0"/>
              <a:t>which means you can bring in data from “</a:t>
            </a:r>
            <a:r>
              <a:rPr lang="en-US" sz="1600" b="1" dirty="0"/>
              <a:t>anywhere</a:t>
            </a:r>
            <a:r>
              <a:rPr lang="en-US" sz="1600" dirty="0"/>
              <a:t>”, any CSP and that helps you establish a “</a:t>
            </a:r>
            <a:r>
              <a:rPr lang="en-US" sz="1600" b="1" dirty="0"/>
              <a:t>single source of truth</a:t>
            </a:r>
            <a:r>
              <a:rPr lang="en-US" sz="1600" dirty="0"/>
              <a:t>” for your entire </a:t>
            </a:r>
            <a:r>
              <a:rPr lang="en-US" sz="1600" dirty="0" err="1"/>
              <a:t>organisation</a:t>
            </a:r>
            <a:endParaRPr lang="en-IN" sz="16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62A2B5D-5155-3EFC-0461-7CA8A7DB3013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5386154" y="4198079"/>
            <a:ext cx="4383775" cy="51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36AA74F-22BB-4FB9-104E-0C930B4AC710}"/>
              </a:ext>
            </a:extLst>
          </p:cNvPr>
          <p:cNvSpPr/>
          <p:nvPr/>
        </p:nvSpPr>
        <p:spPr>
          <a:xfrm>
            <a:off x="4474029" y="2404918"/>
            <a:ext cx="674914" cy="685800"/>
          </a:xfrm>
          <a:prstGeom prst="ellipse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A239A6-4097-747B-F10F-A6136339C628}"/>
              </a:ext>
            </a:extLst>
          </p:cNvPr>
          <p:cNvSpPr txBox="1"/>
          <p:nvPr/>
        </p:nvSpPr>
        <p:spPr>
          <a:xfrm>
            <a:off x="290882" y="5173847"/>
            <a:ext cx="6076123" cy="132343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You can use </a:t>
            </a:r>
            <a:r>
              <a:rPr lang="en-US" sz="1600" b="1" dirty="0"/>
              <a:t>any engine </a:t>
            </a:r>
            <a:r>
              <a:rPr lang="en-US" sz="1600" dirty="0"/>
              <a:t>to query your data stored in “</a:t>
            </a:r>
            <a:r>
              <a:rPr lang="en-US" sz="1600" b="1" dirty="0" err="1"/>
              <a:t>OneLake</a:t>
            </a:r>
            <a:r>
              <a:rPr lang="en-US" sz="1600" dirty="0"/>
              <a:t>”; doesn’t matter if you are a </a:t>
            </a:r>
            <a:r>
              <a:rPr lang="en-US" sz="1600" b="1" dirty="0"/>
              <a:t>SQL developer</a:t>
            </a:r>
            <a:r>
              <a:rPr lang="en-US" sz="1600" dirty="0"/>
              <a:t>, a data scientist whose comfortable with </a:t>
            </a:r>
            <a:r>
              <a:rPr lang="en-US" sz="1600" b="1" dirty="0"/>
              <a:t>Python Apache Spark </a:t>
            </a:r>
            <a:r>
              <a:rPr lang="en-US" sz="1600" dirty="0"/>
              <a:t>or even someone who works with </a:t>
            </a:r>
            <a:r>
              <a:rPr lang="en-US" sz="1600" b="1" dirty="0"/>
              <a:t>real-time intelligent KQL queries </a:t>
            </a:r>
            <a:r>
              <a:rPr lang="en-US" sz="1600" dirty="0"/>
              <a:t>– “</a:t>
            </a:r>
            <a:r>
              <a:rPr lang="en-US" sz="1600" b="1" dirty="0"/>
              <a:t>Fabric’s got you covered!</a:t>
            </a:r>
            <a:r>
              <a:rPr lang="en-US" sz="1600" dirty="0"/>
              <a:t>”</a:t>
            </a:r>
            <a:endParaRPr lang="en-IN" sz="16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80282D8-F4EA-D2E6-0D9F-57696827C743}"/>
              </a:ext>
            </a:extLst>
          </p:cNvPr>
          <p:cNvCxnSpPr>
            <a:cxnSpLocks/>
          </p:cNvCxnSpPr>
          <p:nvPr/>
        </p:nvCxnSpPr>
        <p:spPr>
          <a:xfrm flipH="1">
            <a:off x="1055914" y="2016948"/>
            <a:ext cx="2090057" cy="3156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252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rawing of a house&#10;&#10;Description automatically generated">
            <a:extLst>
              <a:ext uri="{FF2B5EF4-FFF2-40B4-BE49-F238E27FC236}">
                <a16:creationId xmlns:a16="http://schemas.microsoft.com/office/drawing/2014/main" id="{D72FF382-0AFE-5F77-D00E-35CCDEC0E8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4" r="1919" b="-1"/>
          <a:stretch/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131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2F15977C-A586-76FE-E660-4D3AEF1E07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72" y="804308"/>
            <a:ext cx="11031114" cy="584880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9BF749-F865-20EE-D848-DB31114976AC}"/>
              </a:ext>
            </a:extLst>
          </p:cNvPr>
          <p:cNvSpPr txBox="1"/>
          <p:nvPr/>
        </p:nvSpPr>
        <p:spPr>
          <a:xfrm>
            <a:off x="2667000" y="76200"/>
            <a:ext cx="7532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MS Fabric = SaaS Service (What does it mean?)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22770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F3E77D34-1252-DB85-0BD7-51381D8E5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13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 shot of a diagram&#10;&#10;Description automatically generated">
            <a:extLst>
              <a:ext uri="{FF2B5EF4-FFF2-40B4-BE49-F238E27FC236}">
                <a16:creationId xmlns:a16="http://schemas.microsoft.com/office/drawing/2014/main" id="{F0AE7E5B-2EF9-18DB-7676-71AB11EAA1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46241" cy="435133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129F40-C943-80D4-8ABB-9E2B9D045411}"/>
              </a:ext>
            </a:extLst>
          </p:cNvPr>
          <p:cNvSpPr txBox="1"/>
          <p:nvPr/>
        </p:nvSpPr>
        <p:spPr>
          <a:xfrm>
            <a:off x="108858" y="4761636"/>
            <a:ext cx="6096000" cy="181588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b="1" dirty="0"/>
              <a:t>Lakehouse</a:t>
            </a:r>
            <a:r>
              <a:rPr lang="en-IN" sz="1400" dirty="0"/>
              <a:t>: Combines data lake and data warehouse capabilities for scalable data storage and querying.</a:t>
            </a:r>
          </a:p>
          <a:p>
            <a:endParaRPr lang="en-IN" sz="1400" dirty="0"/>
          </a:p>
          <a:p>
            <a:r>
              <a:rPr lang="en-IN" sz="1400" b="1" dirty="0"/>
              <a:t>Warehouse</a:t>
            </a:r>
            <a:r>
              <a:rPr lang="en-IN" sz="1400" dirty="0"/>
              <a:t>: A SQL-based data warehouse optimized for analytics and reporting.</a:t>
            </a:r>
          </a:p>
          <a:p>
            <a:endParaRPr lang="en-IN" sz="1400" dirty="0"/>
          </a:p>
          <a:p>
            <a:r>
              <a:rPr lang="en-IN" sz="1400" b="1" dirty="0"/>
              <a:t>KQL Database</a:t>
            </a:r>
            <a:r>
              <a:rPr lang="en-IN" sz="1400" dirty="0"/>
              <a:t>: Stores and queries telemetry data efficiently using Kusto Query Language.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29B453-DDF6-CE41-402E-D9B47F54AEC3}"/>
              </a:ext>
            </a:extLst>
          </p:cNvPr>
          <p:cNvSpPr/>
          <p:nvPr/>
        </p:nvSpPr>
        <p:spPr>
          <a:xfrm>
            <a:off x="-1" y="0"/>
            <a:ext cx="1480457" cy="4351338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8B864F-FD42-9693-8C8A-31811FB82A6E}"/>
              </a:ext>
            </a:extLst>
          </p:cNvPr>
          <p:cNvCxnSpPr/>
          <p:nvPr/>
        </p:nvCxnSpPr>
        <p:spPr>
          <a:xfrm>
            <a:off x="816429" y="4191000"/>
            <a:ext cx="0" cy="570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AF73BC3-D262-4EB3-B86F-E9D3F28FAFEB}"/>
              </a:ext>
            </a:extLst>
          </p:cNvPr>
          <p:cNvSpPr txBox="1"/>
          <p:nvPr/>
        </p:nvSpPr>
        <p:spPr>
          <a:xfrm>
            <a:off x="6335488" y="4395787"/>
            <a:ext cx="5660569" cy="246221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b="1" dirty="0"/>
              <a:t>Dataflow Gen2</a:t>
            </a:r>
            <a:r>
              <a:rPr lang="en-IN" sz="1400" dirty="0"/>
              <a:t>: A modern data preparation tool that supports complex transformations in a low-code environment.</a:t>
            </a:r>
          </a:p>
          <a:p>
            <a:endParaRPr lang="en-IN" sz="1400" dirty="0"/>
          </a:p>
          <a:p>
            <a:r>
              <a:rPr lang="en-IN" sz="1400" b="1" dirty="0"/>
              <a:t>Data Pipeline</a:t>
            </a:r>
            <a:r>
              <a:rPr lang="en-IN" sz="1400" dirty="0"/>
              <a:t>: Orchestrates ETL workflows to automate data integration processes.</a:t>
            </a:r>
          </a:p>
          <a:p>
            <a:endParaRPr lang="en-IN" sz="1400" dirty="0"/>
          </a:p>
          <a:p>
            <a:r>
              <a:rPr lang="en-IN" sz="1400" b="1" dirty="0"/>
              <a:t>KQL </a:t>
            </a:r>
            <a:r>
              <a:rPr lang="en-IN" sz="1400" b="1" dirty="0" err="1"/>
              <a:t>Queryset</a:t>
            </a:r>
            <a:r>
              <a:rPr lang="en-IN" sz="1400" dirty="0"/>
              <a:t>: Allows interactive exploration of telemetry and log data with KQL.</a:t>
            </a:r>
          </a:p>
          <a:p>
            <a:endParaRPr lang="en-IN" sz="1400" dirty="0"/>
          </a:p>
          <a:p>
            <a:r>
              <a:rPr lang="en-IN" sz="1400" b="1" dirty="0"/>
              <a:t>Spark Job Definition</a:t>
            </a:r>
            <a:r>
              <a:rPr lang="en-IN" sz="1400" dirty="0"/>
              <a:t>: Defines distributed data processing and analytics tasks using Apache Spark.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BB2B48B-7871-9671-EEBC-B491AC12E69C}"/>
              </a:ext>
            </a:extLst>
          </p:cNvPr>
          <p:cNvCxnSpPr>
            <a:cxnSpLocks/>
          </p:cNvCxnSpPr>
          <p:nvPr/>
        </p:nvCxnSpPr>
        <p:spPr>
          <a:xfrm>
            <a:off x="3864429" y="4191000"/>
            <a:ext cx="2471059" cy="2853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287A2F0-05C8-74E7-FB77-28285CFCE7A4}"/>
              </a:ext>
            </a:extLst>
          </p:cNvPr>
          <p:cNvSpPr txBox="1"/>
          <p:nvPr/>
        </p:nvSpPr>
        <p:spPr>
          <a:xfrm>
            <a:off x="8355098" y="753828"/>
            <a:ext cx="3749816" cy="224676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b="1" dirty="0"/>
              <a:t>Notebook</a:t>
            </a:r>
            <a:r>
              <a:rPr lang="en-IN" sz="1400" dirty="0"/>
              <a:t>: An interactive workspace for data exploration, model development, and visualization.</a:t>
            </a:r>
          </a:p>
          <a:p>
            <a:endParaRPr lang="en-IN" sz="1400" dirty="0"/>
          </a:p>
          <a:p>
            <a:r>
              <a:rPr lang="en-IN" sz="1400" b="1" dirty="0"/>
              <a:t>Experiment</a:t>
            </a:r>
            <a:r>
              <a:rPr lang="en-IN" sz="1400" dirty="0"/>
              <a:t>: A tool for running and tracking machine learning experiments to optimize models.</a:t>
            </a:r>
          </a:p>
          <a:p>
            <a:endParaRPr lang="en-IN" sz="1400" dirty="0"/>
          </a:p>
          <a:p>
            <a:r>
              <a:rPr lang="en-IN" sz="1400" b="1" dirty="0"/>
              <a:t>Model: </a:t>
            </a:r>
            <a:r>
              <a:rPr lang="en-IN" sz="1400" dirty="0"/>
              <a:t>Enables training, deployment, and management of machine learning models.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59E2B4B-8D07-4F26-037F-060BBE46783E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5257800" y="1067194"/>
            <a:ext cx="3097298" cy="8100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626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screen shot of a diagram&#10;&#10;Description automatically generated">
            <a:extLst>
              <a:ext uri="{FF2B5EF4-FFF2-40B4-BE49-F238E27FC236}">
                <a16:creationId xmlns:a16="http://schemas.microsoft.com/office/drawing/2014/main" id="{D958629B-F7EF-6759-F571-4523A1B6BB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46241" cy="43513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4F363-7278-3CAA-AAA0-9DAF6358FA1B}"/>
              </a:ext>
            </a:extLst>
          </p:cNvPr>
          <p:cNvSpPr txBox="1"/>
          <p:nvPr/>
        </p:nvSpPr>
        <p:spPr>
          <a:xfrm>
            <a:off x="8360229" y="1036857"/>
            <a:ext cx="3657600" cy="224676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b="1" dirty="0" err="1"/>
              <a:t>Eventstream</a:t>
            </a:r>
            <a:r>
              <a:rPr lang="en-IN" sz="1400" b="1" dirty="0"/>
              <a:t>: </a:t>
            </a:r>
            <a:r>
              <a:rPr lang="en-IN" sz="1400" dirty="0"/>
              <a:t>Captures and processes real-time event data for analytics or alerting.</a:t>
            </a:r>
          </a:p>
          <a:p>
            <a:endParaRPr lang="en-IN" sz="1400" dirty="0"/>
          </a:p>
          <a:p>
            <a:r>
              <a:rPr lang="en-IN" sz="1400" b="1" dirty="0"/>
              <a:t>Streaming Dataflow: </a:t>
            </a:r>
            <a:r>
              <a:rPr lang="en-IN" sz="1400" dirty="0"/>
              <a:t>Processes streaming data with real-time transformations and analytics.</a:t>
            </a:r>
          </a:p>
          <a:p>
            <a:endParaRPr lang="en-IN" sz="1400" dirty="0"/>
          </a:p>
          <a:p>
            <a:r>
              <a:rPr lang="en-IN" sz="1400" b="1" dirty="0"/>
              <a:t>Streaming Dataset: </a:t>
            </a:r>
            <a:r>
              <a:rPr lang="en-IN" sz="1400" dirty="0"/>
              <a:t>Provides a live data feed for building real-time dashboards and reports.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62E0E3-3E04-B876-1B55-94065AA2D856}"/>
              </a:ext>
            </a:extLst>
          </p:cNvPr>
          <p:cNvCxnSpPr>
            <a:cxnSpLocks/>
          </p:cNvCxnSpPr>
          <p:nvPr/>
        </p:nvCxnSpPr>
        <p:spPr>
          <a:xfrm flipV="1">
            <a:off x="7380514" y="3339418"/>
            <a:ext cx="2590800" cy="670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F45DE4BC-DC86-87D3-4C9D-6492FD264DCC}"/>
              </a:ext>
            </a:extLst>
          </p:cNvPr>
          <p:cNvSpPr/>
          <p:nvPr/>
        </p:nvSpPr>
        <p:spPr>
          <a:xfrm>
            <a:off x="3624941" y="2605656"/>
            <a:ext cx="4621299" cy="1743078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0593E9-BC0E-B077-C1FC-590F00C554EB}"/>
              </a:ext>
            </a:extLst>
          </p:cNvPr>
          <p:cNvSpPr txBox="1"/>
          <p:nvPr/>
        </p:nvSpPr>
        <p:spPr>
          <a:xfrm>
            <a:off x="141514" y="4416193"/>
            <a:ext cx="11255829" cy="230832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b="1" dirty="0"/>
              <a:t>Scorecard: </a:t>
            </a:r>
            <a:r>
              <a:rPr lang="en-IN" sz="1600" dirty="0"/>
              <a:t>Tracks key metrics and KPIs with visual goal-setting capabilities.</a:t>
            </a:r>
          </a:p>
          <a:p>
            <a:endParaRPr lang="en-IN" sz="1600" dirty="0"/>
          </a:p>
          <a:p>
            <a:r>
              <a:rPr lang="en-IN" sz="1600" b="1" dirty="0"/>
              <a:t>Report</a:t>
            </a:r>
            <a:r>
              <a:rPr lang="en-IN" sz="1600" dirty="0"/>
              <a:t>: Enables creation of paginated or interactive reports for sharing insights.</a:t>
            </a:r>
          </a:p>
          <a:p>
            <a:endParaRPr lang="en-IN" sz="1600" dirty="0"/>
          </a:p>
          <a:p>
            <a:r>
              <a:rPr lang="en-IN" sz="1600" b="1" dirty="0"/>
              <a:t>Dashboard</a:t>
            </a:r>
            <a:r>
              <a:rPr lang="en-IN" sz="1600" dirty="0"/>
              <a:t>: A visual interface for monitoring and interacting with live data.</a:t>
            </a:r>
          </a:p>
          <a:p>
            <a:endParaRPr lang="en-IN" sz="1600" dirty="0"/>
          </a:p>
          <a:p>
            <a:r>
              <a:rPr lang="en-IN" sz="1600" b="1" dirty="0"/>
              <a:t>Paginated Report</a:t>
            </a:r>
            <a:r>
              <a:rPr lang="en-IN" sz="1600" dirty="0"/>
              <a:t>: Generates fixed-format, print-ready reports for professional documentation.</a:t>
            </a:r>
          </a:p>
          <a:p>
            <a:endParaRPr lang="en-IN" sz="1600" dirty="0"/>
          </a:p>
          <a:p>
            <a:r>
              <a:rPr lang="en-IN" sz="1600" b="1" dirty="0"/>
              <a:t>Realtime Dashboard</a:t>
            </a:r>
            <a:r>
              <a:rPr lang="en-IN" sz="1600" dirty="0"/>
              <a:t>: Monitors live metrics and events with instantaneous updates.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B49B53A-C448-8304-6610-1FCBE2F36C18}"/>
              </a:ext>
            </a:extLst>
          </p:cNvPr>
          <p:cNvSpPr/>
          <p:nvPr/>
        </p:nvSpPr>
        <p:spPr>
          <a:xfrm>
            <a:off x="5344886" y="-164291"/>
            <a:ext cx="3015342" cy="3288492"/>
          </a:xfrm>
          <a:prstGeom prst="ellipse">
            <a:avLst/>
          </a:prstGeom>
          <a:noFill/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A9943E4-F1D9-DA88-C4A3-B883B8A32727}"/>
              </a:ext>
            </a:extLst>
          </p:cNvPr>
          <p:cNvCxnSpPr>
            <a:cxnSpLocks/>
          </p:cNvCxnSpPr>
          <p:nvPr/>
        </p:nvCxnSpPr>
        <p:spPr>
          <a:xfrm flipH="1">
            <a:off x="451755" y="967806"/>
            <a:ext cx="5045531" cy="35452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566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7BE1643C-527A-A59C-5ADA-5F4D9740C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1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131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672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Microsoft Fabric</vt:lpstr>
      <vt:lpstr>Problem Statements (What is Fabric Tryna solve?)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Prabhjot Singh Bakshi</dc:creator>
  <cp:lastModifiedBy>Prabhjot Singh Bakshi</cp:lastModifiedBy>
  <cp:revision>1</cp:revision>
  <dcterms:created xsi:type="dcterms:W3CDTF">2024-12-20T09:38:03Z</dcterms:created>
  <dcterms:modified xsi:type="dcterms:W3CDTF">2024-12-20T11:14:25Z</dcterms:modified>
</cp:coreProperties>
</file>