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147479806" r:id="rId5"/>
    <p:sldId id="2147479805" r:id="rId6"/>
    <p:sldId id="2147479825" r:id="rId7"/>
    <p:sldId id="2147479826" r:id="rId8"/>
    <p:sldId id="2147479808" r:id="rId9"/>
    <p:sldId id="2147479827" r:id="rId10"/>
    <p:sldId id="2147479828" r:id="rId11"/>
    <p:sldId id="2147479829" r:id="rId12"/>
    <p:sldId id="2147479830" r:id="rId13"/>
    <p:sldId id="2147479831" r:id="rId14"/>
    <p:sldId id="21474798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1330"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jot Singh Bakshi" userId="2bc06dbbe72a50e9" providerId="LiveId" clId="{5BE1D6EC-4A68-4BB3-99EB-C1C5526B9AAD}"/>
    <pc:docChg chg="modSld">
      <pc:chgData name="Prabhjot Singh Bakshi" userId="2bc06dbbe72a50e9" providerId="LiveId" clId="{5BE1D6EC-4A68-4BB3-99EB-C1C5526B9AAD}" dt="2024-12-13T06:25:39.443" v="7" actId="20577"/>
      <pc:docMkLst>
        <pc:docMk/>
      </pc:docMkLst>
      <pc:sldChg chg="modSp mod">
        <pc:chgData name="Prabhjot Singh Bakshi" userId="2bc06dbbe72a50e9" providerId="LiveId" clId="{5BE1D6EC-4A68-4BB3-99EB-C1C5526B9AAD}" dt="2024-12-13T06:25:39.443" v="7" actId="20577"/>
        <pc:sldMkLst>
          <pc:docMk/>
          <pc:sldMk cId="3609691075" sldId="2147479808"/>
        </pc:sldMkLst>
        <pc:spChg chg="mod">
          <ac:chgData name="Prabhjot Singh Bakshi" userId="2bc06dbbe72a50e9" providerId="LiveId" clId="{5BE1D6EC-4A68-4BB3-99EB-C1C5526B9AAD}" dt="2024-12-13T06:25:39.443" v="7" actId="20577"/>
          <ac:spMkLst>
            <pc:docMk/>
            <pc:sldMk cId="3609691075" sldId="2147479808"/>
            <ac:spMk id="5" creationId="{A36BBCA6-6603-057A-478C-4273C594A008}"/>
          </ac:spMkLst>
        </pc:spChg>
      </pc:sldChg>
      <pc:sldChg chg="modSp mod">
        <pc:chgData name="Prabhjot Singh Bakshi" userId="2bc06dbbe72a50e9" providerId="LiveId" clId="{5BE1D6EC-4A68-4BB3-99EB-C1C5526B9AAD}" dt="2024-12-13T05:59:03.410" v="1" actId="20577"/>
        <pc:sldMkLst>
          <pc:docMk/>
          <pc:sldMk cId="937728146" sldId="2147479826"/>
        </pc:sldMkLst>
        <pc:spChg chg="mod">
          <ac:chgData name="Prabhjot Singh Bakshi" userId="2bc06dbbe72a50e9" providerId="LiveId" clId="{5BE1D6EC-4A68-4BB3-99EB-C1C5526B9AAD}" dt="2024-12-13T05:59:00.724" v="0" actId="20577"/>
          <ac:spMkLst>
            <pc:docMk/>
            <pc:sldMk cId="937728146" sldId="2147479826"/>
            <ac:spMk id="21" creationId="{E47102CA-9AD3-C53D-61B8-95F47BDB49C4}"/>
          </ac:spMkLst>
        </pc:spChg>
        <pc:spChg chg="mod">
          <ac:chgData name="Prabhjot Singh Bakshi" userId="2bc06dbbe72a50e9" providerId="LiveId" clId="{5BE1D6EC-4A68-4BB3-99EB-C1C5526B9AAD}" dt="2024-12-13T05:59:03.410" v="1" actId="20577"/>
          <ac:spMkLst>
            <pc:docMk/>
            <pc:sldMk cId="937728146" sldId="2147479826"/>
            <ac:spMk id="29" creationId="{AB7554E9-CED0-784F-4ED3-38897C9F181B}"/>
          </ac:spMkLst>
        </pc:spChg>
        <pc:cxnChg chg="mod">
          <ac:chgData name="Prabhjot Singh Bakshi" userId="2bc06dbbe72a50e9" providerId="LiveId" clId="{5BE1D6EC-4A68-4BB3-99EB-C1C5526B9AAD}" dt="2024-12-13T05:59:03.410" v="1" actId="20577"/>
          <ac:cxnSpMkLst>
            <pc:docMk/>
            <pc:sldMk cId="937728146" sldId="2147479826"/>
            <ac:cxnSpMk id="32" creationId="{93843B40-B214-58AD-2E06-152320F309E9}"/>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29T03:04:59.0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1,'2409'0,"-2381"0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1B7579-303F-4BAB-9836-5F3E83419DA5}" type="datetimeFigureOut">
              <a:rPr lang="en-IN" smtClean="0"/>
              <a:t>13-12-2024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F2D19-0717-4FE8-B0CE-A25CAB4E0E3E}" type="slidenum">
              <a:rPr lang="en-IN" smtClean="0"/>
              <a:t>‹#›</a:t>
            </a:fld>
            <a:endParaRPr lang="en-IN"/>
          </a:p>
        </p:txBody>
      </p:sp>
    </p:spTree>
    <p:extLst>
      <p:ext uri="{BB962C8B-B14F-4D97-AF65-F5344CB8AC3E}">
        <p14:creationId xmlns:p14="http://schemas.microsoft.com/office/powerpoint/2010/main" val="691959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Storage Foundation</a:t>
            </a:r>
            <a:r>
              <a:rPr lang="en-US" dirty="0"/>
              <a:t>: ADLS serves as the underlying storage layer for a data </a:t>
            </a:r>
            <a:r>
              <a:rPr lang="en-US" dirty="0" err="1"/>
              <a:t>lakehouse</a:t>
            </a:r>
            <a:r>
              <a:rPr lang="en-US" dirty="0"/>
              <a:t>. It provides the scalable and cost-effective storage needed to hold large volumes of data.</a:t>
            </a:r>
          </a:p>
          <a:p>
            <a:r>
              <a:rPr lang="en-US" b="1" dirty="0"/>
              <a:t>Delta Lake Integration</a:t>
            </a:r>
            <a:r>
              <a:rPr lang="en-US" dirty="0"/>
              <a:t>: On top of ADLS, Delta Lake is often used to add data management capabilities. Delta Lake provides ACID transactions, schema enforcement, and other data management features that enhance the reliability and performance of the data </a:t>
            </a:r>
            <a:r>
              <a:rPr lang="en-US" dirty="0" err="1"/>
              <a:t>lakehouse</a:t>
            </a:r>
            <a:r>
              <a:rPr lang="en-US" dirty="0"/>
              <a:t>.</a:t>
            </a:r>
          </a:p>
          <a:p>
            <a:r>
              <a:rPr lang="en-US" b="1" dirty="0"/>
              <a:t>Unified Data Access</a:t>
            </a:r>
            <a:r>
              <a:rPr lang="en-US" dirty="0"/>
              <a:t>: The data </a:t>
            </a:r>
            <a:r>
              <a:rPr lang="en-US" dirty="0" err="1"/>
              <a:t>lakehouse</a:t>
            </a:r>
            <a:r>
              <a:rPr lang="en-US" dirty="0"/>
              <a:t> architecture allows users to access and analyze data stored in ADLS using a single platform, simplifying data workflows and reducing the need for multiple systems</a:t>
            </a:r>
          </a:p>
          <a:p>
            <a:endParaRPr lang="en-IN" dirty="0"/>
          </a:p>
          <a:p>
            <a:endParaRPr lang="en-IN" dirty="0"/>
          </a:p>
          <a:p>
            <a:r>
              <a:rPr lang="en-US" dirty="0"/>
              <a:t>Delta Lake can be considered a bridge between traditional data lakes and data warehouses. By adding data warehouse-like management capabilities to data lakes (like ACID transactions and schema enforcement), Delta Lake transforms a simple data lake into a more robust, reliable, and performance-optimized data platform, which is sometimes referred to as a </a:t>
            </a:r>
            <a:r>
              <a:rPr lang="en-US" b="1" dirty="0"/>
              <a:t>data </a:t>
            </a:r>
            <a:r>
              <a:rPr lang="en-US" b="1" dirty="0" err="1"/>
              <a:t>lakehouse</a:t>
            </a:r>
            <a:endParaRPr lang="en-IN" b="1" dirty="0"/>
          </a:p>
          <a:p>
            <a:endParaRPr lang="en-IN" b="1" dirty="0"/>
          </a:p>
          <a:p>
            <a:r>
              <a:rPr lang="en-US" dirty="0"/>
              <a:t>Delta lake = data warehouse</a:t>
            </a:r>
          </a:p>
          <a:p>
            <a:r>
              <a:rPr lang="en-US" b="1" dirty="0"/>
              <a:t>Not quite. </a:t>
            </a:r>
            <a:r>
              <a:rPr lang="en-US" dirty="0"/>
              <a:t>Although Delta Lake provides some data warehouse-like features, it is not a data warehouse itself. Here's a breakdown:</a:t>
            </a:r>
          </a:p>
          <a:p>
            <a:endParaRPr lang="en-US" dirty="0"/>
          </a:p>
          <a:p>
            <a:r>
              <a:rPr lang="en-US" dirty="0"/>
              <a:t>Delta lake = data warehouse</a:t>
            </a:r>
          </a:p>
          <a:p>
            <a:r>
              <a:rPr lang="en-US" dirty="0"/>
              <a:t>Not quite. Although Delta Lake provides some data warehouse-like features, it is not a data warehouse itself. Here's a breakdown:</a:t>
            </a:r>
          </a:p>
          <a:p>
            <a:r>
              <a:rPr lang="en-US" b="1" dirty="0"/>
              <a:t>Delta Lake</a:t>
            </a:r>
          </a:p>
          <a:p>
            <a:pPr>
              <a:buFont typeface="Arial" panose="020B0604020202020204" pitchFamily="34" charset="0"/>
              <a:buChar char="•"/>
            </a:pPr>
            <a:r>
              <a:rPr lang="en-US" b="1" dirty="0"/>
              <a:t>Purpose</a:t>
            </a:r>
            <a:r>
              <a:rPr lang="en-US" dirty="0"/>
              <a:t>: Delta Lake is an open-source storage layer that adds reliability and performance optimizations to data lakes.</a:t>
            </a:r>
          </a:p>
          <a:p>
            <a:pPr>
              <a:buFont typeface="Arial" panose="020B0604020202020204" pitchFamily="34" charset="0"/>
              <a:buChar char="•"/>
            </a:pPr>
            <a:r>
              <a:rPr lang="en-US" b="1" dirty="0"/>
              <a:t>Features</a:t>
            </a:r>
            <a:r>
              <a:rPr lang="en-US" dirty="0"/>
              <a:t>: It provides ACID transactions, scalable metadata handling, and unified batch and streaming data processing.</a:t>
            </a:r>
          </a:p>
          <a:p>
            <a:pPr>
              <a:buFont typeface="Arial" panose="020B0604020202020204" pitchFamily="34" charset="0"/>
              <a:buChar char="•"/>
            </a:pPr>
            <a:r>
              <a:rPr lang="en-US" b="1" dirty="0"/>
              <a:t>Integration</a:t>
            </a:r>
            <a:r>
              <a:rPr lang="en-US" dirty="0"/>
              <a:t>: It integrates with big data tools like Apache Spark to enhance the capabilities of a data lake.</a:t>
            </a:r>
          </a:p>
          <a:p>
            <a:pPr>
              <a:buFont typeface="Arial" panose="020B0604020202020204" pitchFamily="34" charset="0"/>
              <a:buChar char="•"/>
            </a:pPr>
            <a:endParaRPr lang="en-US" dirty="0"/>
          </a:p>
          <a:p>
            <a:r>
              <a:rPr lang="en-US" b="1" dirty="0"/>
              <a:t>Data Warehouse</a:t>
            </a:r>
          </a:p>
          <a:p>
            <a:pPr>
              <a:buFont typeface="Arial" panose="020B0604020202020204" pitchFamily="34" charset="0"/>
              <a:buChar char="•"/>
            </a:pPr>
            <a:r>
              <a:rPr lang="en-US" b="1" dirty="0"/>
              <a:t>Purpose</a:t>
            </a:r>
            <a:r>
              <a:rPr lang="en-US" dirty="0"/>
              <a:t>: A data warehouse is a system designed for querying and analyzing large volumes of structured data, typically from various sources.</a:t>
            </a:r>
          </a:p>
          <a:p>
            <a:pPr>
              <a:buFont typeface="Arial" panose="020B0604020202020204" pitchFamily="34" charset="0"/>
              <a:buChar char="•"/>
            </a:pPr>
            <a:r>
              <a:rPr lang="en-US" b="1" dirty="0"/>
              <a:t>Features</a:t>
            </a:r>
            <a:r>
              <a:rPr lang="en-US" dirty="0"/>
              <a:t>: It includes optimized storage, complex querying capabilities, and data transformation functionalities, usually structured in a star or snowflake schema.</a:t>
            </a:r>
          </a:p>
          <a:p>
            <a:pPr>
              <a:buFont typeface="Arial" panose="020B0604020202020204" pitchFamily="34" charset="0"/>
              <a:buChar char="•"/>
            </a:pPr>
            <a:r>
              <a:rPr lang="en-US" b="1" dirty="0"/>
              <a:t>Usage</a:t>
            </a:r>
            <a:r>
              <a:rPr lang="en-US" dirty="0"/>
              <a:t>: Data warehouses are used for Business Intelligence (BI) and reporting.</a:t>
            </a:r>
          </a:p>
          <a:p>
            <a:endParaRPr lang="en-US" dirty="0"/>
          </a:p>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12/13/2024 11:40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3851714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adding data warehouse-like management capabilities to data lakes (like ACID transactions and schema enforcement), Delta Lake transforms a simple data lake into a more robust, reliable, and performance-optimized data platform, which is sometimes referred to as a </a:t>
            </a:r>
            <a:r>
              <a:rPr lang="en-US" b="1" dirty="0"/>
              <a:t>data </a:t>
            </a:r>
            <a:r>
              <a:rPr lang="en-US" b="1" dirty="0" err="1"/>
              <a:t>lakehouse</a:t>
            </a:r>
            <a:r>
              <a:rPr lang="en-US" dirty="0"/>
              <a:t>.</a:t>
            </a:r>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61486BA7-839C-4D2B-BD52-EF0BBA8433FD}" type="datetime8">
              <a:rPr lang="en-US" smtClean="0"/>
              <a:t>12/13/2024 11:40 AM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371980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05237-DACB-430D-C82A-F9936157E4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D21E1E6-FBB4-7372-D619-7FD177BA8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804F9B7-3B40-18BD-2021-AB30E5BE46ED}"/>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5" name="Footer Placeholder 4">
            <a:extLst>
              <a:ext uri="{FF2B5EF4-FFF2-40B4-BE49-F238E27FC236}">
                <a16:creationId xmlns:a16="http://schemas.microsoft.com/office/drawing/2014/main" id="{1A7950E6-8C30-7077-2D6A-61B8D7958A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10A630-7370-8BFF-27BF-FB35606DA9BE}"/>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480371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9034-FC0F-E014-514F-48DD9767FD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7742A8-2C80-8F3F-0D98-B2F4C42EF6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D64FBC-C9D3-D0E8-71BA-83CC727573C7}"/>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5" name="Footer Placeholder 4">
            <a:extLst>
              <a:ext uri="{FF2B5EF4-FFF2-40B4-BE49-F238E27FC236}">
                <a16:creationId xmlns:a16="http://schemas.microsoft.com/office/drawing/2014/main" id="{00DC197D-48A6-1B22-4D36-752D66FDA4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FC191A-EA79-E8B6-8B17-4B92732F7069}"/>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4018222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C9598-4B0E-B663-7A61-B4521A306A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B7FCCE-56B7-5DDE-35DA-DD9C756378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CA7FD4-E7B9-E08E-A72F-1FAF4F72F1CE}"/>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5" name="Footer Placeholder 4">
            <a:extLst>
              <a:ext uri="{FF2B5EF4-FFF2-40B4-BE49-F238E27FC236}">
                <a16:creationId xmlns:a16="http://schemas.microsoft.com/office/drawing/2014/main" id="{68AF75EF-B64D-1301-79CE-AC6CF4DF31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2FD0B-0960-07FE-07DE-0A81BD3B1B31}"/>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4009515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71815-823C-C01D-452D-6FC8DBD2B9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CDE070-4249-A6DD-2162-69DDA57A53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BCE211-5B0F-C808-B052-B73AA48BBD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A57E32-B383-2920-5AD3-E452320DD75F}"/>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6" name="Footer Placeholder 5">
            <a:extLst>
              <a:ext uri="{FF2B5EF4-FFF2-40B4-BE49-F238E27FC236}">
                <a16:creationId xmlns:a16="http://schemas.microsoft.com/office/drawing/2014/main" id="{D5BF065C-7E91-C497-1BE1-9B30D4841D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BEEA51-9488-FA53-3068-BD5FD4D47C46}"/>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3281141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7A3F-8A25-284A-ACD8-9153A01047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21627C-A7BE-4340-3EDE-2CF93F3BA3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9A4D64-E215-6853-F41C-C8CBBAC483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3139EE-B5B8-507A-1E88-12B6C5DC1F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978AC8-4FC9-B538-35D3-032329A706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59FEF0-9EB9-5F51-0A39-414E2B5B4147}"/>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8" name="Footer Placeholder 7">
            <a:extLst>
              <a:ext uri="{FF2B5EF4-FFF2-40B4-BE49-F238E27FC236}">
                <a16:creationId xmlns:a16="http://schemas.microsoft.com/office/drawing/2014/main" id="{E4771ABB-B4C5-4E8A-9212-B0FBC9BA214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B0868B5-3CC4-AD4C-6289-9DC28E8EAE8B}"/>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2968800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AA28-EAC7-6B18-D962-D59B53F980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E4442AD-ACA2-738F-9B8A-02B0635541B9}"/>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4" name="Footer Placeholder 3">
            <a:extLst>
              <a:ext uri="{FF2B5EF4-FFF2-40B4-BE49-F238E27FC236}">
                <a16:creationId xmlns:a16="http://schemas.microsoft.com/office/drawing/2014/main" id="{90ED2AC8-DC57-0BBA-97BE-F66A4FE4AF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299D39-5F35-730D-1D55-3069E9A5AF5D}"/>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1162372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5F4075-3BCB-E527-F9BF-BDE8BDB56DF0}"/>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3" name="Footer Placeholder 2">
            <a:extLst>
              <a:ext uri="{FF2B5EF4-FFF2-40B4-BE49-F238E27FC236}">
                <a16:creationId xmlns:a16="http://schemas.microsoft.com/office/drawing/2014/main" id="{D4943D51-2F6B-A6C3-71DA-F518EE98E0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797AF1F-1C83-96C0-4971-F6E65A1EC2DA}"/>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1069016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53156-539D-A573-6A39-3B09F272F6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07808A8-BCE2-FB62-8365-C783235320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993578-BC2B-40CD-17E7-3A736E873C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6BD6C9-5AB8-62B2-DAD2-7905875B2AFC}"/>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6" name="Footer Placeholder 5">
            <a:extLst>
              <a:ext uri="{FF2B5EF4-FFF2-40B4-BE49-F238E27FC236}">
                <a16:creationId xmlns:a16="http://schemas.microsoft.com/office/drawing/2014/main" id="{F9FE5D4A-BB5D-4528-C675-25AFF98588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FAEB8B-DA02-3F03-51BD-77B649BFDD1E}"/>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3072367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9AE2C-0F9E-9664-3A10-E6EABADC6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0253EA-150F-001D-6D23-29C025606D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CFDE17-F762-421D-5728-79F7615B6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7A217A-D9EF-7A40-8821-D26272334745}"/>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6" name="Footer Placeholder 5">
            <a:extLst>
              <a:ext uri="{FF2B5EF4-FFF2-40B4-BE49-F238E27FC236}">
                <a16:creationId xmlns:a16="http://schemas.microsoft.com/office/drawing/2014/main" id="{714BC0E9-6B0B-EA32-9F96-139DA421E7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7C50D7-1022-2689-DEFA-7C1EADD12D0B}"/>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4127631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9533-EB83-B39C-5529-8CF1D67C9A1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5AB69A-18DA-745A-1CF6-0F759FE68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36B7CD-D2BF-81A4-BD72-E468DC4D3BC2}"/>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5" name="Footer Placeholder 4">
            <a:extLst>
              <a:ext uri="{FF2B5EF4-FFF2-40B4-BE49-F238E27FC236}">
                <a16:creationId xmlns:a16="http://schemas.microsoft.com/office/drawing/2014/main" id="{2FAB1055-A9D6-B516-BBC6-149820946A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726D91-D33A-D73C-49C0-058CDBD73449}"/>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435326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9FF71C-67E9-1601-D070-D9F2B19529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169D6B-E1B1-07FF-5191-334262FD20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EE9E90-0CD9-B170-E997-E2EB5895C5F0}"/>
              </a:ext>
            </a:extLst>
          </p:cNvPr>
          <p:cNvSpPr>
            <a:spLocks noGrp="1"/>
          </p:cNvSpPr>
          <p:nvPr>
            <p:ph type="dt" sz="half" idx="10"/>
          </p:nvPr>
        </p:nvSpPr>
        <p:spPr/>
        <p:txBody>
          <a:bodyPr/>
          <a:lstStyle/>
          <a:p>
            <a:fld id="{C90921B5-3794-4FD6-A5BF-1FDF9ED6BFDC}" type="datetimeFigureOut">
              <a:rPr lang="en-IN" smtClean="0"/>
              <a:t>13-12-2024</a:t>
            </a:fld>
            <a:endParaRPr lang="en-IN"/>
          </a:p>
        </p:txBody>
      </p:sp>
      <p:sp>
        <p:nvSpPr>
          <p:cNvPr id="5" name="Footer Placeholder 4">
            <a:extLst>
              <a:ext uri="{FF2B5EF4-FFF2-40B4-BE49-F238E27FC236}">
                <a16:creationId xmlns:a16="http://schemas.microsoft.com/office/drawing/2014/main" id="{44A0FFD4-18CE-A40A-2040-D548039EB4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43145C-2B1E-4114-4B0B-E6C716BED261}"/>
              </a:ext>
            </a:extLst>
          </p:cNvPr>
          <p:cNvSpPr>
            <a:spLocks noGrp="1"/>
          </p:cNvSpPr>
          <p:nvPr>
            <p:ph type="sldNum" sz="quarter" idx="12"/>
          </p:nvPr>
        </p:nvSpPr>
        <p:spPr/>
        <p:txBody>
          <a:bodyPr/>
          <a:lstStyle/>
          <a:p>
            <a:fld id="{D1952D59-B27C-4588-9281-76AEEDF8985C}" type="slidenum">
              <a:rPr lang="en-IN" smtClean="0"/>
              <a:t>‹#›</a:t>
            </a:fld>
            <a:endParaRPr lang="en-IN"/>
          </a:p>
        </p:txBody>
      </p:sp>
    </p:spTree>
    <p:extLst>
      <p:ext uri="{BB962C8B-B14F-4D97-AF65-F5344CB8AC3E}">
        <p14:creationId xmlns:p14="http://schemas.microsoft.com/office/powerpoint/2010/main" val="119366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dirty="0"/>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dirty="0">
                <a:solidFill>
                  <a:srgbClr val="000000"/>
                </a:solidFill>
              </a:rPr>
              <a:t>© Copyright Microsoft Corporation. All rights reserved.</a:t>
            </a:r>
          </a:p>
        </p:txBody>
      </p:sp>
    </p:spTree>
    <p:extLst>
      <p:ext uri="{BB962C8B-B14F-4D97-AF65-F5344CB8AC3E}">
        <p14:creationId xmlns:p14="http://schemas.microsoft.com/office/powerpoint/2010/main" val="42178602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F7A46A-CE41-5CB3-59FD-C85E6CE2D8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5DA755-FB8F-4A9F-6592-C124BCED22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ECE2D7-011B-007F-A79B-1367D74835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90921B5-3794-4FD6-A5BF-1FDF9ED6BFDC}" type="datetimeFigureOut">
              <a:rPr lang="en-IN" smtClean="0"/>
              <a:t>13-12-2024</a:t>
            </a:fld>
            <a:endParaRPr lang="en-IN"/>
          </a:p>
        </p:txBody>
      </p:sp>
      <p:sp>
        <p:nvSpPr>
          <p:cNvPr id="5" name="Footer Placeholder 4">
            <a:extLst>
              <a:ext uri="{FF2B5EF4-FFF2-40B4-BE49-F238E27FC236}">
                <a16:creationId xmlns:a16="http://schemas.microsoft.com/office/drawing/2014/main" id="{A635992C-5083-981D-A485-7614DD6A34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B143F5A-0E18-92E9-380D-875EC525E2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952D59-B27C-4588-9281-76AEEDF8985C}" type="slidenum">
              <a:rPr lang="en-IN" smtClean="0"/>
              <a:t>‹#›</a:t>
            </a:fld>
            <a:endParaRPr lang="en-IN"/>
          </a:p>
        </p:txBody>
      </p:sp>
    </p:spTree>
    <p:extLst>
      <p:ext uri="{BB962C8B-B14F-4D97-AF65-F5344CB8AC3E}">
        <p14:creationId xmlns:p14="http://schemas.microsoft.com/office/powerpoint/2010/main" val="2310022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customXml" Target="../ink/ink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030" name="Picture 6" descr="Microsoft Fabric - Brainsell">
            <a:extLst>
              <a:ext uri="{FF2B5EF4-FFF2-40B4-BE49-F238E27FC236}">
                <a16:creationId xmlns:a16="http://schemas.microsoft.com/office/drawing/2014/main" id="{C2C371B4-B9C8-702A-82D1-95523B9CAD53}"/>
              </a:ext>
            </a:extLst>
          </p:cNvPr>
          <p:cNvPicPr>
            <a:picLocks noChangeAspect="1" noChangeArrowheads="1"/>
          </p:cNvPicPr>
          <p:nvPr/>
        </p:nvPicPr>
        <p:blipFill>
          <a:blip r:embed="rId2">
            <a:alphaModFix amt="60000"/>
            <a:extLst>
              <a:ext uri="{28A0092B-C50C-407E-A947-70E740481C1C}">
                <a14:useLocalDpi xmlns:a14="http://schemas.microsoft.com/office/drawing/2010/main" val="0"/>
              </a:ext>
            </a:extLst>
          </a:blip>
          <a:srcRect r="11066"/>
          <a:stretch/>
        </p:blipFill>
        <p:spPr bwMode="auto">
          <a:xfrm>
            <a:off x="-4084" y="10"/>
            <a:ext cx="609905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icrosoft OneLake – the foundation of Fabric | Comset ...">
            <a:extLst>
              <a:ext uri="{FF2B5EF4-FFF2-40B4-BE49-F238E27FC236}">
                <a16:creationId xmlns:a16="http://schemas.microsoft.com/office/drawing/2014/main" id="{69AFDE77-3EA1-81A9-4AE7-AA9FFA399883}"/>
              </a:ext>
            </a:extLst>
          </p:cNvPr>
          <p:cNvPicPr>
            <a:picLocks noChangeAspect="1" noChangeArrowheads="1"/>
          </p:cNvPicPr>
          <p:nvPr/>
        </p:nvPicPr>
        <p:blipFill>
          <a:blip r:embed="rId3">
            <a:alphaModFix amt="60000"/>
            <a:extLst>
              <a:ext uri="{28A0092B-C50C-407E-A947-70E740481C1C}">
                <a14:useLocalDpi xmlns:a14="http://schemas.microsoft.com/office/drawing/2010/main" val="0"/>
              </a:ext>
            </a:extLst>
          </a:blip>
          <a:srcRect r="9000"/>
          <a:stretch/>
        </p:blipFill>
        <p:spPr bwMode="auto">
          <a:xfrm>
            <a:off x="6096844" y="10"/>
            <a:ext cx="6095156"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E22C58C-B46D-0A35-FF31-70813EDDD55E}"/>
              </a:ext>
            </a:extLst>
          </p:cNvPr>
          <p:cNvSpPr>
            <a:spLocks noGrp="1"/>
          </p:cNvSpPr>
          <p:nvPr>
            <p:ph type="ctrTitle"/>
          </p:nvPr>
        </p:nvSpPr>
        <p:spPr>
          <a:xfrm>
            <a:off x="1198181" y="1122363"/>
            <a:ext cx="9795637" cy="2215884"/>
          </a:xfrm>
        </p:spPr>
        <p:txBody>
          <a:bodyPr>
            <a:normAutofit/>
          </a:bodyPr>
          <a:lstStyle/>
          <a:p>
            <a:r>
              <a:rPr lang="en-US" sz="5200" dirty="0">
                <a:solidFill>
                  <a:srgbClr val="FFFFFF"/>
                </a:solidFill>
              </a:rPr>
              <a:t>Data Lakehouse and OneLake</a:t>
            </a:r>
            <a:endParaRPr lang="en-IN" sz="5200" dirty="0">
              <a:solidFill>
                <a:srgbClr val="FFFFFF"/>
              </a:solidFill>
            </a:endParaRPr>
          </a:p>
        </p:txBody>
      </p:sp>
    </p:spTree>
    <p:extLst>
      <p:ext uri="{BB962C8B-B14F-4D97-AF65-F5344CB8AC3E}">
        <p14:creationId xmlns:p14="http://schemas.microsoft.com/office/powerpoint/2010/main" val="473907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Azure Blob Storage vs Azure Data Lake Storage Gen 2 ...">
            <a:extLst>
              <a:ext uri="{FF2B5EF4-FFF2-40B4-BE49-F238E27FC236}">
                <a16:creationId xmlns:a16="http://schemas.microsoft.com/office/drawing/2014/main" id="{EF420188-8520-E7C8-C684-5F9DEB58C7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824" r="3841" b="-2"/>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5" name="Rectangle 2054">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AFFFD7-CBD0-B315-85A4-46B772E001E8}"/>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Data Lakehouse</a:t>
            </a:r>
          </a:p>
        </p:txBody>
      </p:sp>
      <p:cxnSp>
        <p:nvCxnSpPr>
          <p:cNvPr id="2057" name="Straight Connector 2056">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059" name="Straight Connector 2058">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9456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1F2CEA-FB4D-93EA-C128-DA0A1A6AB7F9}"/>
              </a:ext>
            </a:extLst>
          </p:cNvPr>
          <p:cNvSpPr>
            <a:spLocks noGrp="1"/>
          </p:cNvSpPr>
          <p:nvPr>
            <p:ph idx="1"/>
          </p:nvPr>
        </p:nvSpPr>
        <p:spPr>
          <a:xfrm>
            <a:off x="914400" y="225425"/>
            <a:ext cx="10657114" cy="1189718"/>
          </a:xfrm>
        </p:spPr>
        <p:style>
          <a:lnRef idx="2">
            <a:schemeClr val="accent5"/>
          </a:lnRef>
          <a:fillRef idx="1">
            <a:schemeClr val="lt1"/>
          </a:fillRef>
          <a:effectRef idx="0">
            <a:schemeClr val="accent5"/>
          </a:effectRef>
          <a:fontRef idx="minor">
            <a:schemeClr val="dk1"/>
          </a:fontRef>
        </p:style>
        <p:txBody>
          <a:bodyPr>
            <a:normAutofit lnSpcReduction="10000"/>
          </a:bodyPr>
          <a:lstStyle/>
          <a:p>
            <a:r>
              <a:rPr lang="en-US" dirty="0"/>
              <a:t>The </a:t>
            </a:r>
            <a:r>
              <a:rPr lang="en-US" b="1" dirty="0" err="1"/>
              <a:t>lakehouse</a:t>
            </a:r>
            <a:r>
              <a:rPr lang="en-US" b="1" dirty="0"/>
              <a:t> architecture</a:t>
            </a:r>
            <a:r>
              <a:rPr lang="en-US" dirty="0"/>
              <a:t> was developed to address key challenges that arose with traditional </a:t>
            </a:r>
            <a:r>
              <a:rPr lang="en-US" b="1" dirty="0"/>
              <a:t>data lake</a:t>
            </a:r>
            <a:r>
              <a:rPr lang="en-US" dirty="0"/>
              <a:t> and </a:t>
            </a:r>
            <a:r>
              <a:rPr lang="en-US" b="1" dirty="0"/>
              <a:t>data warehouse</a:t>
            </a:r>
            <a:r>
              <a:rPr lang="en-US" dirty="0"/>
              <a:t> architectures. </a:t>
            </a:r>
            <a:endParaRPr lang="en-IN" dirty="0"/>
          </a:p>
        </p:txBody>
      </p:sp>
      <p:sp>
        <p:nvSpPr>
          <p:cNvPr id="4" name="TextBox 3">
            <a:extLst>
              <a:ext uri="{FF2B5EF4-FFF2-40B4-BE49-F238E27FC236}">
                <a16:creationId xmlns:a16="http://schemas.microsoft.com/office/drawing/2014/main" id="{6FC04F07-BD6D-540E-3A92-63F514B7BF69}"/>
              </a:ext>
            </a:extLst>
          </p:cNvPr>
          <p:cNvSpPr txBox="1"/>
          <p:nvPr/>
        </p:nvSpPr>
        <p:spPr>
          <a:xfrm>
            <a:off x="261257" y="1817914"/>
            <a:ext cx="5519057" cy="461665"/>
          </a:xfrm>
          <a:prstGeom prst="rect">
            <a:avLst/>
          </a:prstGeom>
          <a:noFill/>
        </p:spPr>
        <p:txBody>
          <a:bodyPr wrap="square" rtlCol="0">
            <a:spAutoFit/>
          </a:bodyPr>
          <a:lstStyle/>
          <a:p>
            <a:r>
              <a:rPr lang="en-US" sz="2400" b="1" dirty="0"/>
              <a:t>Limitations of Traditional Data Lakes</a:t>
            </a:r>
            <a:endParaRPr lang="en-IN" sz="2400" b="1" dirty="0"/>
          </a:p>
        </p:txBody>
      </p:sp>
      <p:sp>
        <p:nvSpPr>
          <p:cNvPr id="5" name="TextBox 4">
            <a:extLst>
              <a:ext uri="{FF2B5EF4-FFF2-40B4-BE49-F238E27FC236}">
                <a16:creationId xmlns:a16="http://schemas.microsoft.com/office/drawing/2014/main" id="{E120FDFA-0D40-A08C-4ED2-218CEB6755B5}"/>
              </a:ext>
            </a:extLst>
          </p:cNvPr>
          <p:cNvSpPr txBox="1"/>
          <p:nvPr/>
        </p:nvSpPr>
        <p:spPr>
          <a:xfrm>
            <a:off x="261257" y="2460171"/>
            <a:ext cx="5617029" cy="1477328"/>
          </a:xfrm>
          <a:prstGeom prst="rect">
            <a:avLst/>
          </a:prstGeom>
          <a:noFill/>
        </p:spPr>
        <p:txBody>
          <a:bodyPr wrap="square" rtlCol="0">
            <a:spAutoFit/>
          </a:bodyPr>
          <a:lstStyle/>
          <a:p>
            <a:pPr marL="342900" indent="-342900">
              <a:buAutoNum type="arabicParenR"/>
            </a:pPr>
            <a:r>
              <a:rPr lang="en-IN" dirty="0"/>
              <a:t>Lack of Schema Enforcement</a:t>
            </a:r>
          </a:p>
          <a:p>
            <a:pPr marL="342900" indent="-342900">
              <a:buAutoNum type="arabicParenR"/>
            </a:pPr>
            <a:r>
              <a:rPr lang="en-IN" dirty="0"/>
              <a:t>Poor Data Readability</a:t>
            </a:r>
          </a:p>
          <a:p>
            <a:pPr marL="342900" indent="-342900">
              <a:buAutoNum type="arabicParenR"/>
            </a:pPr>
            <a:r>
              <a:rPr lang="en-IN" dirty="0"/>
              <a:t>Low Query Performance</a:t>
            </a:r>
          </a:p>
          <a:p>
            <a:pPr marL="342900" indent="-342900">
              <a:buAutoNum type="arabicParenR"/>
            </a:pPr>
            <a:r>
              <a:rPr lang="en-IN" dirty="0"/>
              <a:t>Data Governance issues</a:t>
            </a:r>
          </a:p>
          <a:p>
            <a:endParaRPr lang="en-IN" dirty="0"/>
          </a:p>
        </p:txBody>
      </p:sp>
      <p:sp>
        <p:nvSpPr>
          <p:cNvPr id="7" name="TextBox 6">
            <a:extLst>
              <a:ext uri="{FF2B5EF4-FFF2-40B4-BE49-F238E27FC236}">
                <a16:creationId xmlns:a16="http://schemas.microsoft.com/office/drawing/2014/main" id="{3B9D4251-3915-9953-58D9-B238806E8D2C}"/>
              </a:ext>
            </a:extLst>
          </p:cNvPr>
          <p:cNvSpPr txBox="1"/>
          <p:nvPr/>
        </p:nvSpPr>
        <p:spPr>
          <a:xfrm>
            <a:off x="5970814" y="1828799"/>
            <a:ext cx="6651169" cy="461665"/>
          </a:xfrm>
          <a:prstGeom prst="rect">
            <a:avLst/>
          </a:prstGeom>
          <a:noFill/>
        </p:spPr>
        <p:txBody>
          <a:bodyPr wrap="square">
            <a:spAutoFit/>
          </a:bodyPr>
          <a:lstStyle/>
          <a:p>
            <a:r>
              <a:rPr lang="en-US" sz="2400" b="1" dirty="0"/>
              <a:t>Limitations of Traditional Data Warehouses</a:t>
            </a:r>
            <a:endParaRPr lang="en-IN" sz="2400" b="1" dirty="0"/>
          </a:p>
        </p:txBody>
      </p:sp>
      <p:sp>
        <p:nvSpPr>
          <p:cNvPr id="8" name="TextBox 7">
            <a:extLst>
              <a:ext uri="{FF2B5EF4-FFF2-40B4-BE49-F238E27FC236}">
                <a16:creationId xmlns:a16="http://schemas.microsoft.com/office/drawing/2014/main" id="{A8D2226F-4E05-47A5-DC40-BCDD7DEE4FD2}"/>
              </a:ext>
            </a:extLst>
          </p:cNvPr>
          <p:cNvSpPr txBox="1"/>
          <p:nvPr/>
        </p:nvSpPr>
        <p:spPr>
          <a:xfrm>
            <a:off x="6096000" y="2598670"/>
            <a:ext cx="5617029" cy="1200329"/>
          </a:xfrm>
          <a:prstGeom prst="rect">
            <a:avLst/>
          </a:prstGeom>
          <a:noFill/>
        </p:spPr>
        <p:txBody>
          <a:bodyPr wrap="square" rtlCol="0">
            <a:spAutoFit/>
          </a:bodyPr>
          <a:lstStyle/>
          <a:p>
            <a:pPr marL="342900" indent="-342900">
              <a:buAutoNum type="arabicParenR"/>
            </a:pPr>
            <a:r>
              <a:rPr lang="en-IN" dirty="0"/>
              <a:t>Scalability Constraints</a:t>
            </a:r>
          </a:p>
          <a:p>
            <a:pPr marL="342900" indent="-342900">
              <a:buAutoNum type="arabicParenR"/>
            </a:pPr>
            <a:r>
              <a:rPr lang="en-IN" dirty="0"/>
              <a:t>High operation costs</a:t>
            </a:r>
          </a:p>
          <a:p>
            <a:pPr marL="342900" indent="-342900">
              <a:buAutoNum type="arabicParenR"/>
            </a:pPr>
            <a:r>
              <a:rPr lang="en-IN" dirty="0"/>
              <a:t>Limited Flexibility</a:t>
            </a:r>
          </a:p>
          <a:p>
            <a:endParaRPr lang="en-IN" dirty="0"/>
          </a:p>
        </p:txBody>
      </p:sp>
      <p:sp>
        <p:nvSpPr>
          <p:cNvPr id="12" name="TextBox 11">
            <a:extLst>
              <a:ext uri="{FF2B5EF4-FFF2-40B4-BE49-F238E27FC236}">
                <a16:creationId xmlns:a16="http://schemas.microsoft.com/office/drawing/2014/main" id="{09CF5D24-7B15-1BF9-AFB1-D9862C1B9296}"/>
              </a:ext>
            </a:extLst>
          </p:cNvPr>
          <p:cNvSpPr txBox="1"/>
          <p:nvPr/>
        </p:nvSpPr>
        <p:spPr>
          <a:xfrm>
            <a:off x="21771" y="4712458"/>
            <a:ext cx="6096000" cy="923330"/>
          </a:xfrm>
          <a:prstGeom prst="rect">
            <a:avLst/>
          </a:prstGeom>
          <a:noFill/>
        </p:spPr>
        <p:txBody>
          <a:bodyPr wrap="square">
            <a:spAutoFit/>
          </a:bodyPr>
          <a:lstStyle/>
          <a:p>
            <a:r>
              <a:rPr lang="en-US" dirty="0"/>
              <a:t>A </a:t>
            </a:r>
            <a:r>
              <a:rPr lang="en-US" b="1" dirty="0"/>
              <a:t>data lake</a:t>
            </a:r>
            <a:r>
              <a:rPr lang="en-US" dirty="0"/>
              <a:t> is a centralized repository designed to store large volumes of raw, unprocessed data in its original format.</a:t>
            </a:r>
          </a:p>
        </p:txBody>
      </p:sp>
      <p:sp>
        <p:nvSpPr>
          <p:cNvPr id="14" name="TextBox 13">
            <a:extLst>
              <a:ext uri="{FF2B5EF4-FFF2-40B4-BE49-F238E27FC236}">
                <a16:creationId xmlns:a16="http://schemas.microsoft.com/office/drawing/2014/main" id="{A156AAC2-99A2-3B25-1D2D-E501E0F59170}"/>
              </a:ext>
            </a:extLst>
          </p:cNvPr>
          <p:cNvSpPr txBox="1"/>
          <p:nvPr/>
        </p:nvSpPr>
        <p:spPr>
          <a:xfrm>
            <a:off x="5949043" y="4578422"/>
            <a:ext cx="6096000" cy="923330"/>
          </a:xfrm>
          <a:prstGeom prst="rect">
            <a:avLst/>
          </a:prstGeom>
          <a:noFill/>
        </p:spPr>
        <p:txBody>
          <a:bodyPr wrap="square">
            <a:spAutoFit/>
          </a:bodyPr>
          <a:lstStyle/>
          <a:p>
            <a:r>
              <a:rPr lang="en-US" dirty="0"/>
              <a:t>A </a:t>
            </a:r>
            <a:r>
              <a:rPr lang="en-US" b="1" dirty="0"/>
              <a:t>data warehouse</a:t>
            </a:r>
            <a:r>
              <a:rPr lang="en-US" dirty="0"/>
              <a:t> is a system optimized for storing and querying structured and processed data, primarily for business intelligence (BI) and reporting.</a:t>
            </a:r>
            <a:endParaRPr lang="en-IN" dirty="0"/>
          </a:p>
        </p:txBody>
      </p:sp>
      <p:cxnSp>
        <p:nvCxnSpPr>
          <p:cNvPr id="16" name="Straight Connector 15">
            <a:extLst>
              <a:ext uri="{FF2B5EF4-FFF2-40B4-BE49-F238E27FC236}">
                <a16:creationId xmlns:a16="http://schemas.microsoft.com/office/drawing/2014/main" id="{C235A1D1-27E9-C3C4-FC22-DA5A78F0C38D}"/>
              </a:ext>
            </a:extLst>
          </p:cNvPr>
          <p:cNvCxnSpPr/>
          <p:nvPr/>
        </p:nvCxnSpPr>
        <p:spPr>
          <a:xfrm>
            <a:off x="5780314" y="1817914"/>
            <a:ext cx="0" cy="4615543"/>
          </a:xfrm>
          <a:prstGeom prst="line">
            <a:avLst/>
          </a:prstGeom>
          <a:ln w="76200"/>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63474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71DD1A6-7E82-2749-824B-3B064F947A59}"/>
              </a:ext>
            </a:extLst>
          </p:cNvPr>
          <p:cNvSpPr txBox="1">
            <a:spLocks noGrp="1"/>
          </p:cNvSpPr>
          <p:nvPr>
            <p:ph idx="1"/>
          </p:nvPr>
        </p:nvSpPr>
        <p:spPr>
          <a:xfrm>
            <a:off x="838200" y="987425"/>
            <a:ext cx="10515600" cy="435133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indent="0">
              <a:buNone/>
            </a:pPr>
            <a:r>
              <a:rPr lang="en-US" b="1" dirty="0"/>
              <a:t>Emergence of New Data Needs</a:t>
            </a:r>
          </a:p>
          <a:p>
            <a:pPr>
              <a:buFont typeface="Arial" panose="020B0604020202020204" pitchFamily="34" charset="0"/>
              <a:buChar char="•"/>
            </a:pPr>
            <a:r>
              <a:rPr lang="en-US" b="1" dirty="0"/>
              <a:t>Growth in Unstructured Data</a:t>
            </a:r>
            <a:r>
              <a:rPr lang="en-US" dirty="0"/>
              <a:t>: Explosion of data types (e.g., images, audio, video, logs) requires a system that can handle structured, semi-structured, and unstructured data uniformly.</a:t>
            </a:r>
          </a:p>
          <a:p>
            <a:pPr>
              <a:buFont typeface="Arial" panose="020B0604020202020204" pitchFamily="34" charset="0"/>
              <a:buChar char="•"/>
            </a:pPr>
            <a:r>
              <a:rPr lang="en-US" b="1" dirty="0"/>
              <a:t>Demand for Real-Time Analytics</a:t>
            </a:r>
            <a:r>
              <a:rPr lang="en-US" dirty="0"/>
              <a:t>: Traditional architectures cannot support real-time or near-real-time analytics on large-scale datasets efficiently.</a:t>
            </a:r>
          </a:p>
          <a:p>
            <a:pPr>
              <a:buFont typeface="Arial" panose="020B0604020202020204" pitchFamily="34" charset="0"/>
              <a:buChar char="•"/>
            </a:pPr>
            <a:r>
              <a:rPr lang="en-US" b="1" dirty="0"/>
              <a:t>AI/ML Workloads</a:t>
            </a:r>
            <a:r>
              <a:rPr lang="en-US" dirty="0"/>
              <a:t>: Data lakes are good for raw data storage but lack the reliability and performance needed for feature engineering and iterative machine learning workflows.</a:t>
            </a:r>
          </a:p>
        </p:txBody>
      </p:sp>
    </p:spTree>
    <p:extLst>
      <p:ext uri="{BB962C8B-B14F-4D97-AF65-F5344CB8AC3E}">
        <p14:creationId xmlns:p14="http://schemas.microsoft.com/office/powerpoint/2010/main" val="77123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B0B90-0A94-E0BE-B24D-1966662B7611}"/>
              </a:ext>
            </a:extLst>
          </p:cNvPr>
          <p:cNvSpPr>
            <a:spLocks noGrp="1"/>
          </p:cNvSpPr>
          <p:nvPr>
            <p:ph type="title"/>
          </p:nvPr>
        </p:nvSpPr>
        <p:spPr>
          <a:xfrm>
            <a:off x="385062" y="54275"/>
            <a:ext cx="11013474" cy="369332"/>
          </a:xfrm>
        </p:spPr>
        <p:txBody>
          <a:bodyPr>
            <a:normAutofit fontScale="90000"/>
          </a:bodyPr>
          <a:lstStyle/>
          <a:p>
            <a:pPr algn="ctr"/>
            <a:r>
              <a:rPr lang="en-US" dirty="0"/>
              <a:t>Data Lakehouse</a:t>
            </a:r>
            <a:endParaRPr lang="en-IN" dirty="0"/>
          </a:p>
        </p:txBody>
      </p:sp>
      <p:sp>
        <p:nvSpPr>
          <p:cNvPr id="8" name="TextBox 7">
            <a:extLst>
              <a:ext uri="{FF2B5EF4-FFF2-40B4-BE49-F238E27FC236}">
                <a16:creationId xmlns:a16="http://schemas.microsoft.com/office/drawing/2014/main" id="{838786C2-7E88-6E96-F91D-27669FBB0D94}"/>
              </a:ext>
            </a:extLst>
          </p:cNvPr>
          <p:cNvSpPr txBox="1"/>
          <p:nvPr/>
        </p:nvSpPr>
        <p:spPr>
          <a:xfrm>
            <a:off x="258786" y="453911"/>
            <a:ext cx="11551897" cy="1815882"/>
          </a:xfrm>
          <a:prstGeom prst="rect">
            <a:avLst/>
          </a:prstGeom>
          <a:noFill/>
          <a:ln>
            <a:solidFill>
              <a:schemeClr val="accent1"/>
            </a:solidFill>
          </a:ln>
        </p:spPr>
        <p:style>
          <a:lnRef idx="0">
            <a:scrgbClr r="0" g="0" b="0"/>
          </a:lnRef>
          <a:fillRef idx="0">
            <a:scrgbClr r="0" g="0" b="0"/>
          </a:fillRef>
          <a:effectRef idx="0">
            <a:scrgbClr r="0" g="0" b="0"/>
          </a:effectRef>
          <a:fontRef idx="minor">
            <a:schemeClr val="dk1"/>
          </a:fontRef>
        </p:style>
        <p:txBody>
          <a:bodyPr wrap="square">
            <a:spAutoFit/>
          </a:bodyPr>
          <a:lstStyle/>
          <a:p>
            <a:pPr marL="285750" indent="-285750">
              <a:buFont typeface="Wingdings" panose="05000000000000000000" pitchFamily="2" charset="2"/>
              <a:buChar char="Ø"/>
            </a:pPr>
            <a:r>
              <a:rPr lang="en-US" sz="1600" b="1" dirty="0"/>
              <a:t>A data lakehouse </a:t>
            </a:r>
            <a:r>
              <a:rPr lang="en-US" sz="1600" dirty="0"/>
              <a:t>provides scalable storage and processing capabilities for modern organizations that want to avoid isolated systems for processing different workloads, like machine learning (ML) and business intelligence (BI). </a:t>
            </a:r>
          </a:p>
          <a:p>
            <a:pPr marL="285750" indent="-285750">
              <a:buFont typeface="Wingdings" panose="05000000000000000000" pitchFamily="2" charset="2"/>
              <a:buChar char="Ø"/>
            </a:pPr>
            <a:r>
              <a:rPr lang="en-US" sz="1600" dirty="0"/>
              <a:t>A </a:t>
            </a:r>
            <a:r>
              <a:rPr lang="en-US" sz="1600" b="1" dirty="0"/>
              <a:t>data </a:t>
            </a:r>
            <a:r>
              <a:rPr lang="en-US" sz="1600" b="1" dirty="0" err="1"/>
              <a:t>lakehouse</a:t>
            </a:r>
            <a:r>
              <a:rPr lang="en-US" sz="1600" dirty="0"/>
              <a:t> is a modern data management architecture that combines the best features of data lakes and data warehouses. It provides the scalability and flexibility of data lakes with the data management and transactional capabilities of data warehouse</a:t>
            </a:r>
          </a:p>
          <a:p>
            <a:pPr marL="285750" indent="-285750">
              <a:buFont typeface="Wingdings" panose="05000000000000000000" pitchFamily="2" charset="2"/>
              <a:buChar char="Ø"/>
            </a:pPr>
            <a:r>
              <a:rPr lang="en-US" sz="1600" b="1" dirty="0"/>
              <a:t>A data lakehouse can help establish a single source of truth, eliminate redundant costs, and ensure data freshness.</a:t>
            </a:r>
          </a:p>
          <a:p>
            <a:pPr marL="285750" indent="-285750">
              <a:buFont typeface="Wingdings" panose="05000000000000000000" pitchFamily="2" charset="2"/>
              <a:buChar char="Ø"/>
            </a:pPr>
            <a:endParaRPr lang="en-IN" sz="1600" b="1" dirty="0"/>
          </a:p>
        </p:txBody>
      </p:sp>
      <p:pic>
        <p:nvPicPr>
          <p:cNvPr id="9" name="Picture 4" descr="What Is a Lakehouse? | Databricks Blog">
            <a:extLst>
              <a:ext uri="{FF2B5EF4-FFF2-40B4-BE49-F238E27FC236}">
                <a16:creationId xmlns:a16="http://schemas.microsoft.com/office/drawing/2014/main" id="{4F899A5F-E99A-D8D5-5822-DEABA8EEC9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76" y="2300097"/>
            <a:ext cx="7973050" cy="418585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3C27A09-0A7F-8BCA-1A3D-F6BB74A26A50}"/>
              </a:ext>
            </a:extLst>
          </p:cNvPr>
          <p:cNvSpPr txBox="1"/>
          <p:nvPr/>
        </p:nvSpPr>
        <p:spPr>
          <a:xfrm>
            <a:off x="155686" y="2807422"/>
            <a:ext cx="2630509" cy="3080074"/>
          </a:xfrm>
          <a:prstGeom prst="rect">
            <a:avLst/>
          </a:prstGeom>
          <a:noFill/>
          <a:ln>
            <a:solidFill>
              <a:schemeClr val="accent1"/>
            </a:solidFill>
          </a:ln>
        </p:spPr>
        <p:txBody>
          <a:bodyPr wrap="square">
            <a:spAutoFit/>
          </a:bodyPr>
          <a:lstStyle/>
          <a:p>
            <a:r>
              <a:rPr lang="en-US" b="1" dirty="0"/>
              <a:t>Data </a:t>
            </a:r>
            <a:r>
              <a:rPr lang="en-US" b="1" dirty="0" err="1"/>
              <a:t>lakehouse</a:t>
            </a:r>
            <a:r>
              <a:rPr lang="en-US" dirty="0"/>
              <a:t> leverages </a:t>
            </a:r>
            <a:r>
              <a:rPr lang="en-US" b="1" dirty="0"/>
              <a:t>ADLS for storage </a:t>
            </a:r>
            <a:r>
              <a:rPr lang="en-US" dirty="0"/>
              <a:t>while adding robust </a:t>
            </a:r>
            <a:r>
              <a:rPr lang="en-US" b="1" dirty="0"/>
              <a:t>data management features through Delta Lake</a:t>
            </a:r>
            <a:r>
              <a:rPr lang="en-US" dirty="0"/>
              <a:t>, creating a powerful and efficient data platform for various analytics and machine learning workloads.</a:t>
            </a:r>
            <a:endParaRPr lang="en-IN" dirty="0"/>
          </a:p>
        </p:txBody>
      </p:sp>
      <p:sp>
        <p:nvSpPr>
          <p:cNvPr id="10" name="TextBox 9">
            <a:extLst>
              <a:ext uri="{FF2B5EF4-FFF2-40B4-BE49-F238E27FC236}">
                <a16:creationId xmlns:a16="http://schemas.microsoft.com/office/drawing/2014/main" id="{9E4ECAF0-8D9F-991E-DEA5-8D7F24C4F6E9}"/>
              </a:ext>
            </a:extLst>
          </p:cNvPr>
          <p:cNvSpPr txBox="1"/>
          <p:nvPr/>
        </p:nvSpPr>
        <p:spPr>
          <a:xfrm>
            <a:off x="11099984" y="4162189"/>
            <a:ext cx="936330" cy="461665"/>
          </a:xfrm>
          <a:prstGeom prst="rect">
            <a:avLst/>
          </a:prstGeom>
          <a:noFill/>
        </p:spPr>
        <p:txBody>
          <a:bodyPr wrap="square">
            <a:spAutoFit/>
          </a:bodyPr>
          <a:lstStyle/>
          <a:p>
            <a:r>
              <a:rPr lang="en-IN" sz="1200" dirty="0"/>
              <a:t>Delta Lake Integration</a:t>
            </a:r>
          </a:p>
        </p:txBody>
      </p:sp>
      <p:cxnSp>
        <p:nvCxnSpPr>
          <p:cNvPr id="12" name="Straight Arrow Connector 11">
            <a:extLst>
              <a:ext uri="{FF2B5EF4-FFF2-40B4-BE49-F238E27FC236}">
                <a16:creationId xmlns:a16="http://schemas.microsoft.com/office/drawing/2014/main" id="{5714562C-D19D-EBFC-512D-22D7A50FDF7D}"/>
              </a:ext>
            </a:extLst>
          </p:cNvPr>
          <p:cNvCxnSpPr/>
          <p:nvPr/>
        </p:nvCxnSpPr>
        <p:spPr>
          <a:xfrm flipH="1">
            <a:off x="10616540" y="4512623"/>
            <a:ext cx="483444" cy="111231"/>
          </a:xfrm>
          <a:prstGeom prst="straightConnector1">
            <a:avLst/>
          </a:prstGeom>
          <a:ln w="57150">
            <a:solidFill>
              <a:srgbClr val="FF0000"/>
            </a:solidFill>
            <a:headEnd type="none" w="lg"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FF6394AC-899C-9AB8-9CBC-B0F30E24204E}"/>
                  </a:ext>
                </a:extLst>
              </p14:cNvPr>
              <p14:cNvContentPartPr/>
              <p14:nvPr/>
            </p14:nvContentPartPr>
            <p14:xfrm>
              <a:off x="9238830" y="4797594"/>
              <a:ext cx="877680" cy="360"/>
            </p14:xfrm>
          </p:contentPart>
        </mc:Choice>
        <mc:Fallback xmlns="">
          <p:pic>
            <p:nvPicPr>
              <p:cNvPr id="13" name="Ink 12">
                <a:extLst>
                  <a:ext uri="{FF2B5EF4-FFF2-40B4-BE49-F238E27FC236}">
                    <a16:creationId xmlns:a16="http://schemas.microsoft.com/office/drawing/2014/main" id="{FF6394AC-899C-9AB8-9CBC-B0F30E24204E}"/>
                  </a:ext>
                </a:extLst>
              </p:cNvPr>
              <p:cNvPicPr/>
              <p:nvPr/>
            </p:nvPicPr>
            <p:blipFill>
              <a:blip r:embed="rId5"/>
              <a:stretch>
                <a:fillRect/>
              </a:stretch>
            </p:blipFill>
            <p:spPr>
              <a:xfrm>
                <a:off x="9185190" y="4689954"/>
                <a:ext cx="985320" cy="216000"/>
              </a:xfrm>
              <a:prstGeom prst="rect">
                <a:avLst/>
              </a:prstGeom>
            </p:spPr>
          </p:pic>
        </mc:Fallback>
      </mc:AlternateContent>
    </p:spTree>
    <p:extLst>
      <p:ext uri="{BB962C8B-B14F-4D97-AF65-F5344CB8AC3E}">
        <p14:creationId xmlns:p14="http://schemas.microsoft.com/office/powerpoint/2010/main" val="39133853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9ED332-523B-5528-D427-380BBD179304}"/>
              </a:ext>
            </a:extLst>
          </p:cNvPr>
          <p:cNvPicPr>
            <a:picLocks noChangeAspect="1"/>
          </p:cNvPicPr>
          <p:nvPr/>
        </p:nvPicPr>
        <p:blipFill>
          <a:blip r:embed="rId2"/>
          <a:stretch>
            <a:fillRect/>
          </a:stretch>
        </p:blipFill>
        <p:spPr>
          <a:xfrm>
            <a:off x="124154" y="873671"/>
            <a:ext cx="6870036" cy="2960390"/>
          </a:xfrm>
          <a:prstGeom prst="rect">
            <a:avLst/>
          </a:prstGeom>
          <a:ln>
            <a:solidFill>
              <a:schemeClr val="tx1"/>
            </a:solidFill>
          </a:ln>
        </p:spPr>
      </p:pic>
      <p:sp>
        <p:nvSpPr>
          <p:cNvPr id="9" name="TextBox 8">
            <a:extLst>
              <a:ext uri="{FF2B5EF4-FFF2-40B4-BE49-F238E27FC236}">
                <a16:creationId xmlns:a16="http://schemas.microsoft.com/office/drawing/2014/main" id="{19828953-87D8-4D78-5F4D-2943D8E4768C}"/>
              </a:ext>
            </a:extLst>
          </p:cNvPr>
          <p:cNvSpPr txBox="1"/>
          <p:nvPr/>
        </p:nvSpPr>
        <p:spPr>
          <a:xfrm>
            <a:off x="7105197" y="675695"/>
            <a:ext cx="4814275" cy="1169551"/>
          </a:xfrm>
          <a:prstGeom prst="rect">
            <a:avLst/>
          </a:prstGeom>
          <a:noFill/>
          <a:ln>
            <a:solidFill>
              <a:schemeClr val="tx1"/>
            </a:solidFill>
          </a:ln>
        </p:spPr>
        <p:txBody>
          <a:bodyPr wrap="square">
            <a:spAutoFit/>
          </a:bodyPr>
          <a:lstStyle/>
          <a:p>
            <a:r>
              <a:rPr lang="en-US" sz="1400" dirty="0"/>
              <a:t>A </a:t>
            </a:r>
            <a:r>
              <a:rPr lang="en-US" sz="1400" dirty="0">
                <a:solidFill>
                  <a:schemeClr val="accent3"/>
                </a:solidFill>
              </a:rPr>
              <a:t>data </a:t>
            </a:r>
            <a:r>
              <a:rPr lang="en-US" sz="1400" dirty="0" err="1">
                <a:solidFill>
                  <a:schemeClr val="accent3"/>
                </a:solidFill>
              </a:rPr>
              <a:t>lakehouse</a:t>
            </a:r>
            <a:r>
              <a:rPr lang="en-US" sz="1400" dirty="0">
                <a:solidFill>
                  <a:schemeClr val="accent3"/>
                </a:solidFill>
              </a:rPr>
              <a:t> </a:t>
            </a:r>
            <a:r>
              <a:rPr lang="en-US" sz="1400" dirty="0"/>
              <a:t>is a modern data management architecture that combines the best features of data lakes and data warehouses. It provides the scalability and flexibility of data lakes with the data management and transactional capabilities of data warehouses</a:t>
            </a:r>
            <a:endParaRPr lang="en-IN" sz="1400" dirty="0"/>
          </a:p>
        </p:txBody>
      </p:sp>
      <p:sp>
        <p:nvSpPr>
          <p:cNvPr id="11" name="TextBox 10">
            <a:extLst>
              <a:ext uri="{FF2B5EF4-FFF2-40B4-BE49-F238E27FC236}">
                <a16:creationId xmlns:a16="http://schemas.microsoft.com/office/drawing/2014/main" id="{5F0ABF68-FBC0-8F63-74F8-6FC0E1F891B8}"/>
              </a:ext>
            </a:extLst>
          </p:cNvPr>
          <p:cNvSpPr txBox="1"/>
          <p:nvPr/>
        </p:nvSpPr>
        <p:spPr>
          <a:xfrm>
            <a:off x="7105197" y="2241079"/>
            <a:ext cx="4814276" cy="2677656"/>
          </a:xfrm>
          <a:prstGeom prst="rect">
            <a:avLst/>
          </a:prstGeom>
          <a:noFill/>
          <a:ln>
            <a:solidFill>
              <a:schemeClr val="tx1"/>
            </a:solidFill>
          </a:ln>
        </p:spPr>
        <p:txBody>
          <a:bodyPr wrap="square">
            <a:spAutoFit/>
          </a:bodyPr>
          <a:lstStyle/>
          <a:p>
            <a:r>
              <a:rPr lang="en-US" sz="1400" b="1" dirty="0">
                <a:solidFill>
                  <a:schemeClr val="accent3"/>
                </a:solidFill>
              </a:rPr>
              <a:t>Key Features of a Data Lakehouse:</a:t>
            </a:r>
          </a:p>
          <a:p>
            <a:endParaRPr lang="en-US" sz="1400" b="1" dirty="0">
              <a:solidFill>
                <a:schemeClr val="accent3"/>
              </a:solidFill>
            </a:endParaRPr>
          </a:p>
          <a:p>
            <a:r>
              <a:rPr lang="en-US" sz="1400" b="1" dirty="0"/>
              <a:t>Scalability: </a:t>
            </a:r>
            <a:r>
              <a:rPr lang="en-US" sz="1400" dirty="0"/>
              <a:t>Like data lakes, it can store vast amounts of structured, semi-structured, and unstructured data.</a:t>
            </a:r>
          </a:p>
          <a:p>
            <a:endParaRPr lang="en-US" sz="1400" dirty="0"/>
          </a:p>
          <a:p>
            <a:r>
              <a:rPr lang="en-US" sz="1400" b="1" dirty="0"/>
              <a:t>Data Management: </a:t>
            </a:r>
            <a:r>
              <a:rPr lang="en-US" sz="1400" dirty="0"/>
              <a:t>It includes features like ACID transactions, schema enforcement, and data versioning, similar to data warehouses.</a:t>
            </a:r>
          </a:p>
          <a:p>
            <a:endParaRPr lang="en-US" sz="1400" dirty="0"/>
          </a:p>
          <a:p>
            <a:r>
              <a:rPr lang="en-US" sz="1400" b="1" dirty="0"/>
              <a:t>Unified Platform: </a:t>
            </a:r>
            <a:r>
              <a:rPr lang="en-US" sz="1400" dirty="0"/>
              <a:t>It allows for both batch and real-time data processing, making it suitable for a wide range of analytics and machine learning tasks</a:t>
            </a:r>
            <a:endParaRPr lang="en-IN" sz="1400" dirty="0"/>
          </a:p>
        </p:txBody>
      </p:sp>
      <p:cxnSp>
        <p:nvCxnSpPr>
          <p:cNvPr id="13" name="Straight Arrow Connector 12">
            <a:extLst>
              <a:ext uri="{FF2B5EF4-FFF2-40B4-BE49-F238E27FC236}">
                <a16:creationId xmlns:a16="http://schemas.microsoft.com/office/drawing/2014/main" id="{5F206081-E86B-73AA-FC0C-946986D3818E}"/>
              </a:ext>
            </a:extLst>
          </p:cNvPr>
          <p:cNvCxnSpPr>
            <a:cxnSpLocks/>
          </p:cNvCxnSpPr>
          <p:nvPr/>
        </p:nvCxnSpPr>
        <p:spPr>
          <a:xfrm flipH="1">
            <a:off x="5755341" y="873671"/>
            <a:ext cx="1349856" cy="386799"/>
          </a:xfrm>
          <a:prstGeom prst="straightConnector1">
            <a:avLst/>
          </a:prstGeom>
          <a:ln w="38100">
            <a:solidFill>
              <a:srgbClr val="FF5C39"/>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671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05857BF-93D8-6083-6DDE-8A418601B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523" y="-208344"/>
            <a:ext cx="8763000" cy="31242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74F584A-1938-BF6F-FD36-ADF4FFF47C55}"/>
              </a:ext>
            </a:extLst>
          </p:cNvPr>
          <p:cNvSpPr txBox="1"/>
          <p:nvPr/>
        </p:nvSpPr>
        <p:spPr>
          <a:xfrm>
            <a:off x="447040" y="4145280"/>
            <a:ext cx="4283710"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t>The transaction log controls commit atomicity. During a transaction, data files are written to the file directory backing the table. When the transaction completes, a new entry is committed to the transaction log that includes the paths to all files written during the transaction.</a:t>
            </a:r>
            <a:endParaRPr lang="en-IN" sz="1200" dirty="0"/>
          </a:p>
        </p:txBody>
      </p:sp>
      <p:cxnSp>
        <p:nvCxnSpPr>
          <p:cNvPr id="10" name="Straight Arrow Connector 9">
            <a:extLst>
              <a:ext uri="{FF2B5EF4-FFF2-40B4-BE49-F238E27FC236}">
                <a16:creationId xmlns:a16="http://schemas.microsoft.com/office/drawing/2014/main" id="{0B6135BE-355C-0423-B956-B977BFB5A5CA}"/>
              </a:ext>
            </a:extLst>
          </p:cNvPr>
          <p:cNvCxnSpPr/>
          <p:nvPr/>
        </p:nvCxnSpPr>
        <p:spPr>
          <a:xfrm flipH="1">
            <a:off x="2042160" y="2550160"/>
            <a:ext cx="1158240" cy="1595120"/>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8490917-44DA-B136-E464-AD3A643F8B3E}"/>
              </a:ext>
            </a:extLst>
          </p:cNvPr>
          <p:cNvSpPr txBox="1"/>
          <p:nvPr/>
        </p:nvSpPr>
        <p:spPr>
          <a:xfrm>
            <a:off x="3200400" y="5811446"/>
            <a:ext cx="6096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Delta Lake uses optimistic concurrency control to provide transactional guarantees between writes.</a:t>
            </a:r>
            <a:endParaRPr lang="en-IN" sz="1200" dirty="0"/>
          </a:p>
        </p:txBody>
      </p:sp>
      <p:cxnSp>
        <p:nvCxnSpPr>
          <p:cNvPr id="15" name="Straight Arrow Connector 14">
            <a:extLst>
              <a:ext uri="{FF2B5EF4-FFF2-40B4-BE49-F238E27FC236}">
                <a16:creationId xmlns:a16="http://schemas.microsoft.com/office/drawing/2014/main" id="{0FDB988F-23EE-3FB4-893B-257E5B5F5312}"/>
              </a:ext>
            </a:extLst>
          </p:cNvPr>
          <p:cNvCxnSpPr>
            <a:cxnSpLocks/>
          </p:cNvCxnSpPr>
          <p:nvPr/>
        </p:nvCxnSpPr>
        <p:spPr>
          <a:xfrm>
            <a:off x="5222240" y="2550160"/>
            <a:ext cx="473453" cy="3113314"/>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47102CA-9AD3-C53D-61B8-95F47BDB49C4}"/>
              </a:ext>
            </a:extLst>
          </p:cNvPr>
          <p:cNvSpPr txBox="1"/>
          <p:nvPr/>
        </p:nvSpPr>
        <p:spPr>
          <a:xfrm>
            <a:off x="6177023" y="5044963"/>
            <a:ext cx="5567937"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t>uses write serializable isolation by default for all table writes and updates. Snapshot isolation is used for all table reads.</a:t>
            </a:r>
            <a:endParaRPr lang="en-IN" sz="1200" dirty="0"/>
          </a:p>
        </p:txBody>
      </p:sp>
      <p:cxnSp>
        <p:nvCxnSpPr>
          <p:cNvPr id="23" name="Straight Arrow Connector 22">
            <a:extLst>
              <a:ext uri="{FF2B5EF4-FFF2-40B4-BE49-F238E27FC236}">
                <a16:creationId xmlns:a16="http://schemas.microsoft.com/office/drawing/2014/main" id="{29492EDC-827B-26DB-B0E8-601B5EE8A237}"/>
              </a:ext>
            </a:extLst>
          </p:cNvPr>
          <p:cNvCxnSpPr>
            <a:cxnSpLocks/>
          </p:cNvCxnSpPr>
          <p:nvPr/>
        </p:nvCxnSpPr>
        <p:spPr>
          <a:xfrm>
            <a:off x="7226043" y="2576927"/>
            <a:ext cx="1481077" cy="2468036"/>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B7554E9-CED0-784F-4ED3-38897C9F181B}"/>
              </a:ext>
            </a:extLst>
          </p:cNvPr>
          <p:cNvSpPr txBox="1"/>
          <p:nvPr/>
        </p:nvSpPr>
        <p:spPr>
          <a:xfrm>
            <a:off x="8688070" y="3544716"/>
            <a:ext cx="305689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dirty="0"/>
              <a:t>uses cloud object storage to store all data files and transaction logs. Cloud object storage has high availability and durability.</a:t>
            </a:r>
            <a:endParaRPr lang="en-IN" sz="1200" dirty="0"/>
          </a:p>
        </p:txBody>
      </p:sp>
      <p:cxnSp>
        <p:nvCxnSpPr>
          <p:cNvPr id="32" name="Straight Arrow Connector 31">
            <a:extLst>
              <a:ext uri="{FF2B5EF4-FFF2-40B4-BE49-F238E27FC236}">
                <a16:creationId xmlns:a16="http://schemas.microsoft.com/office/drawing/2014/main" id="{93843B40-B214-58AD-2E06-152320F309E9}"/>
              </a:ext>
            </a:extLst>
          </p:cNvPr>
          <p:cNvCxnSpPr>
            <a:cxnSpLocks/>
            <a:endCxn id="29" idx="0"/>
          </p:cNvCxnSpPr>
          <p:nvPr/>
        </p:nvCxnSpPr>
        <p:spPr>
          <a:xfrm>
            <a:off x="9296400" y="2576927"/>
            <a:ext cx="920115" cy="967789"/>
          </a:xfrm>
          <a:prstGeom prst="straightConnector1">
            <a:avLst/>
          </a:prstGeom>
          <a:ln>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789AD088-23E2-0FA8-D483-68761B607EA9}"/>
              </a:ext>
            </a:extLst>
          </p:cNvPr>
          <p:cNvSpPr txBox="1"/>
          <p:nvPr/>
        </p:nvSpPr>
        <p:spPr>
          <a:xfrm>
            <a:off x="7305426" y="142884"/>
            <a:ext cx="4886574" cy="276999"/>
          </a:xfrm>
          <a:prstGeom prst="rect">
            <a:avLst/>
          </a:prstGeom>
          <a:noFill/>
        </p:spPr>
        <p:txBody>
          <a:bodyPr wrap="square" lIns="0" tIns="0" rIns="0" bIns="0" rtlCol="0">
            <a:spAutoFit/>
          </a:bodyPr>
          <a:lstStyle/>
          <a:p>
            <a:pPr algn="l"/>
            <a:r>
              <a:rPr lang="en-US" sz="1800" dirty="0">
                <a:solidFill>
                  <a:srgbClr val="C00000"/>
                </a:solidFill>
                <a:highlight>
                  <a:srgbClr val="FFFF00"/>
                </a:highlight>
              </a:rPr>
              <a:t>Data becomes your single source of truth</a:t>
            </a:r>
            <a:endParaRPr lang="en-IN" sz="1800" dirty="0">
              <a:solidFill>
                <a:srgbClr val="C00000"/>
              </a:solidFill>
              <a:highlight>
                <a:srgbClr val="FFFF00"/>
              </a:highlight>
            </a:endParaRPr>
          </a:p>
        </p:txBody>
      </p:sp>
    </p:spTree>
    <p:extLst>
      <p:ext uri="{BB962C8B-B14F-4D97-AF65-F5344CB8AC3E}">
        <p14:creationId xmlns:p14="http://schemas.microsoft.com/office/powerpoint/2010/main" val="9377281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6BBCA6-6603-057A-478C-4273C594A008}"/>
              </a:ext>
            </a:extLst>
          </p:cNvPr>
          <p:cNvSpPr txBox="1"/>
          <p:nvPr/>
        </p:nvSpPr>
        <p:spPr>
          <a:xfrm>
            <a:off x="428017" y="386243"/>
            <a:ext cx="11361906" cy="738664"/>
          </a:xfrm>
          <a:prstGeom prst="rect">
            <a:avLst/>
          </a:prstGeom>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pPr marL="285750" indent="-285750" algn="l">
              <a:buFont typeface="Wingdings" panose="05000000000000000000" pitchFamily="2" charset="2"/>
              <a:buChar char="Ø"/>
            </a:pPr>
            <a:r>
              <a:rPr lang="en-US" sz="1600" dirty="0"/>
              <a:t>Delta is a term introduced with Delta Lake, the foundation for storing data and tables in </a:t>
            </a:r>
            <a:r>
              <a:rPr lang="en-US" sz="1600"/>
              <a:t>the Fabric </a:t>
            </a:r>
            <a:r>
              <a:rPr lang="en-US" sz="1600" dirty="0"/>
              <a:t>lakehouse. </a:t>
            </a:r>
          </a:p>
          <a:p>
            <a:pPr marL="285750" indent="-285750" algn="l">
              <a:buFont typeface="Wingdings" panose="05000000000000000000" pitchFamily="2" charset="2"/>
              <a:buChar char="Ø"/>
            </a:pPr>
            <a:r>
              <a:rPr lang="en-US" sz="1600" dirty="0"/>
              <a:t>Delta Lake was conceived of as a unified data management system for handling transactional real-time and batch big data, by extending Parquet data files with a file-based transaction log for ACID transactions and scalable metadata handling.</a:t>
            </a:r>
            <a:endParaRPr lang="en-IN" sz="1600" dirty="0"/>
          </a:p>
        </p:txBody>
      </p:sp>
      <p:pic>
        <p:nvPicPr>
          <p:cNvPr id="3074" name="Picture 2" descr="Exploring the Medallion Architecture in Microsoft Fabric | by Mariusz  Kujawski | Medium">
            <a:extLst>
              <a:ext uri="{FF2B5EF4-FFF2-40B4-BE49-F238E27FC236}">
                <a16:creationId xmlns:a16="http://schemas.microsoft.com/office/drawing/2014/main" id="{32FEFB99-670C-02FE-434E-34F8F8105B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143" y="1351869"/>
            <a:ext cx="10585713" cy="529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69107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07" name="Group 4106">
            <a:extLst>
              <a:ext uri="{FF2B5EF4-FFF2-40B4-BE49-F238E27FC236}">
                <a16:creationId xmlns:a16="http://schemas.microsoft.com/office/drawing/2014/main" id="{E4556D3F-F9E0-4DD4-A96F-6A8297B924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4108" name="Color">
              <a:extLst>
                <a:ext uri="{FF2B5EF4-FFF2-40B4-BE49-F238E27FC236}">
                  <a16:creationId xmlns:a16="http://schemas.microsoft.com/office/drawing/2014/main" id="{86D4FF5D-6473-4BE3-A6EC-40CE2502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9" name="Color">
              <a:extLst>
                <a:ext uri="{FF2B5EF4-FFF2-40B4-BE49-F238E27FC236}">
                  <a16:creationId xmlns:a16="http://schemas.microsoft.com/office/drawing/2014/main" id="{993888FB-861F-4B4A-819C-BEB6D558A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100" name="Picture 4" descr="Microsoft OneLake – the foundation of Fabric | Comset - Business  Intelligence Consultancy">
            <a:extLst>
              <a:ext uri="{FF2B5EF4-FFF2-40B4-BE49-F238E27FC236}">
                <a16:creationId xmlns:a16="http://schemas.microsoft.com/office/drawing/2014/main" id="{6FAE84FB-C7AA-1014-A71F-1BC3452D0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2426"/>
          <a:stretch/>
        </p:blipFill>
        <p:spPr bwMode="auto">
          <a:xfrm>
            <a:off x="6803647" y="1065276"/>
            <a:ext cx="4730214" cy="4727448"/>
          </a:xfrm>
          <a:prstGeom prst="rect">
            <a:avLst/>
          </a:prstGeom>
          <a:noFill/>
          <a:extLst>
            <a:ext uri="{909E8E84-426E-40DD-AFC4-6F175D3DCCD1}">
              <a14:hiddenFill xmlns:a14="http://schemas.microsoft.com/office/drawing/2010/main">
                <a:solidFill>
                  <a:srgbClr val="FFFFFF"/>
                </a:solidFill>
              </a14:hiddenFill>
            </a:ext>
          </a:extLst>
        </p:spPr>
      </p:pic>
      <p:grpSp>
        <p:nvGrpSpPr>
          <p:cNvPr id="4111" name="Group 4110">
            <a:extLst>
              <a:ext uri="{FF2B5EF4-FFF2-40B4-BE49-F238E27FC236}">
                <a16:creationId xmlns:a16="http://schemas.microsoft.com/office/drawing/2014/main" id="{65EABBED-2B80-4B13-A7A8-1D34C4A027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4112" name="Freeform: Shape 4111">
              <a:extLst>
                <a:ext uri="{FF2B5EF4-FFF2-40B4-BE49-F238E27FC236}">
                  <a16:creationId xmlns:a16="http://schemas.microsoft.com/office/drawing/2014/main" id="{73A7A746-A7C1-443C-9B24-406D2224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Freeform: Shape 4112">
              <a:extLst>
                <a:ext uri="{FF2B5EF4-FFF2-40B4-BE49-F238E27FC236}">
                  <a16:creationId xmlns:a16="http://schemas.microsoft.com/office/drawing/2014/main" id="{1D71425D-6031-4121-BA40-815DACCD0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4" name="Freeform: Shape 4113">
              <a:extLst>
                <a:ext uri="{FF2B5EF4-FFF2-40B4-BE49-F238E27FC236}">
                  <a16:creationId xmlns:a16="http://schemas.microsoft.com/office/drawing/2014/main" id="{67A43343-A25B-49D5-9967-D5647ADF7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5" name="Freeform: Shape 4114">
              <a:extLst>
                <a:ext uri="{FF2B5EF4-FFF2-40B4-BE49-F238E27FC236}">
                  <a16:creationId xmlns:a16="http://schemas.microsoft.com/office/drawing/2014/main" id="{F066E434-22B6-48A1-BC19-A80163E819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6" name="Freeform: Shape 4115">
              <a:extLst>
                <a:ext uri="{FF2B5EF4-FFF2-40B4-BE49-F238E27FC236}">
                  <a16:creationId xmlns:a16="http://schemas.microsoft.com/office/drawing/2014/main" id="{35470CE2-E5F8-489C-84E9-775AE8D3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7" name="Freeform: Shape 4116">
              <a:extLst>
                <a:ext uri="{FF2B5EF4-FFF2-40B4-BE49-F238E27FC236}">
                  <a16:creationId xmlns:a16="http://schemas.microsoft.com/office/drawing/2014/main" id="{12435DD6-F0FB-492A-9267-CE09EC2C5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8" name="Freeform: Shape 4117">
              <a:extLst>
                <a:ext uri="{FF2B5EF4-FFF2-40B4-BE49-F238E27FC236}">
                  <a16:creationId xmlns:a16="http://schemas.microsoft.com/office/drawing/2014/main" id="{5B17117C-64EA-4B8B-9DDC-D10E947C4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F0043EE3-FAFF-4D5E-D9AF-D84609F83D9D}"/>
              </a:ext>
            </a:extLst>
          </p:cNvPr>
          <p:cNvSpPr txBox="1"/>
          <p:nvPr/>
        </p:nvSpPr>
        <p:spPr>
          <a:xfrm>
            <a:off x="789708" y="1014574"/>
            <a:ext cx="5633531" cy="22267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800">
                <a:solidFill>
                  <a:schemeClr val="bg1"/>
                </a:solidFill>
                <a:latin typeface="+mj-lt"/>
                <a:ea typeface="+mj-ea"/>
                <a:cs typeface="+mj-cs"/>
              </a:rPr>
              <a:t>OneLake – The OneDrive for all your data!</a:t>
            </a:r>
          </a:p>
        </p:txBody>
      </p:sp>
    </p:spTree>
    <p:extLst>
      <p:ext uri="{BB962C8B-B14F-4D97-AF65-F5344CB8AC3E}">
        <p14:creationId xmlns:p14="http://schemas.microsoft.com/office/powerpoint/2010/main" val="286188480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F839F36-05B2-3386-6754-1EEAF7DEF7A6}"/>
              </a:ext>
            </a:extLst>
          </p:cNvPr>
          <p:cNvSpPr txBox="1"/>
          <p:nvPr/>
        </p:nvSpPr>
        <p:spPr>
          <a:xfrm>
            <a:off x="533400" y="964364"/>
            <a:ext cx="6096000" cy="92333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OneLake is a single, unified, logical data lake for your whole organization. A data Lake processes large volumes of data from various sources.</a:t>
            </a:r>
            <a:endParaRPr lang="en-IN" dirty="0"/>
          </a:p>
        </p:txBody>
      </p:sp>
      <p:sp>
        <p:nvSpPr>
          <p:cNvPr id="11" name="TextBox 10">
            <a:extLst>
              <a:ext uri="{FF2B5EF4-FFF2-40B4-BE49-F238E27FC236}">
                <a16:creationId xmlns:a16="http://schemas.microsoft.com/office/drawing/2014/main" id="{865D078F-64D3-936E-93C1-DDA60A3171B6}"/>
              </a:ext>
            </a:extLst>
          </p:cNvPr>
          <p:cNvSpPr txBox="1"/>
          <p:nvPr/>
        </p:nvSpPr>
        <p:spPr>
          <a:xfrm>
            <a:off x="533400" y="2268808"/>
            <a:ext cx="6096000"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Like OneDrive, OneLake comes automatically with every Microsoft Fabric tenant and is designed to be the single place for all your analytics data. OneLake brings customers:</a:t>
            </a:r>
          </a:p>
          <a:p>
            <a:endParaRPr lang="en-US" dirty="0"/>
          </a:p>
          <a:p>
            <a:r>
              <a:rPr lang="en-US" dirty="0"/>
              <a:t>1) One data lake for the entire organization</a:t>
            </a:r>
          </a:p>
          <a:p>
            <a:r>
              <a:rPr lang="en-US" dirty="0"/>
              <a:t>2) One copy of data for use with multiple analytical engines</a:t>
            </a:r>
            <a:endParaRPr lang="en-IN" dirty="0"/>
          </a:p>
        </p:txBody>
      </p:sp>
      <p:sp>
        <p:nvSpPr>
          <p:cNvPr id="15" name="TextBox 14">
            <a:extLst>
              <a:ext uri="{FF2B5EF4-FFF2-40B4-BE49-F238E27FC236}">
                <a16:creationId xmlns:a16="http://schemas.microsoft.com/office/drawing/2014/main" id="{2A51C019-53C3-6E7D-A8B6-D271192DAB39}"/>
              </a:ext>
            </a:extLst>
          </p:cNvPr>
          <p:cNvSpPr txBox="1"/>
          <p:nvPr/>
        </p:nvSpPr>
        <p:spPr>
          <a:xfrm>
            <a:off x="533400" y="4404248"/>
            <a:ext cx="6096000"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OneLake focuses on removing these challenges by improving collaboration. Every customer tenant has exactly one OneLake. There can never be more than one and if you have Fabric, there can never be zero. Every Fabric tenant automatically provisions OneLake, with no extra resources to set up or manage.</a:t>
            </a:r>
            <a:endParaRPr lang="en-IN" dirty="0"/>
          </a:p>
        </p:txBody>
      </p:sp>
      <p:pic>
        <p:nvPicPr>
          <p:cNvPr id="16" name="Picture 4" descr="Microsoft OneLake – the foundation of Fabric | Comset - Business  Intelligence Consultancy">
            <a:extLst>
              <a:ext uri="{FF2B5EF4-FFF2-40B4-BE49-F238E27FC236}">
                <a16:creationId xmlns:a16="http://schemas.microsoft.com/office/drawing/2014/main" id="{8E003A09-08C6-9268-D30D-A04C8B10B2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2426"/>
          <a:stretch/>
        </p:blipFill>
        <p:spPr bwMode="auto">
          <a:xfrm>
            <a:off x="7173762" y="964364"/>
            <a:ext cx="4730214" cy="472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00841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iagram showing the function and structure of OneLake.">
            <a:extLst>
              <a:ext uri="{FF2B5EF4-FFF2-40B4-BE49-F238E27FC236}">
                <a16:creationId xmlns:a16="http://schemas.microsoft.com/office/drawing/2014/main" id="{2B6F8B67-B67C-1765-20CC-9DF3F5D31B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8361" y="671008"/>
            <a:ext cx="7379154" cy="45125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6A0E0C2-9DAE-063A-EEC8-9B7BE9EC4362}"/>
              </a:ext>
            </a:extLst>
          </p:cNvPr>
          <p:cNvSpPr txBox="1"/>
          <p:nvPr/>
        </p:nvSpPr>
        <p:spPr>
          <a:xfrm>
            <a:off x="3407909" y="155807"/>
            <a:ext cx="6379028" cy="369332"/>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0" i="0" dirty="0">
                <a:effectLst/>
                <a:highlight>
                  <a:srgbClr val="FFFF00"/>
                </a:highlight>
                <a:latin typeface="Segoe UI" panose="020B0502040204020203" pitchFamily="34" charset="0"/>
              </a:rPr>
              <a:t>The concept of a tenant is a unique benefit of a SaaS service.</a:t>
            </a:r>
            <a:endParaRPr lang="en-IN" dirty="0">
              <a:highlight>
                <a:srgbClr val="FFFF00"/>
              </a:highlight>
            </a:endParaRPr>
          </a:p>
        </p:txBody>
      </p:sp>
      <p:sp>
        <p:nvSpPr>
          <p:cNvPr id="7" name="TextBox 6">
            <a:extLst>
              <a:ext uri="{FF2B5EF4-FFF2-40B4-BE49-F238E27FC236}">
                <a16:creationId xmlns:a16="http://schemas.microsoft.com/office/drawing/2014/main" id="{0F9404C3-E322-371A-0347-762DFBF20292}"/>
              </a:ext>
            </a:extLst>
          </p:cNvPr>
          <p:cNvSpPr txBox="1"/>
          <p:nvPr/>
        </p:nvSpPr>
        <p:spPr>
          <a:xfrm>
            <a:off x="174171" y="5378754"/>
            <a:ext cx="5671457" cy="13234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b="0" i="0" dirty="0">
                <a:effectLst/>
                <a:latin typeface="Segoe UI" panose="020B0502040204020203" pitchFamily="34" charset="0"/>
              </a:rPr>
              <a:t>Within a tenant, you can create any number of workspaces. Workspaces enable different parts of the organization to distribute ownership and access policies. Each workspace is part of a capacity that is tied to a specific region and is billed separately.</a:t>
            </a:r>
            <a:endParaRPr lang="en-IN" sz="1600" dirty="0"/>
          </a:p>
        </p:txBody>
      </p:sp>
      <p:sp>
        <p:nvSpPr>
          <p:cNvPr id="9" name="TextBox 8">
            <a:extLst>
              <a:ext uri="{FF2B5EF4-FFF2-40B4-BE49-F238E27FC236}">
                <a16:creationId xmlns:a16="http://schemas.microsoft.com/office/drawing/2014/main" id="{34CC6708-AEB7-7F83-FAED-1156B40B7A59}"/>
              </a:ext>
            </a:extLst>
          </p:cNvPr>
          <p:cNvSpPr txBox="1"/>
          <p:nvPr/>
        </p:nvSpPr>
        <p:spPr>
          <a:xfrm>
            <a:off x="6096000" y="5578808"/>
            <a:ext cx="60960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b="0" i="0" dirty="0">
                <a:solidFill>
                  <a:schemeClr val="tx1"/>
                </a:solidFill>
                <a:effectLst/>
                <a:latin typeface="Segoe UI" panose="020B0502040204020203" pitchFamily="34" charset="0"/>
              </a:rPr>
              <a:t>Similar to how Office stores Word, Excel, and PowerPoint files in OneDrive, Fabric stores lakehouses, warehouses, and other items in OneLake. </a:t>
            </a:r>
            <a:endParaRPr lang="en-IN" dirty="0">
              <a:solidFill>
                <a:schemeClr val="tx1"/>
              </a:solidFill>
            </a:endParaRPr>
          </a:p>
        </p:txBody>
      </p:sp>
    </p:spTree>
    <p:extLst>
      <p:ext uri="{BB962C8B-B14F-4D97-AF65-F5344CB8AC3E}">
        <p14:creationId xmlns:p14="http://schemas.microsoft.com/office/powerpoint/2010/main" val="41955741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Diagram showing how you can access OneLake data with APIs and SDKs.">
            <a:extLst>
              <a:ext uri="{FF2B5EF4-FFF2-40B4-BE49-F238E27FC236}">
                <a16:creationId xmlns:a16="http://schemas.microsoft.com/office/drawing/2014/main" id="{40DC9957-8A95-B599-74A3-76C29D9ED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0814" y="609600"/>
            <a:ext cx="7870371" cy="46039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AE1983D-F729-6FA7-A9E7-225195979C14}"/>
              </a:ext>
            </a:extLst>
          </p:cNvPr>
          <p:cNvSpPr txBox="1"/>
          <p:nvPr/>
        </p:nvSpPr>
        <p:spPr>
          <a:xfrm>
            <a:off x="3907972" y="97971"/>
            <a:ext cx="4659086"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2400" dirty="0"/>
              <a:t>OneLake is “</a:t>
            </a:r>
            <a:r>
              <a:rPr lang="en-US" sz="2400" b="1" dirty="0"/>
              <a:t>open at every level</a:t>
            </a:r>
            <a:r>
              <a:rPr lang="en-US" sz="2400" dirty="0"/>
              <a:t>”</a:t>
            </a:r>
            <a:endParaRPr lang="en-IN" sz="2400" dirty="0"/>
          </a:p>
        </p:txBody>
      </p:sp>
      <p:sp>
        <p:nvSpPr>
          <p:cNvPr id="6" name="TextBox 5">
            <a:extLst>
              <a:ext uri="{FF2B5EF4-FFF2-40B4-BE49-F238E27FC236}">
                <a16:creationId xmlns:a16="http://schemas.microsoft.com/office/drawing/2014/main" id="{BE81628B-1BEE-75DE-6E84-57BDCA960E06}"/>
              </a:ext>
            </a:extLst>
          </p:cNvPr>
          <p:cNvSpPr txBox="1"/>
          <p:nvPr/>
        </p:nvSpPr>
        <p:spPr>
          <a:xfrm>
            <a:off x="326570" y="5282701"/>
            <a:ext cx="6117771"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0" i="0" dirty="0">
                <a:solidFill>
                  <a:schemeClr val="tx1"/>
                </a:solidFill>
                <a:effectLst/>
                <a:latin typeface="Segoe UI" panose="020B0502040204020203" pitchFamily="34" charset="0"/>
              </a:rPr>
              <a:t>OneLake is built on top of Azure Data Lake Storage (ADLS) Gen2 and can support any type of file, structured or unstructured. All Fabric data items like data warehouses and lakehouses store their data automatically in OneLake in Delta Parquet format</a:t>
            </a:r>
            <a:endParaRPr lang="en-IN" dirty="0">
              <a:solidFill>
                <a:schemeClr val="tx1"/>
              </a:solidFill>
            </a:endParaRPr>
          </a:p>
        </p:txBody>
      </p:sp>
      <p:sp>
        <p:nvSpPr>
          <p:cNvPr id="8" name="TextBox 7">
            <a:extLst>
              <a:ext uri="{FF2B5EF4-FFF2-40B4-BE49-F238E27FC236}">
                <a16:creationId xmlns:a16="http://schemas.microsoft.com/office/drawing/2014/main" id="{CBA65A10-0265-5216-2CF2-7734CC91D030}"/>
              </a:ext>
            </a:extLst>
          </p:cNvPr>
          <p:cNvSpPr txBox="1"/>
          <p:nvPr/>
        </p:nvSpPr>
        <p:spPr>
          <a:xfrm>
            <a:off x="6444341" y="5282701"/>
            <a:ext cx="5693230"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0" i="0" dirty="0">
                <a:effectLst/>
                <a:latin typeface="Segoe UI" panose="020B0502040204020203" pitchFamily="34" charset="0"/>
              </a:rPr>
              <a:t> If a data engineer loads data into a </a:t>
            </a:r>
            <a:r>
              <a:rPr lang="en-US" b="0" i="0" dirty="0" err="1">
                <a:effectLst/>
                <a:latin typeface="Segoe UI" panose="020B0502040204020203" pitchFamily="34" charset="0"/>
              </a:rPr>
              <a:t>lakehouse</a:t>
            </a:r>
            <a:r>
              <a:rPr lang="en-US" b="0" i="0" dirty="0">
                <a:effectLst/>
                <a:latin typeface="Segoe UI" panose="020B0502040204020203" pitchFamily="34" charset="0"/>
              </a:rPr>
              <a:t> using Apache Spark, and then a SQL developer uses T-SQL to load data in a fully transactional data warehouse, both are contributing to the same data lake. OneLake stores all tabular data in Delta Parquet format.</a:t>
            </a:r>
            <a:endParaRPr lang="en-IN" dirty="0"/>
          </a:p>
        </p:txBody>
      </p:sp>
    </p:spTree>
    <p:extLst>
      <p:ext uri="{BB962C8B-B14F-4D97-AF65-F5344CB8AC3E}">
        <p14:creationId xmlns:p14="http://schemas.microsoft.com/office/powerpoint/2010/main" val="146258972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02" name="Rectangle 8201">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201" name="Rectangle 820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8203" name="Rectangle 820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4E5EF0B-C609-132B-D0F3-D1AA733A1CD1}"/>
              </a:ext>
            </a:extLst>
          </p:cNvPr>
          <p:cNvSpPr>
            <a:spLocks noGrp="1"/>
          </p:cNvSpPr>
          <p:nvPr>
            <p:ph type="title"/>
          </p:nvPr>
        </p:nvSpPr>
        <p:spPr>
          <a:xfrm>
            <a:off x="1115568" y="548640"/>
            <a:ext cx="10168128" cy="1179576"/>
          </a:xfr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3700" dirty="0">
                <a:ea typeface="+mj-ea"/>
                <a:cs typeface="+mj-cs"/>
              </a:rPr>
              <a:t>One Copy of Data with Multiple Analytical Engines</a:t>
            </a:r>
          </a:p>
        </p:txBody>
      </p:sp>
      <p:sp>
        <p:nvSpPr>
          <p:cNvPr id="8205" name="Rectangle 820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194" name="Picture 2" descr="Diagram showing how multiple items and engines use the same copy of data.">
            <a:extLst>
              <a:ext uri="{FF2B5EF4-FFF2-40B4-BE49-F238E27FC236}">
                <a16:creationId xmlns:a16="http://schemas.microsoft.com/office/drawing/2014/main" id="{933BBE1D-F22F-51CB-EBF4-6B236E0AB9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857" r="2" b="2"/>
          <a:stretch/>
        </p:blipFill>
        <p:spPr bwMode="auto">
          <a:xfrm>
            <a:off x="908304" y="2478024"/>
            <a:ext cx="6009855" cy="369417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68F64C-58C9-C882-0320-7D2353232426}"/>
              </a:ext>
            </a:extLst>
          </p:cNvPr>
          <p:cNvSpPr txBox="1"/>
          <p:nvPr/>
        </p:nvSpPr>
        <p:spPr>
          <a:xfrm>
            <a:off x="7411453" y="2478024"/>
            <a:ext cx="3872243" cy="3694176"/>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pPr>
              <a:lnSpc>
                <a:spcPct val="90000"/>
              </a:lnSpc>
              <a:spcAft>
                <a:spcPts val="600"/>
              </a:spcAft>
            </a:pPr>
            <a:r>
              <a:rPr lang="en-US" b="0" i="0" dirty="0">
                <a:solidFill>
                  <a:schemeClr val="tx1"/>
                </a:solidFill>
                <a:effectLst/>
              </a:rPr>
              <a:t>With Fabric, the different analytical engines (T-SQL, Apache Spark, Analysis Services, etc.) store data in the open Delta Parquet format to allow you to use the same data across multiple engines.</a:t>
            </a:r>
            <a:endParaRPr lang="en-US" dirty="0">
              <a:solidFill>
                <a:schemeClr val="tx1"/>
              </a:solidFill>
            </a:endParaRPr>
          </a:p>
        </p:txBody>
      </p:sp>
    </p:spTree>
    <p:extLst>
      <p:ext uri="{BB962C8B-B14F-4D97-AF65-F5344CB8AC3E}">
        <p14:creationId xmlns:p14="http://schemas.microsoft.com/office/powerpoint/2010/main" val="8672391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F7CBA-A340-D437-F4E8-4CCD6F8A7E46}"/>
              </a:ext>
            </a:extLst>
          </p:cNvPr>
          <p:cNvSpPr>
            <a:spLocks noGrp="1"/>
          </p:cNvSpPr>
          <p:nvPr>
            <p:ph type="title"/>
          </p:nvPr>
        </p:nvSpPr>
        <p:spPr>
          <a:xfrm>
            <a:off x="589263" y="247759"/>
            <a:ext cx="11013474" cy="369332"/>
          </a:xfrm>
        </p:spPr>
        <p:txBody>
          <a:bodyPr>
            <a:noAutofit/>
          </a:bodyPr>
          <a:lstStyle/>
          <a:p>
            <a:pPr algn="ctr"/>
            <a:r>
              <a:rPr lang="en-US" sz="4000" dirty="0"/>
              <a:t>Final Thoughts</a:t>
            </a:r>
            <a:endParaRPr lang="en-IN" sz="4000" dirty="0"/>
          </a:p>
        </p:txBody>
      </p:sp>
      <p:pic>
        <p:nvPicPr>
          <p:cNvPr id="6" name="Picture 4" descr="Microsoft OneLake – the foundation of Fabric | Comset - Business  Intelligence Consultancy">
            <a:extLst>
              <a:ext uri="{FF2B5EF4-FFF2-40B4-BE49-F238E27FC236}">
                <a16:creationId xmlns:a16="http://schemas.microsoft.com/office/drawing/2014/main" id="{23FE0278-10C4-014C-D1A5-4B51A0851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2426"/>
          <a:stretch/>
        </p:blipFill>
        <p:spPr bwMode="auto">
          <a:xfrm>
            <a:off x="337533" y="1731862"/>
            <a:ext cx="4060296" cy="405792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A3B0D2F-0DB7-0FA4-E5AC-300B4C5BEADD}"/>
              </a:ext>
            </a:extLst>
          </p:cNvPr>
          <p:cNvSpPr txBox="1"/>
          <p:nvPr/>
        </p:nvSpPr>
        <p:spPr>
          <a:xfrm>
            <a:off x="5355771" y="1765433"/>
            <a:ext cx="6096000" cy="147732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OneLake</a:t>
            </a:r>
            <a:r>
              <a:rPr lang="en-US" dirty="0"/>
              <a:t> is the foundational storage platform within Microsoft Fabric, designed to unify data storage across an organization. It integrates the flexibility of data lakes with the reliability and performance of data warehouses, solving key challenges in modern data management.</a:t>
            </a:r>
            <a:endParaRPr lang="en-IN" dirty="0"/>
          </a:p>
        </p:txBody>
      </p:sp>
      <p:sp>
        <p:nvSpPr>
          <p:cNvPr id="10" name="TextBox 9">
            <a:extLst>
              <a:ext uri="{FF2B5EF4-FFF2-40B4-BE49-F238E27FC236}">
                <a16:creationId xmlns:a16="http://schemas.microsoft.com/office/drawing/2014/main" id="{582F8F64-373B-6F6B-4ED0-185F1FDA1825}"/>
              </a:ext>
            </a:extLst>
          </p:cNvPr>
          <p:cNvSpPr txBox="1"/>
          <p:nvPr/>
        </p:nvSpPr>
        <p:spPr>
          <a:xfrm>
            <a:off x="5355771" y="4353903"/>
            <a:ext cx="6096000" cy="175432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dirty="0"/>
              <a:t>By addressing the limitations of traditional data lakes and warehouses, OneLake enables organizations to:</a:t>
            </a:r>
          </a:p>
          <a:p>
            <a:pPr>
              <a:buFont typeface="Arial" panose="020B0604020202020204" pitchFamily="34" charset="0"/>
              <a:buChar char="•"/>
            </a:pPr>
            <a:r>
              <a:rPr lang="en-US" dirty="0"/>
              <a:t>Streamline data management processes.</a:t>
            </a:r>
          </a:p>
          <a:p>
            <a:pPr>
              <a:buFont typeface="Arial" panose="020B0604020202020204" pitchFamily="34" charset="0"/>
              <a:buChar char="•"/>
            </a:pPr>
            <a:r>
              <a:rPr lang="en-US" dirty="0"/>
              <a:t>Achieve real-time insights and advanced analytics.</a:t>
            </a:r>
          </a:p>
          <a:p>
            <a:pPr>
              <a:buFont typeface="Arial" panose="020B0604020202020204" pitchFamily="34" charset="0"/>
              <a:buChar char="•"/>
            </a:pPr>
            <a:r>
              <a:rPr lang="en-US" dirty="0"/>
              <a:t>Reduce operational costs and complexity.</a:t>
            </a:r>
          </a:p>
          <a:p>
            <a:pPr>
              <a:buFont typeface="Arial" panose="020B0604020202020204" pitchFamily="34" charset="0"/>
              <a:buChar char="•"/>
            </a:pPr>
            <a:r>
              <a:rPr lang="en-US" dirty="0"/>
              <a:t>Ensure data governance and security at scale.</a:t>
            </a:r>
          </a:p>
        </p:txBody>
      </p:sp>
    </p:spTree>
    <p:extLst>
      <p:ext uri="{BB962C8B-B14F-4D97-AF65-F5344CB8AC3E}">
        <p14:creationId xmlns:p14="http://schemas.microsoft.com/office/powerpoint/2010/main" val="1475815128"/>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1530</Words>
  <Application>Microsoft Office PowerPoint</Application>
  <PresentationFormat>Widescreen</PresentationFormat>
  <Paragraphs>89</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Calibri</vt:lpstr>
      <vt:lpstr>Segoe UI</vt:lpstr>
      <vt:lpstr>Wingdings</vt:lpstr>
      <vt:lpstr>Office Theme</vt:lpstr>
      <vt:lpstr>Data Lakehouse and OneLake</vt:lpstr>
      <vt:lpstr>Data Lakehouse</vt:lpstr>
      <vt:lpstr>PowerPoint Presentation</vt:lpstr>
      <vt:lpstr>PowerPoint Presentation</vt:lpstr>
      <vt:lpstr>Data Lakehouse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One Copy of Data with Multiple Analytical Engines</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2024-12-13T05:30:33Z</dcterms:created>
  <dcterms:modified xsi:type="dcterms:W3CDTF">2024-12-13T06:25:47Z</dcterms:modified>
</cp:coreProperties>
</file>